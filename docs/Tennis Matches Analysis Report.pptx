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84"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85" r:id="rId25"/>
    <p:sldId id="278" r:id="rId26"/>
    <p:sldId id="279" r:id="rId27"/>
    <p:sldId id="280" r:id="rId28"/>
    <p:sldId id="281" r:id="rId29"/>
    <p:sldId id="282" r:id="rId30"/>
    <p:sldId id="283"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235EE07-8AAB-4E39-96FA-2A9614D3B5E8}">
          <p14:sldIdLst>
            <p14:sldId id="256"/>
            <p14:sldId id="257"/>
            <p14:sldId id="258"/>
            <p14:sldId id="259"/>
            <p14:sldId id="284"/>
            <p14:sldId id="260"/>
            <p14:sldId id="261"/>
            <p14:sldId id="262"/>
            <p14:sldId id="263"/>
            <p14:sldId id="264"/>
            <p14:sldId id="265"/>
            <p14:sldId id="266"/>
            <p14:sldId id="267"/>
            <p14:sldId id="268"/>
            <p14:sldId id="269"/>
            <p14:sldId id="270"/>
            <p14:sldId id="271"/>
            <p14:sldId id="272"/>
            <p14:sldId id="273"/>
          </p14:sldIdLst>
        </p14:section>
        <p14:section name="Untitled Section" id="{50E28AE6-9E0B-453E-BFC7-BBBD12B6EEC2}">
          <p14:sldIdLst>
            <p14:sldId id="274"/>
            <p14:sldId id="275"/>
            <p14:sldId id="276"/>
            <p14:sldId id="277"/>
            <p14:sldId id="285"/>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F44E"/>
    <a:srgbClr val="2BA5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10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1723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Open by introducing the team: Mehrnoosh, Keyvan, Yasamn — each presents one analytical section.
- Frame the dataset scope: 24,079 home/away appearances across 16,873 matches and 2,644 unique players.
- Set the tone: editorial, data-driven, Wimbledon-inspired visual language.
- Promise three sections — Player Profiles &amp; Fan Behavior, then Keyvan's, then Yasamn's.
- Invite the audience to think about what fan votes, betting markets, and player traits really tell 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Hand off to Mehrnoosh — Section 1 covers player demographics and fan behavior.
- Seven questions: uniqueness, height, height-vs-rank, handedness, countries, fan vote bias, fans vs market.
- Frame it as the “who plays the game” section plus an early look at how fans behave.
- Note: home/away labeling bias is a key methodological check before any predictive work.
- Transition into Q1 by asking: how many distinct players does the dataset actually contain?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- 2,644 unique players extracted from 24,079 home/away rows across 16,873 matches.
- Home/away label is effectively random for 98% of players — no systematic bias.
- Only 52 players (~2%) are always assigned to one side, likely from seeding rules, not errors.
- Row-level split is 51.5% home vs 48.5% away — well-balanced sample.
- Conclusion: the dataset is clean enough to use home/away as a true contextual variable downstream.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Height distribution is bimodal — separate clusters for women (~1.70 m) and men (~1.85 m).
- ~11 cm gender gap matches known ATP/WTA averages.
- Men outnumber women roughly 4:1 in the height-available subset.
- Reporting the single overall 1.82 m average without gender context is misleading.
- Within-gender spread is comparable; male low-end outliers warrant a data-quality follow-up.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59744-4093-7BF6-332E-C0B469436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B3811-493A-B6AD-BA6F-E5A65148C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908B0-3FAE-7B2F-F7C2-E552D0370336}"/>
              </a:ext>
            </a:extLst>
          </p:cNvPr>
          <p:cNvSpPr>
            <a:spLocks noGrp="1"/>
          </p:cNvSpPr>
          <p:nvPr>
            <p:ph type="body" idx="1"/>
          </p:nvPr>
        </p:nvSpPr>
        <p:spPr/>
        <p:txBody>
          <a:bodyPr/>
          <a:lstStyle/>
          <a:p>
            <a:r>
              <a:rPr lang="en-US" dirty="0"/>
              <a:t>- Height distribution is bimodal — separate clusters for women (~1.70 m) and men (~1.85 m).
- ~11 cm gender gap matches known ATP/WTA averages.
- Men outnumber women roughly 4:1 in the height-available subset.
- Reporting the single overall 1.82 m average without gender context is misleading.
- Within-gender spread is comparable; male low-end outliers warrant a data-quality follow-up.</a:t>
            </a:r>
          </a:p>
        </p:txBody>
      </p:sp>
      <p:sp>
        <p:nvSpPr>
          <p:cNvPr id="4" name="Slide Number Placeholder 3">
            <a:extLst>
              <a:ext uri="{FF2B5EF4-FFF2-40B4-BE49-F238E27FC236}">
                <a16:creationId xmlns:a16="http://schemas.microsoft.com/office/drawing/2014/main" id="{EDE2996F-1457-2252-0726-FB938E23804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19328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Pearson r = 0.106 — well below the 0.2 threshold for significance.
- No meaningful link between height and ranking — taller players don't tend to rank better.
- Slightly positive sign (taller → worse rank) is most likely statistical noise.
- Sample caveat: only 49.4% of players have both height and rank recorded (n = 1,307).
- Distinct height bands (1.70, 1.73, 1.75, 1.78 m) reflect a feet/inches → meters conversion, not bad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- 88.4% right-handed vs 11.6% left-handed among players with a recorded hand.
- Left-handed rate (~11.6%) matches the ~10% general-population baseline plus a small tennis premium.
- Slight tennis over-representation aligns with the known tactical edge of left-handed spin/serves.
- Coverage caveat: only 43.3% of players (1,146 of 2,644) have handedness recorded.
- Phrase findings as "among players with known handedness" — not the full population.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Dataset spans 100 distinct countries — a truly global player pool.
- Near-complete geographic coverage: only 1 player (0.0%) has no country recorded.
- Mirrors the ATP / WTA / ITF international tournament structure across every continent.
- Includes both traditional tennis powerhouses and emerging nations.
- Confirms the dataset is broadly representative for global tennis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- 52.25% overall home vote share looks like home bias — but it's Simpson's paradox.
- Fans track player quality (ranking), not the home/away label.
- 69.5% home vote when home is the favorite vs 32% when home is the underdog.
- Labeling-bias hypothesis is statistically rejected.
- Fans carry genuine predictive information — sets up the OP2 fan-vs-market comparison.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Both fans and market sit ~18pp above the 50% random-guessing baseline.
- Gap between the two is only 0.9pp — within statistical noise.
- Counter-intuitive: markets don't beat fans here (real money assumption breaks down).
- Plausible cause: dataset dominated by ITF/Challenger-tier events with thinner analysis on both sides.
- Both sources carry genuine predictive information — useful ensemble signal for downstream models.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Section divider opening Keyvan's analysis of in-match performance statistics.
- Covers 7 questions spanning aces, double faults, games per set, breaks, win rates, and surface effects.
- Frame the section as a quantitative tour of point-level and match-level serving outcomes.
- Note that two open-probe questions (OP1, OP2) extend the analysis beyond the core Q-list.
- Transition cue: "Let's start with the simplest serve outcome — aces per match."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Mean 5.34 aces vs median 4 — classic right-skewed distribution.
- Roughly 50% of matches fall between 0 and 6 aces; most matches are NOT serve-dominated.
- Right-tail outliers are genuine, from long five-set matches.
- Outliers were retained, not removed, to preserve true serve behaviour.
- Mean–median gap confirms the data is not normally distributed.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Women average 3.49 vs men 2.66 double faults per match.
- Medians mirror the means: 3 (women) vs 2 (men).
- Women's box plot shows a larger IQR — greater variability in double fault counts.
- Statistically reliable due to the large sample size.
- Outliers were excluded from the plot only for readability, not from the underlying stats.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Men 9.65 vs women 9.27 average games per set — gap of ~0.5 game.
- Identical medians at 9 games per set for both groups.
- The mean difference comes from longer sets and tiebreaks, not typical sets.
- May reflect best-of-3 (women) vs best-of-5 (men) scoring structure.
- 617 incomplete sets excluded from a total of 20,461 to avoid downward skew.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Top three players in the table each played only 3 matches — sample too small for significance.
- Alcaraz 75% over 4 matches and Dimitrov 50% over 6 matches are the more reliable figures.
- Analysis uses current_rank, NOT the rank at the time of the match — a methodological caveat.
- Result explicitly flagged as NOT reliable / indicative only.
- Surface the caveat before quoting any player name to the audience.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Mean 7.01 vs median 6 — near-symmetrical with a slight right skew.
- Right tail caused by 1.6% outliers, all retained as genuine.
- Outliers likely come from long matches, poor serving, or two strong returners.
- 36 short matches (1-2 games) validated against score data — confirmed short, not incomplete.
- Distribution is cleaner than the aces distribution shown earlier.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Winners average 3.16 aces vs losers 2.18 — a 45% gap on averages.
- But winners had more aces in only 49.9% of matches — basically a coin-flip.
- Ace counts tied in 23% of matches; loser had more aces in 27%.
- Aces are a statistical tendency, not a deterministic predictor of winning.
- Group averages can mask individual-match variability — a recurring analytical caveat.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gap in aces between fastest and slowest court surfaces.
- Grass and carpet yield the highest ace rates — fast surfaces keep ball speed.
- Clay and synthetic yield the lowest — slow ball, higher bounce, easier returns.
- Pattern aligns with tennis physics: friction decelerates ball on slow courts.
- Surface sub-categories consolidated into 5 main groups for sample-size significance.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Section divider opening Yasamn's analysis of match-level dynamics and data quality.
- Covers 10 items: wins, longest match, sets, countries, monthly titles, durations, surfaces.
- Includes two P2 probe questions on duration-by-surface and head-to-head surface comparison.
- Highlights the ★ scoring-rule validator that underpins all upstream analyses.
- Transition cue: "Match dynamics first, then the data-quality layer that supports every claim."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Popko leads the field with 28 wins, ahead of Chidekh (22) and Jianu/Gengel (21).
- Ranking covers 11,674 wins linked to a player row — about 81% of completed matches with a recorded winner.
- This is a volume ranking, not a quality ranking — ITF-heavy schedules inflate totals.
- 2,739 wins were dropped because the winning side had no player row in home_team/away_team.
- Wins attributed via winner_code (1=home, 2=away), restricted to completed matches with score_ready.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Longest match: Simakin vs Bertrand, 4h 57m over 35 games (Monastir, ITF Men, hard outdoor, 2024-02-10).
- Top 10 longest matches sit in the 4.4h–5.0h range.
- 300-minute cap is a plausibility filter, not an absolute upper bound on real matches.
- Federer vs del Potro (London 2012 Olympics, 4h 26m) sits below the threshold — validates the cutoff.
- Same duration pipeline reused for Q11 and surface-duration analyses.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- 72.1% of completed matches end in 2 sets; 27.9% in 3 sets; mean = 2.28 sets.
- Distribution mirrors best-of-3 structure exactly — most matches never reach a decider.
- Cross-checked against the independent power table: 100% agreement on 10,074 overlapping matches.
- sets_played derived as max(home, away) from score tables, restricted to match_completed.
- Result is robust — no alignment drift detected between the two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France leads total wins (986), ahead of Italy (933) and USA (909).
- Argentina leads wins per player (5.58) at the ≥50-player threshold.
- "Most successful" is definition-dependent: total wins = volume; wins/player = efficiency.
- Wins-per-player ranking is sensitive to the player-count cutoff threshold.
- Same win attribution as Q3, grouped by country; multi-label players kept as diagnostic noise.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FFCC9-D1CD-C65E-55AF-5FD5A31B3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C83E7-CF0A-DC47-014A-BE225BA05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DFB0B-1519-7A67-CBEC-D42C4B1463E0}"/>
              </a:ext>
            </a:extLst>
          </p:cNvPr>
          <p:cNvSpPr>
            <a:spLocks noGrp="1"/>
          </p:cNvSpPr>
          <p:nvPr>
            <p:ph type="body" idx="1"/>
          </p:nvPr>
        </p:nvSpPr>
        <p:spPr/>
        <p:txBody>
          <a:bodyPr/>
          <a:lstStyle/>
          <a:p>
            <a:r>
              <a:rPr lang="en-US" dirty="0"/>
              <a:t>- France leads total wins (986), ahead of Italy (933) and USA (909).
- Argentina leads wins per player (5.58) at the ≥50-player threshold.
- "Most successful" is definition-dependent: total wins = volume; wins/player = efficiency.
- Wins-per-player ranking is sensitive to the player-count cutoff threshold.
- Same win attribution as Q3, grouped by country; multi-label players kept as diagnostic noise.</a:t>
            </a:r>
          </a:p>
        </p:txBody>
      </p:sp>
      <p:sp>
        <p:nvSpPr>
          <p:cNvPr id="4" name="Slide Number Placeholder 3">
            <a:extLst>
              <a:ext uri="{FF2B5EF4-FFF2-40B4-BE49-F238E27FC236}">
                <a16:creationId xmlns:a16="http://schemas.microsoft.com/office/drawing/2014/main" id="{10C9D776-54E5-6FE4-F493-799D3C06F447}"/>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850025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Maximum is 3 titles in a single month, reached by four players.
- Popko, Gengel, Jianu, and Nicod all hit 3 titles in Feb–Mar 2024 (ITF Men).
- Pattern fits the weekly ITF calendar structure; ATP events are spaced further apart.
- ATP-level repeats are less likely — wider spacing and deeper fields.
- 28 of 260 main-draw finals had no recorded winner and were excluded from the count.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Mean match duration is 103.6 min (n=10,075); median 96.8 min — right-skewed distribution.
- Standard deviation 35.2 min; same duration pipeline as Q4.
- 2-set matches average ~87.8 min; 3-set matches ~139.6 min — gap of ~52 min per extra set.
- Right skew comes from the long tail of extended 3-set matches.
- Filtered population only — retirements and corrupted durations excluded by design.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Hard court dominates: ~62% of matches and ~61% of tournaments.
- Clay is the second surface at ~35–36% of matches/tournaments.
- Match-level and tournament-level shares are very close — small draw-size differences by surface.
- Grass, Carpet, and Synthetic are minor surface families in this dataset.
- 8 of 529 tournament groups had mixed surface labels — real data noise, mode-resolved (ranking unchanged).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Clay produces the longest matches: median 100.8 min (n=3,206).
- Hard court is the shortest large-sample surface: median 94.6 min (n=6,316).
- Clay-vs-Hard gap at the median is only about 6 minutes.
- Grass (n=152), Synthetic (n=76), and Carpet (n=111) samples are too small to be stable.
- Only Clay and Hard comparisons are statistically robust; outliers hidden on the boxplot.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- 96 players with ≥5 matches on both Hard and Clay; mean within-player Clay − Hard = +6.8 pp.
- 55 players better on Clay, 36 better on Hard, 5 tied — Clay-leaning asymmetry.
- Paired t-test: t=2.94, p=0.004 — statistically significant.
- Effect size is modest; p is not effect size, and individual differences spread widely.
- Result is threshold-dependent and not a full causal model (within-player match dependence not modelled).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Validator aligns home/away score tables and classifies every set under correct tennis rules.
- Flags ~1,490 matches with bad set status; ~1,721 anom_7 set-level cases (illegal 7-x scores).
- Produces score_ready (14,413 usable matches) and is_retirement_like (275) flag columns.
- 0 best-of-3 overruns survive valid-set filtering.
- Underpins every Q3–Q14 denominator: score_ready, duration_reliable, and retirement-like exclusion feed all downstream analyses.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8.emf"/><Relationship Id="rId4" Type="http://schemas.openxmlformats.org/officeDocument/2006/relationships/package" Target="../embeddings/Microsoft_Excel_Worksheet.xlsx"/></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52A"/>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E6DEA658-9DF7-C438-ACAD-B14D48C34308}"/>
              </a:ext>
            </a:extLst>
          </p:cNvPr>
          <p:cNvPicPr>
            <a:picLocks noChangeAspect="1"/>
          </p:cNvPicPr>
          <p:nvPr/>
        </p:nvPicPr>
        <p:blipFill>
          <a:blip r:embed="rId3"/>
          <a:stretch>
            <a:fillRect/>
          </a:stretch>
        </p:blipFill>
        <p:spPr>
          <a:xfrm>
            <a:off x="132059" y="85383"/>
            <a:ext cx="8879882" cy="4972734"/>
          </a:xfrm>
          <a:prstGeom prst="rect">
            <a:avLst/>
          </a:prstGeom>
        </p:spPr>
      </p:pic>
      <p:sp>
        <p:nvSpPr>
          <p:cNvPr id="19" name="Text 14"/>
          <p:cNvSpPr/>
          <p:nvPr/>
        </p:nvSpPr>
        <p:spPr>
          <a:xfrm>
            <a:off x="1872779" y="4797028"/>
            <a:ext cx="724198"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6EF44E"/>
                </a:solidFill>
                <a:latin typeface="Carlito" pitchFamily="34" charset="0"/>
                <a:ea typeface="Carlito" pitchFamily="34" charset="-122"/>
                <a:cs typeface="Carlito" pitchFamily="34" charset="-120"/>
              </a:rPr>
              <a:t>MATCHES</a:t>
            </a:r>
            <a:endParaRPr lang="en-US" sz="800" dirty="0">
              <a:solidFill>
                <a:srgbClr val="6EF44E"/>
              </a:solidFill>
            </a:endParaRPr>
          </a:p>
        </p:txBody>
      </p:sp>
      <p:pic>
        <p:nvPicPr>
          <p:cNvPr id="4" name="Image 2" descr="preencoded.png"/>
          <p:cNvPicPr>
            <a:picLocks noChangeAspect="1"/>
          </p:cNvPicPr>
          <p:nvPr/>
        </p:nvPicPr>
        <p:blipFill>
          <a:blip r:embed="rId4"/>
          <a:stretch>
            <a:fillRect/>
          </a:stretch>
        </p:blipFill>
        <p:spPr>
          <a:xfrm>
            <a:off x="0" y="0"/>
            <a:ext cx="42863" cy="5143500"/>
          </a:xfrm>
          <a:prstGeom prst="rect">
            <a:avLst/>
          </a:prstGeom>
        </p:spPr>
      </p:pic>
      <p:sp>
        <p:nvSpPr>
          <p:cNvPr id="5" name="Text 0"/>
          <p:cNvSpPr/>
          <p:nvPr/>
        </p:nvSpPr>
        <p:spPr>
          <a:xfrm>
            <a:off x="9136856" y="0"/>
            <a:ext cx="7144" cy="5143500"/>
          </a:xfrm>
          <a:prstGeom prst="rect">
            <a:avLst/>
          </a:prstGeom>
          <a:solidFill>
            <a:srgbClr val="FFF100">
              <a:alpha val="18000"/>
            </a:srgbClr>
          </a:solidFill>
          <a:ln/>
        </p:spPr>
        <p:txBody>
          <a:bodyPr wrap="square" rtlCol="0" anchor="ctr"/>
          <a:lstStyle/>
          <a:p>
            <a:pPr marL="0" indent="0">
              <a:buNone/>
            </a:pPr>
            <a:endParaRPr lang="en-US" dirty="0"/>
          </a:p>
        </p:txBody>
      </p:sp>
      <p:sp>
        <p:nvSpPr>
          <p:cNvPr id="7" name="Text 2"/>
          <p:cNvSpPr/>
          <p:nvPr/>
        </p:nvSpPr>
        <p:spPr>
          <a:xfrm>
            <a:off x="571500" y="342900"/>
            <a:ext cx="157163" cy="157163"/>
          </a:xfrm>
          <a:prstGeom prst="rect">
            <a:avLst/>
          </a:prstGeom>
          <a:noFill/>
          <a:ln/>
        </p:spPr>
        <p:txBody>
          <a:bodyPr wrap="none" lIns="0" tIns="0" rIns="0" bIns="0" rtlCol="0" anchor="ctr"/>
          <a:lstStyle/>
          <a:p>
            <a:pPr marL="0" indent="0" algn="ctr">
              <a:buNone/>
            </a:pPr>
            <a:endParaRPr lang="en-US" sz="1547" dirty="0"/>
          </a:p>
        </p:txBody>
      </p:sp>
      <p:sp>
        <p:nvSpPr>
          <p:cNvPr id="8" name="Text 3"/>
          <p:cNvSpPr/>
          <p:nvPr/>
        </p:nvSpPr>
        <p:spPr>
          <a:xfrm>
            <a:off x="828675" y="357188"/>
            <a:ext cx="3161020" cy="164592"/>
          </a:xfrm>
          <a:prstGeom prst="rect">
            <a:avLst/>
          </a:prstGeom>
          <a:noFill/>
          <a:ln/>
        </p:spPr>
        <p:txBody>
          <a:bodyPr wrap="square" lIns="0" tIns="0" rIns="0" bIns="0" rtlCol="0" anchor="t"/>
          <a:lstStyle/>
          <a:p>
            <a:pPr marL="0" indent="0" algn="l">
              <a:lnSpc>
                <a:spcPts val="1013"/>
              </a:lnSpc>
              <a:buNone/>
            </a:pPr>
            <a:endParaRPr lang="en-US" sz="800" dirty="0"/>
          </a:p>
        </p:txBody>
      </p:sp>
      <p:sp>
        <p:nvSpPr>
          <p:cNvPr id="9" name="Text 4"/>
          <p:cNvSpPr/>
          <p:nvPr/>
        </p:nvSpPr>
        <p:spPr>
          <a:xfrm>
            <a:off x="571500" y="1643063"/>
            <a:ext cx="8572500" cy="164592"/>
          </a:xfrm>
          <a:prstGeom prst="rect">
            <a:avLst/>
          </a:prstGeom>
          <a:noFill/>
          <a:ln/>
        </p:spPr>
        <p:txBody>
          <a:bodyPr wrap="none" lIns="0" tIns="0" rIns="0" bIns="0" rtlCol="0" anchor="t"/>
          <a:lstStyle/>
          <a:p>
            <a:pPr marL="0" indent="0" algn="l">
              <a:lnSpc>
                <a:spcPts val="1097"/>
              </a:lnSpc>
              <a:buNone/>
            </a:pPr>
            <a:r>
              <a:rPr lang="en-US" sz="1200" kern="0" spc="234" dirty="0">
                <a:solidFill>
                  <a:srgbClr val="FFFF00"/>
                </a:solidFill>
                <a:latin typeface="Carlito" pitchFamily="34" charset="0"/>
                <a:ea typeface="Carlito" pitchFamily="34" charset="-122"/>
                <a:cs typeface="Carlito" pitchFamily="34" charset="-120"/>
              </a:rPr>
              <a:t>TENNIS DATA ANALYSIS</a:t>
            </a:r>
            <a:endParaRPr lang="en-US" sz="1200" dirty="0">
              <a:solidFill>
                <a:srgbClr val="FFFF00"/>
              </a:solidFill>
            </a:endParaRPr>
          </a:p>
        </p:txBody>
      </p:sp>
      <p:sp>
        <p:nvSpPr>
          <p:cNvPr id="10" name="Text 5"/>
          <p:cNvSpPr/>
          <p:nvPr/>
        </p:nvSpPr>
        <p:spPr>
          <a:xfrm>
            <a:off x="571500" y="1910953"/>
            <a:ext cx="6915150" cy="1036737"/>
          </a:xfrm>
          <a:prstGeom prst="rect">
            <a:avLst/>
          </a:prstGeom>
          <a:noFill/>
          <a:ln/>
        </p:spPr>
        <p:txBody>
          <a:bodyPr wrap="none" lIns="0" tIns="0" rIns="0" bIns="0" rtlCol="0" anchor="t"/>
          <a:lstStyle/>
          <a:p>
            <a:pPr marL="0" indent="0" algn="l">
              <a:lnSpc>
                <a:spcPts val="3780"/>
              </a:lnSpc>
              <a:buNone/>
            </a:pPr>
            <a:r>
              <a:rPr lang="en-US" sz="4400" b="1" kern="0" spc="-36" dirty="0">
                <a:solidFill>
                  <a:srgbClr val="F4F1DE"/>
                </a:solidFill>
                <a:latin typeface="Tinos" pitchFamily="34" charset="0"/>
                <a:ea typeface="Tinos" pitchFamily="34" charset="-122"/>
                <a:cs typeface="Tinos" pitchFamily="34" charset="-120"/>
              </a:rPr>
              <a:t>Tennis Matches</a:t>
            </a:r>
            <a:endParaRPr lang="en-US" sz="4400" dirty="0"/>
          </a:p>
          <a:p>
            <a:pPr marL="0" indent="0" algn="l">
              <a:lnSpc>
                <a:spcPts val="3780"/>
              </a:lnSpc>
              <a:buNone/>
            </a:pPr>
            <a:r>
              <a:rPr lang="en-US" sz="4400" b="1" kern="0" spc="-36" dirty="0">
                <a:solidFill>
                  <a:srgbClr val="F4F1DE"/>
                </a:solidFill>
                <a:latin typeface="Tinos" pitchFamily="34" charset="0"/>
                <a:ea typeface="Tinos" pitchFamily="34" charset="-122"/>
                <a:cs typeface="Tinos" pitchFamily="34" charset="-120"/>
              </a:rPr>
              <a:t>Analysis Report</a:t>
            </a:r>
            <a:endParaRPr lang="en-US" sz="4400" dirty="0"/>
          </a:p>
        </p:txBody>
      </p:sp>
      <p:sp>
        <p:nvSpPr>
          <p:cNvPr id="11" name="Text 6"/>
          <p:cNvSpPr/>
          <p:nvPr/>
        </p:nvSpPr>
        <p:spPr>
          <a:xfrm>
            <a:off x="571500" y="3028057"/>
            <a:ext cx="428625" cy="21431"/>
          </a:xfrm>
          <a:prstGeom prst="rect">
            <a:avLst/>
          </a:prstGeom>
          <a:solidFill>
            <a:srgbClr val="FFF100"/>
          </a:solidFill>
          <a:ln/>
        </p:spPr>
        <p:txBody>
          <a:bodyPr wrap="square" rtlCol="0" anchor="ctr"/>
          <a:lstStyle/>
          <a:p>
            <a:pPr marL="0" indent="0">
              <a:buNone/>
            </a:pPr>
            <a:endParaRPr lang="en-US" dirty="0"/>
          </a:p>
        </p:txBody>
      </p:sp>
      <p:sp>
        <p:nvSpPr>
          <p:cNvPr id="12" name="Text 7"/>
          <p:cNvSpPr/>
          <p:nvPr/>
        </p:nvSpPr>
        <p:spPr>
          <a:xfrm>
            <a:off x="571500" y="3206651"/>
            <a:ext cx="4572000" cy="223742"/>
          </a:xfrm>
          <a:prstGeom prst="rect">
            <a:avLst/>
          </a:prstGeom>
          <a:noFill/>
          <a:ln/>
        </p:spPr>
        <p:txBody>
          <a:bodyPr wrap="square" lIns="0" tIns="0" rIns="0" bIns="0" rtlCol="0" anchor="t"/>
          <a:lstStyle/>
          <a:p>
            <a:pPr marL="0" indent="0" algn="l">
              <a:lnSpc>
                <a:spcPts val="1631"/>
              </a:lnSpc>
              <a:buNone/>
            </a:pPr>
            <a:r>
              <a:rPr lang="en-US" sz="1200" dirty="0">
                <a:solidFill>
                  <a:schemeClr val="bg1"/>
                </a:solidFill>
                <a:latin typeface="Carlito" pitchFamily="34" charset="0"/>
                <a:ea typeface="Carlito" pitchFamily="34" charset="-122"/>
                <a:cs typeface="Carlito" pitchFamily="34" charset="-120"/>
              </a:rPr>
              <a:t>A Data-Driven Exploration of Professional Tennis Match Data</a:t>
            </a:r>
            <a:endParaRPr lang="en-US" sz="1200" dirty="0">
              <a:solidFill>
                <a:schemeClr val="bg1"/>
              </a:solidFill>
            </a:endParaRPr>
          </a:p>
        </p:txBody>
      </p:sp>
      <p:sp>
        <p:nvSpPr>
          <p:cNvPr id="13" name="Text 8"/>
          <p:cNvSpPr/>
          <p:nvPr/>
        </p:nvSpPr>
        <p:spPr>
          <a:xfrm>
            <a:off x="571500" y="3799582"/>
            <a:ext cx="8572500" cy="133302"/>
          </a:xfrm>
          <a:prstGeom prst="rect">
            <a:avLst/>
          </a:prstGeom>
          <a:noFill/>
          <a:ln/>
        </p:spPr>
        <p:txBody>
          <a:bodyPr wrap="none" lIns="0" tIns="0" rIns="0" bIns="0" rtlCol="0" anchor="t">
            <a:normAutofit/>
          </a:bodyPr>
          <a:lstStyle/>
          <a:p>
            <a:pPr marL="0" indent="0" algn="l">
              <a:lnSpc>
                <a:spcPts val="928"/>
              </a:lnSpc>
              <a:buNone/>
            </a:pPr>
            <a:r>
              <a:rPr lang="en-US" sz="1200" kern="0" spc="173" dirty="0">
                <a:solidFill>
                  <a:schemeClr val="bg1"/>
                </a:solidFill>
                <a:latin typeface="Carlito" pitchFamily="34" charset="0"/>
                <a:ea typeface="Carlito" pitchFamily="34" charset="-122"/>
                <a:cs typeface="Carlito" pitchFamily="34" charset="-120"/>
              </a:rPr>
              <a:t>PRESENTED BY</a:t>
            </a:r>
            <a:endParaRPr lang="en-US" sz="1200" dirty="0">
              <a:solidFill>
                <a:schemeClr val="bg1"/>
              </a:solidFill>
            </a:endParaRPr>
          </a:p>
        </p:txBody>
      </p:sp>
      <p:sp>
        <p:nvSpPr>
          <p:cNvPr id="14" name="Text 9"/>
          <p:cNvSpPr/>
          <p:nvPr/>
        </p:nvSpPr>
        <p:spPr>
          <a:xfrm>
            <a:off x="571500" y="3960316"/>
            <a:ext cx="8001000" cy="231458"/>
          </a:xfrm>
          <a:prstGeom prst="rect">
            <a:avLst/>
          </a:prstGeom>
          <a:noFill/>
          <a:ln/>
        </p:spPr>
        <p:txBody>
          <a:bodyPr wrap="square" lIns="0" tIns="0" rIns="0" bIns="0" rtlCol="0" anchor="t"/>
          <a:lstStyle/>
          <a:p>
            <a:pPr marL="0" indent="0" algn="l">
              <a:lnSpc>
                <a:spcPts val="1688"/>
              </a:lnSpc>
              <a:buNone/>
            </a:pPr>
            <a:r>
              <a:rPr lang="en-US" sz="1600" i="1" kern="0" spc="11" dirty="0">
                <a:solidFill>
                  <a:schemeClr val="bg1"/>
                </a:solidFill>
                <a:latin typeface="Tinos" pitchFamily="34" charset="0"/>
                <a:ea typeface="Tinos" pitchFamily="34" charset="-122"/>
                <a:cs typeface="Tinos" pitchFamily="34" charset="-120"/>
              </a:rPr>
              <a:t>Mehrnoosh Yaghubi · Keyvan Hajizade · Yasaman Aghaei</a:t>
            </a:r>
            <a:endParaRPr lang="en-US" sz="1600" dirty="0">
              <a:solidFill>
                <a:schemeClr val="bg1"/>
              </a:solidFill>
            </a:endParaRPr>
          </a:p>
        </p:txBody>
      </p:sp>
      <p:sp>
        <p:nvSpPr>
          <p:cNvPr id="15" name="Text 10"/>
          <p:cNvSpPr/>
          <p:nvPr/>
        </p:nvSpPr>
        <p:spPr>
          <a:xfrm>
            <a:off x="571500" y="4532709"/>
            <a:ext cx="1091699" cy="236887"/>
          </a:xfrm>
          <a:prstGeom prst="rect">
            <a:avLst/>
          </a:prstGeom>
          <a:noFill/>
          <a:ln/>
        </p:spPr>
        <p:txBody>
          <a:bodyPr wrap="none" lIns="0" tIns="0" rIns="0" bIns="0" rtlCol="0" anchor="t">
            <a:normAutofit/>
          </a:bodyPr>
          <a:lstStyle/>
          <a:p>
            <a:pPr marL="0" indent="0" algn="l">
              <a:lnSpc>
                <a:spcPts val="1856"/>
              </a:lnSpc>
              <a:buNone/>
            </a:pPr>
            <a:r>
              <a:rPr lang="en-US" sz="1238" i="1" dirty="0">
                <a:solidFill>
                  <a:srgbClr val="FFF100"/>
                </a:solidFill>
                <a:latin typeface="Liberation Sans Narrow" pitchFamily="34" charset="0"/>
                <a:ea typeface="Liberation Sans Narrow" pitchFamily="34" charset="-122"/>
                <a:cs typeface="Liberation Sans Narrow" pitchFamily="34" charset="-120"/>
              </a:rPr>
              <a:t>24,079</a:t>
            </a:r>
            <a:endParaRPr lang="en-US" sz="1238" dirty="0"/>
          </a:p>
        </p:txBody>
      </p:sp>
      <p:sp>
        <p:nvSpPr>
          <p:cNvPr id="16" name="Text 11"/>
          <p:cNvSpPr/>
          <p:nvPr/>
        </p:nvSpPr>
        <p:spPr>
          <a:xfrm>
            <a:off x="571500" y="4797028"/>
            <a:ext cx="1046593"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6EF44E"/>
                </a:solidFill>
                <a:latin typeface="Carlito" pitchFamily="34" charset="0"/>
                <a:ea typeface="Carlito" pitchFamily="34" charset="-122"/>
                <a:cs typeface="Carlito" pitchFamily="34" charset="-120"/>
              </a:rPr>
              <a:t>APPEARANCES</a:t>
            </a:r>
            <a:endParaRPr lang="en-US" sz="800" dirty="0">
              <a:solidFill>
                <a:srgbClr val="6EF44E"/>
              </a:solidFill>
            </a:endParaRPr>
          </a:p>
        </p:txBody>
      </p:sp>
      <p:sp>
        <p:nvSpPr>
          <p:cNvPr id="17" name="Text 12"/>
          <p:cNvSpPr/>
          <p:nvPr/>
        </p:nvSpPr>
        <p:spPr>
          <a:xfrm>
            <a:off x="1608460" y="4602361"/>
            <a:ext cx="7144" cy="242888"/>
          </a:xfrm>
          <a:prstGeom prst="rect">
            <a:avLst/>
          </a:prstGeom>
          <a:solidFill>
            <a:srgbClr val="F4F1DE">
              <a:alpha val="18000"/>
            </a:srgbClr>
          </a:solidFill>
          <a:ln/>
        </p:spPr>
        <p:txBody>
          <a:bodyPr wrap="square" rtlCol="0" anchor="ctr"/>
          <a:lstStyle/>
          <a:p>
            <a:pPr marL="0" indent="0">
              <a:buNone/>
            </a:pPr>
            <a:endParaRPr lang="en-US" dirty="0"/>
          </a:p>
        </p:txBody>
      </p:sp>
      <p:sp>
        <p:nvSpPr>
          <p:cNvPr id="18" name="Text 13"/>
          <p:cNvSpPr/>
          <p:nvPr/>
        </p:nvSpPr>
        <p:spPr>
          <a:xfrm>
            <a:off x="1865673" y="4532709"/>
            <a:ext cx="713361" cy="236887"/>
          </a:xfrm>
          <a:prstGeom prst="rect">
            <a:avLst/>
          </a:prstGeom>
          <a:noFill/>
          <a:ln/>
        </p:spPr>
        <p:txBody>
          <a:bodyPr wrap="none" lIns="0" tIns="0" rIns="0" bIns="0" rtlCol="0" anchor="t">
            <a:normAutofit/>
          </a:bodyPr>
          <a:lstStyle/>
          <a:p>
            <a:pPr marL="0" indent="0" algn="l">
              <a:lnSpc>
                <a:spcPts val="1856"/>
              </a:lnSpc>
              <a:buNone/>
            </a:pPr>
            <a:r>
              <a:rPr lang="en-US" sz="1238" i="1" dirty="0">
                <a:solidFill>
                  <a:srgbClr val="FFF100"/>
                </a:solidFill>
                <a:latin typeface="Liberation Sans Narrow" pitchFamily="34" charset="0"/>
                <a:ea typeface="Liberation Sans Narrow" pitchFamily="34" charset="-122"/>
                <a:cs typeface="Liberation Sans Narrow" pitchFamily="34" charset="-120"/>
              </a:rPr>
              <a:t>16,873</a:t>
            </a:r>
            <a:endParaRPr lang="en-US" sz="1238" dirty="0"/>
          </a:p>
        </p:txBody>
      </p:sp>
      <p:sp>
        <p:nvSpPr>
          <p:cNvPr id="20" name="Text 15"/>
          <p:cNvSpPr/>
          <p:nvPr/>
        </p:nvSpPr>
        <p:spPr>
          <a:xfrm>
            <a:off x="2629346" y="4602361"/>
            <a:ext cx="7144" cy="242888"/>
          </a:xfrm>
          <a:prstGeom prst="rect">
            <a:avLst/>
          </a:prstGeom>
          <a:solidFill>
            <a:srgbClr val="F4F1DE">
              <a:alpha val="18000"/>
            </a:srgbClr>
          </a:solidFill>
          <a:ln/>
        </p:spPr>
        <p:txBody>
          <a:bodyPr wrap="square" rtlCol="0" anchor="ctr"/>
          <a:lstStyle/>
          <a:p>
            <a:pPr marL="0" indent="0">
              <a:buNone/>
            </a:pPr>
            <a:endParaRPr lang="en-US" dirty="0"/>
          </a:p>
        </p:txBody>
      </p:sp>
      <p:sp>
        <p:nvSpPr>
          <p:cNvPr id="21" name="Text 16"/>
          <p:cNvSpPr/>
          <p:nvPr/>
        </p:nvSpPr>
        <p:spPr>
          <a:xfrm>
            <a:off x="2893665" y="4532709"/>
            <a:ext cx="1481971" cy="236887"/>
          </a:xfrm>
          <a:prstGeom prst="rect">
            <a:avLst/>
          </a:prstGeom>
          <a:noFill/>
          <a:ln/>
        </p:spPr>
        <p:txBody>
          <a:bodyPr wrap="none" lIns="0" tIns="0" rIns="0" bIns="0" rtlCol="0" anchor="t">
            <a:normAutofit/>
          </a:bodyPr>
          <a:lstStyle/>
          <a:p>
            <a:pPr marL="0" indent="0" algn="l">
              <a:lnSpc>
                <a:spcPts val="1856"/>
              </a:lnSpc>
              <a:buNone/>
            </a:pPr>
            <a:r>
              <a:rPr lang="en-US" sz="1238" i="1" dirty="0">
                <a:solidFill>
                  <a:srgbClr val="FFF100"/>
                </a:solidFill>
                <a:latin typeface="Liberation Sans Narrow" pitchFamily="34" charset="0"/>
                <a:ea typeface="Liberation Sans Narrow" pitchFamily="34" charset="-122"/>
                <a:cs typeface="Liberation Sans Narrow" pitchFamily="34" charset="-120"/>
              </a:rPr>
              <a:t>2,644</a:t>
            </a:r>
            <a:endParaRPr lang="en-US" sz="1238" dirty="0"/>
          </a:p>
        </p:txBody>
      </p:sp>
      <p:sp>
        <p:nvSpPr>
          <p:cNvPr id="22" name="Text 17"/>
          <p:cNvSpPr/>
          <p:nvPr/>
        </p:nvSpPr>
        <p:spPr>
          <a:xfrm>
            <a:off x="2893665" y="4797028"/>
            <a:ext cx="1243148"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6EF44E"/>
                </a:solidFill>
                <a:latin typeface="Carlito" pitchFamily="34" charset="0"/>
                <a:ea typeface="Carlito" pitchFamily="34" charset="-122"/>
                <a:cs typeface="Carlito" pitchFamily="34" charset="-120"/>
              </a:rPr>
              <a:t>UNIQUE PLAYERS</a:t>
            </a:r>
            <a:endParaRPr lang="en-US" sz="800" dirty="0">
              <a:solidFill>
                <a:srgbClr val="6EF44E"/>
              </a:solidFill>
            </a:endParaRPr>
          </a:p>
        </p:txBody>
      </p:sp>
      <p:sp>
        <p:nvSpPr>
          <p:cNvPr id="23" name="Text 18"/>
          <p:cNvSpPr/>
          <p:nvPr/>
        </p:nvSpPr>
        <p:spPr>
          <a:xfrm>
            <a:off x="8355509" y="4772025"/>
            <a:ext cx="171450" cy="171450"/>
          </a:xfrm>
          <a:prstGeom prst="rect">
            <a:avLst/>
          </a:prstGeom>
          <a:noFill/>
          <a:ln/>
        </p:spPr>
        <p:txBody>
          <a:bodyPr wrap="none" lIns="0" tIns="0" rIns="0" bIns="0" rtlCol="0" anchor="ctr"/>
          <a:lstStyle/>
          <a:p>
            <a:pPr marL="0" indent="0" algn="ctr">
              <a:buNone/>
            </a:pPr>
            <a:r>
              <a:rPr lang="en-US" sz="1688" dirty="0">
                <a:solidFill>
                  <a:srgbClr val="FFF100"/>
                </a:solidFill>
                <a:latin typeface="Segoe UI Symbol" pitchFamily="34" charset="0"/>
                <a:ea typeface="Segoe UI Symbol" pitchFamily="34" charset="-122"/>
                <a:cs typeface="Segoe UI Symbol" pitchFamily="34" charset="-120"/>
              </a:rPr>
              <a:t>✦</a:t>
            </a:r>
            <a:endParaRPr lang="en-US" sz="1688" dirty="0"/>
          </a:p>
        </p:txBody>
      </p:sp>
      <p:sp>
        <p:nvSpPr>
          <p:cNvPr id="24" name="Text 19"/>
          <p:cNvSpPr/>
          <p:nvPr/>
        </p:nvSpPr>
        <p:spPr>
          <a:xfrm>
            <a:off x="8598396" y="4788098"/>
            <a:ext cx="461486" cy="164592"/>
          </a:xfrm>
          <a:prstGeom prst="rect">
            <a:avLst/>
          </a:prstGeom>
          <a:noFill/>
          <a:ln/>
        </p:spPr>
        <p:txBody>
          <a:bodyPr wrap="none" lIns="0" tIns="0" rIns="0" bIns="0" rtlCol="0" anchor="t"/>
          <a:lstStyle/>
          <a:p>
            <a:pPr marL="0" indent="0" algn="l">
              <a:lnSpc>
                <a:spcPts val="1097"/>
              </a:lnSpc>
              <a:buNone/>
            </a:pPr>
            <a:r>
              <a:rPr lang="en-US" sz="800" kern="0" spc="161" dirty="0">
                <a:solidFill>
                  <a:srgbClr val="F4F1DE">
                    <a:alpha val="70000"/>
                  </a:srgbClr>
                </a:solidFill>
                <a:latin typeface="Liberation Sans Narrow" pitchFamily="34" charset="0"/>
                <a:ea typeface="Liberation Sans Narrow" pitchFamily="34" charset="-122"/>
                <a:cs typeface="Liberation Sans Narrow" pitchFamily="34" charset="-120"/>
              </a:rPr>
              <a:t>2024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352A"/>
        </a:solidFill>
        <a:effectLst/>
      </p:bgPr>
    </p:bg>
    <p:spTree>
      <p:nvGrpSpPr>
        <p:cNvPr id="1" name=""/>
        <p:cNvGrpSpPr/>
        <p:nvPr/>
      </p:nvGrpSpPr>
      <p:grpSpPr>
        <a:xfrm>
          <a:off x="0" y="0"/>
          <a:ext cx="0" cy="0"/>
          <a:chOff x="0" y="0"/>
          <a:chExt cx="0" cy="0"/>
        </a:xfrm>
      </p:grpSpPr>
      <p:pic>
        <p:nvPicPr>
          <p:cNvPr id="2" name="Image 0" descr="/tmp/h2p-fit-1789550263808-92uryv.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alphaModFix amt="70000"/>
          </a:blip>
          <a:stretch>
            <a:fillRect/>
          </a:stretch>
        </p:blipFill>
        <p:spPr>
          <a:xfrm>
            <a:off x="0" y="6914"/>
            <a:ext cx="9144000" cy="5143500"/>
          </a:xfrm>
          <a:prstGeom prst="rect">
            <a:avLst/>
          </a:prstGeom>
        </p:spPr>
      </p:pic>
      <p:sp>
        <p:nvSpPr>
          <p:cNvPr id="4" name="Text 0"/>
          <p:cNvSpPr/>
          <p:nvPr/>
        </p:nvSpPr>
        <p:spPr>
          <a:xfrm>
            <a:off x="342900" y="342900"/>
            <a:ext cx="142875" cy="142875"/>
          </a:xfrm>
          <a:prstGeom prst="rect">
            <a:avLst/>
          </a:prstGeom>
          <a:noFill/>
          <a:ln/>
        </p:spPr>
        <p:txBody>
          <a:bodyPr wrap="none" lIns="0" tIns="0" rIns="0" bIns="0" rtlCol="0" anchor="ctr"/>
          <a:lstStyle/>
          <a:p>
            <a:pPr marL="0" indent="0" algn="ctr">
              <a:buNone/>
            </a:pPr>
            <a:r>
              <a:rPr lang="en-US" sz="1406" dirty="0">
                <a:solidFill>
                  <a:srgbClr val="FFF100"/>
                </a:solidFill>
                <a:latin typeface="Segoe UI Symbol" pitchFamily="34" charset="0"/>
                <a:ea typeface="Segoe UI Symbol" pitchFamily="34" charset="-122"/>
                <a:cs typeface="Segoe UI Symbol" pitchFamily="34" charset="-120"/>
              </a:rPr>
              <a:t>✦</a:t>
            </a:r>
            <a:endParaRPr lang="en-US" sz="1406" dirty="0"/>
          </a:p>
        </p:txBody>
      </p:sp>
      <p:sp>
        <p:nvSpPr>
          <p:cNvPr id="5" name="Text 1"/>
          <p:cNvSpPr/>
          <p:nvPr/>
        </p:nvSpPr>
        <p:spPr>
          <a:xfrm>
            <a:off x="571500" y="355402"/>
            <a:ext cx="2807682" cy="164592"/>
          </a:xfrm>
          <a:prstGeom prst="rect">
            <a:avLst/>
          </a:prstGeom>
          <a:noFill/>
          <a:ln/>
        </p:spPr>
        <p:txBody>
          <a:bodyPr wrap="square" lIns="0" tIns="0" rIns="0" bIns="0" rtlCol="0" anchor="t"/>
          <a:lstStyle/>
          <a:p>
            <a:pPr marL="0" indent="0" algn="l">
              <a:lnSpc>
                <a:spcPts val="928"/>
              </a:lnSpc>
              <a:buNone/>
            </a:pPr>
            <a:r>
              <a:rPr lang="en-US" sz="800" kern="0" spc="198" dirty="0">
                <a:solidFill>
                  <a:srgbClr val="F4F1DE">
                    <a:alpha val="70000"/>
                  </a:srgbClr>
                </a:solidFill>
                <a:latin typeface="Carlito" pitchFamily="34" charset="0"/>
                <a:ea typeface="Carlito" pitchFamily="34" charset="-122"/>
                <a:cs typeface="Carlito" pitchFamily="34" charset="-120"/>
              </a:rPr>
              <a:t>TENNIS MATCHES ANALYSIS REPORT</a:t>
            </a:r>
            <a:endParaRPr lang="en-US" sz="800" dirty="0"/>
          </a:p>
        </p:txBody>
      </p:sp>
      <p:sp>
        <p:nvSpPr>
          <p:cNvPr id="6" name="Text 2"/>
          <p:cNvSpPr/>
          <p:nvPr/>
        </p:nvSpPr>
        <p:spPr>
          <a:xfrm>
            <a:off x="571500" y="928688"/>
            <a:ext cx="8572500" cy="1049274"/>
          </a:xfrm>
          <a:prstGeom prst="rect">
            <a:avLst/>
          </a:prstGeom>
          <a:noFill/>
          <a:ln/>
        </p:spPr>
        <p:txBody>
          <a:bodyPr wrap="none" lIns="0" tIns="0" rIns="0" bIns="0" rtlCol="0" anchor="t"/>
          <a:lstStyle/>
          <a:p>
            <a:pPr marL="0" indent="0" algn="l">
              <a:lnSpc>
                <a:spcPts val="7650"/>
              </a:lnSpc>
              <a:buNone/>
            </a:pPr>
            <a:r>
              <a:rPr lang="en-US" sz="9000" b="1" i="1" kern="0" spc="-180" dirty="0">
                <a:solidFill>
                  <a:srgbClr val="FFF100"/>
                </a:solidFill>
                <a:latin typeface="Liberation Sans Narrow" pitchFamily="34" charset="0"/>
                <a:ea typeface="Liberation Sans Narrow" pitchFamily="34" charset="-122"/>
                <a:cs typeface="Liberation Sans Narrow" pitchFamily="34" charset="-120"/>
              </a:rPr>
              <a:t>01</a:t>
            </a:r>
            <a:endParaRPr lang="en-US" sz="9000" dirty="0"/>
          </a:p>
        </p:txBody>
      </p:sp>
      <p:sp>
        <p:nvSpPr>
          <p:cNvPr id="7" name="Text 3"/>
          <p:cNvSpPr/>
          <p:nvPr/>
        </p:nvSpPr>
        <p:spPr>
          <a:xfrm>
            <a:off x="571500" y="2028825"/>
            <a:ext cx="457200" cy="14288"/>
          </a:xfrm>
          <a:prstGeom prst="rect">
            <a:avLst/>
          </a:prstGeom>
          <a:solidFill>
            <a:srgbClr val="FFF100"/>
          </a:solidFill>
          <a:ln/>
        </p:spPr>
        <p:txBody>
          <a:bodyPr wrap="square" rtlCol="0" anchor="ctr"/>
          <a:lstStyle/>
          <a:p>
            <a:pPr marL="0" indent="0">
              <a:buNone/>
            </a:pPr>
            <a:endParaRPr lang="en-US" dirty="0"/>
          </a:p>
        </p:txBody>
      </p:sp>
      <p:sp>
        <p:nvSpPr>
          <p:cNvPr id="8" name="Text 4"/>
          <p:cNvSpPr/>
          <p:nvPr/>
        </p:nvSpPr>
        <p:spPr>
          <a:xfrm>
            <a:off x="571500" y="2171700"/>
            <a:ext cx="8572500" cy="164592"/>
          </a:xfrm>
          <a:prstGeom prst="rect">
            <a:avLst/>
          </a:prstGeom>
          <a:noFill/>
          <a:ln/>
        </p:spPr>
        <p:txBody>
          <a:bodyPr wrap="none" lIns="0" tIns="0" rIns="0" bIns="0" rtlCol="0" anchor="t"/>
          <a:lstStyle/>
          <a:p>
            <a:pPr marL="0" indent="0" algn="l">
              <a:lnSpc>
                <a:spcPts val="1097"/>
              </a:lnSpc>
              <a:buNone/>
            </a:pPr>
            <a:r>
              <a:rPr lang="en-US" sz="800" kern="0" spc="234" dirty="0">
                <a:solidFill>
                  <a:srgbClr val="FFF100"/>
                </a:solidFill>
                <a:latin typeface="Carlito" pitchFamily="34" charset="0"/>
                <a:ea typeface="Carlito" pitchFamily="34" charset="-122"/>
                <a:cs typeface="Carlito" pitchFamily="34" charset="-120"/>
              </a:rPr>
              <a:t>SECTION ONE / THREE</a:t>
            </a:r>
            <a:endParaRPr lang="en-US" sz="800" dirty="0"/>
          </a:p>
        </p:txBody>
      </p:sp>
      <p:sp>
        <p:nvSpPr>
          <p:cNvPr id="9" name="Text 5"/>
          <p:cNvSpPr/>
          <p:nvPr/>
        </p:nvSpPr>
        <p:spPr>
          <a:xfrm>
            <a:off x="571500" y="2411016"/>
            <a:ext cx="8572500" cy="399867"/>
          </a:xfrm>
          <a:prstGeom prst="rect">
            <a:avLst/>
          </a:prstGeom>
          <a:noFill/>
          <a:ln/>
        </p:spPr>
        <p:txBody>
          <a:bodyPr wrap="square" lIns="0" tIns="0" rIns="0" bIns="0" rtlCol="0" anchor="t"/>
          <a:lstStyle/>
          <a:p>
            <a:pPr marL="0" indent="0" algn="l">
              <a:lnSpc>
                <a:spcPts val="2916"/>
              </a:lnSpc>
              <a:buNone/>
            </a:pPr>
            <a:r>
              <a:rPr lang="en-US" sz="2700" kern="0" spc="-13" dirty="0">
                <a:solidFill>
                  <a:srgbClr val="F4F1DE"/>
                </a:solidFill>
                <a:latin typeface="Tinos" pitchFamily="34" charset="0"/>
                <a:ea typeface="Tinos" pitchFamily="34" charset="-122"/>
                <a:cs typeface="Tinos" pitchFamily="34" charset="-120"/>
              </a:rPr>
              <a:t>Player Profiles &amp; Fan Behavior</a:t>
            </a:r>
            <a:endParaRPr lang="en-US" sz="2700" dirty="0"/>
          </a:p>
        </p:txBody>
      </p:sp>
      <p:sp>
        <p:nvSpPr>
          <p:cNvPr id="10" name="Text 6"/>
          <p:cNvSpPr/>
          <p:nvPr/>
        </p:nvSpPr>
        <p:spPr>
          <a:xfrm>
            <a:off x="571500" y="3113447"/>
            <a:ext cx="1483367" cy="169736"/>
          </a:xfrm>
          <a:prstGeom prst="rect">
            <a:avLst/>
          </a:prstGeom>
          <a:noFill/>
          <a:ln/>
        </p:spPr>
        <p:txBody>
          <a:bodyPr wrap="none" lIns="0" tIns="0" rIns="0" bIns="0" rtlCol="0" anchor="t"/>
          <a:lstStyle/>
          <a:p>
            <a:pPr marL="0" indent="0" algn="l">
              <a:lnSpc>
                <a:spcPts val="1688"/>
              </a:lnSpc>
              <a:buNone/>
            </a:pPr>
            <a:r>
              <a:rPr lang="en-US" sz="1200" dirty="0">
                <a:solidFill>
                  <a:srgbClr val="F4F1DE">
                    <a:alpha val="82000"/>
                  </a:srgbClr>
                </a:solidFill>
                <a:latin typeface="Carlito" pitchFamily="34" charset="0"/>
                <a:ea typeface="Carlito" pitchFamily="34" charset="-122"/>
                <a:cs typeface="Carlito" pitchFamily="34" charset="-120"/>
              </a:rPr>
              <a:t>Mehrnoosh Yaghubi</a:t>
            </a:r>
            <a:endParaRPr lang="en-US" sz="1200" dirty="0"/>
          </a:p>
        </p:txBody>
      </p:sp>
      <p:sp>
        <p:nvSpPr>
          <p:cNvPr id="11" name="Text 7"/>
          <p:cNvSpPr/>
          <p:nvPr/>
        </p:nvSpPr>
        <p:spPr>
          <a:xfrm>
            <a:off x="571500" y="2938425"/>
            <a:ext cx="8572500" cy="164592"/>
          </a:xfrm>
          <a:prstGeom prst="rect">
            <a:avLst/>
          </a:prstGeom>
          <a:noFill/>
          <a:ln/>
        </p:spPr>
        <p:txBody>
          <a:bodyPr wrap="none" lIns="0" tIns="0" rIns="0" bIns="0" rtlCol="0" anchor="t"/>
          <a:lstStyle/>
          <a:p>
            <a:pPr marL="0" indent="0" algn="l">
              <a:lnSpc>
                <a:spcPts val="928"/>
              </a:lnSpc>
              <a:buNone/>
            </a:pPr>
            <a:r>
              <a:rPr lang="en-US" sz="1200" kern="0" spc="173" dirty="0">
                <a:solidFill>
                  <a:srgbClr val="F4F1DE">
                    <a:alpha val="50000"/>
                  </a:srgbClr>
                </a:solidFill>
                <a:latin typeface="Carlito" pitchFamily="34" charset="0"/>
                <a:ea typeface="Carlito" pitchFamily="34" charset="-122"/>
                <a:cs typeface="Carlito" pitchFamily="34" charset="-120"/>
              </a:rPr>
              <a:t>PRESENTED BY</a:t>
            </a:r>
            <a:endParaRPr lang="en-US" sz="1200" dirty="0"/>
          </a:p>
        </p:txBody>
      </p:sp>
      <p:sp>
        <p:nvSpPr>
          <p:cNvPr id="12" name="Text 8"/>
          <p:cNvSpPr/>
          <p:nvPr/>
        </p:nvSpPr>
        <p:spPr>
          <a:xfrm>
            <a:off x="571500" y="3527785"/>
            <a:ext cx="7147947" cy="161877"/>
          </a:xfrm>
          <a:prstGeom prst="rect">
            <a:avLst/>
          </a:prstGeom>
          <a:noFill/>
          <a:ln/>
        </p:spPr>
        <p:txBody>
          <a:bodyPr wrap="none" lIns="0" tIns="0" rIns="0" bIns="0" rtlCol="0" anchor="t">
            <a:normAutofit/>
          </a:bodyPr>
          <a:lstStyle/>
          <a:p>
            <a:pPr marL="0" indent="0" algn="l">
              <a:lnSpc>
                <a:spcPts val="928"/>
              </a:lnSpc>
              <a:buNone/>
            </a:pPr>
            <a:r>
              <a:rPr lang="en-US" sz="800" kern="0" spc="173" dirty="0">
                <a:solidFill>
                  <a:srgbClr val="FFFF00"/>
                </a:solidFill>
                <a:latin typeface="Carlito" pitchFamily="34" charset="0"/>
                <a:ea typeface="Carlito" pitchFamily="34" charset="-122"/>
                <a:cs typeface="Carlito" pitchFamily="34" charset="-120"/>
              </a:rPr>
              <a:t>QUESTIONS IN THIS SECTION</a:t>
            </a:r>
            <a:endParaRPr lang="en-US" sz="800" dirty="0">
              <a:solidFill>
                <a:srgbClr val="FFFF00"/>
              </a:solidFill>
            </a:endParaRPr>
          </a:p>
        </p:txBody>
      </p:sp>
      <p:sp>
        <p:nvSpPr>
          <p:cNvPr id="13" name="Shape 9"/>
          <p:cNvSpPr/>
          <p:nvPr/>
        </p:nvSpPr>
        <p:spPr>
          <a:xfrm>
            <a:off x="571500" y="3720666"/>
            <a:ext cx="2600325" cy="0"/>
          </a:xfrm>
          <a:prstGeom prst="line">
            <a:avLst/>
          </a:prstGeom>
          <a:noFill/>
          <a:ln w="7144">
            <a:solidFill>
              <a:srgbClr val="F4F1DE"/>
            </a:solidFill>
            <a:prstDash val="solid"/>
          </a:ln>
        </p:spPr>
      </p:sp>
      <p:sp>
        <p:nvSpPr>
          <p:cNvPr id="14" name="Text 10"/>
          <p:cNvSpPr/>
          <p:nvPr/>
        </p:nvSpPr>
        <p:spPr>
          <a:xfrm>
            <a:off x="571500" y="3781388"/>
            <a:ext cx="411480" cy="150019"/>
          </a:xfrm>
          <a:prstGeom prst="rect">
            <a:avLst/>
          </a:prstGeom>
          <a:noFill/>
          <a:ln/>
        </p:spPr>
        <p:txBody>
          <a:bodyPr wrap="none" lIns="0" tIns="0" rIns="0" bIns="0" rtlCol="0" anchor="t"/>
          <a:lstStyle/>
          <a:p>
            <a:pPr marL="0" indent="0" algn="l">
              <a:lnSpc>
                <a:spcPts val="1181"/>
              </a:lnSpc>
              <a:buNone/>
            </a:pPr>
            <a:r>
              <a:rPr lang="en-US" sz="1000" i="1" dirty="0">
                <a:solidFill>
                  <a:srgbClr val="FFF100"/>
                </a:solidFill>
                <a:latin typeface="Liberation Sans Narrow" pitchFamily="34" charset="0"/>
                <a:ea typeface="Liberation Sans Narrow" pitchFamily="34" charset="-122"/>
                <a:cs typeface="Liberation Sans Narrow" pitchFamily="34" charset="-120"/>
              </a:rPr>
              <a:t>Q1</a:t>
            </a:r>
            <a:endParaRPr lang="en-US" sz="800" dirty="0"/>
          </a:p>
        </p:txBody>
      </p:sp>
      <p:sp>
        <p:nvSpPr>
          <p:cNvPr id="15" name="Text 11"/>
          <p:cNvSpPr/>
          <p:nvPr/>
        </p:nvSpPr>
        <p:spPr>
          <a:xfrm>
            <a:off x="900113" y="3795675"/>
            <a:ext cx="2271713" cy="135731"/>
          </a:xfrm>
          <a:prstGeom prst="rect">
            <a:avLst/>
          </a:prstGeom>
          <a:noFill/>
          <a:ln/>
        </p:spPr>
        <p:txBody>
          <a:bodyPr wrap="square" lIns="0" tIns="0" rIns="0" bIns="0" rtlCol="0" anchor="t"/>
          <a:lstStyle/>
          <a:p>
            <a:pPr marL="0" indent="0" algn="l">
              <a:lnSpc>
                <a:spcPts val="987"/>
              </a:lnSpc>
              <a:buNone/>
            </a:pPr>
            <a:r>
              <a:rPr lang="en-US" sz="1000" dirty="0">
                <a:solidFill>
                  <a:srgbClr val="F4F1DE">
                    <a:alpha val="85000"/>
                  </a:srgbClr>
                </a:solidFill>
                <a:latin typeface="Carlito" pitchFamily="34" charset="0"/>
                <a:ea typeface="Carlito" pitchFamily="34" charset="-122"/>
                <a:cs typeface="Carlito" pitchFamily="34" charset="-120"/>
              </a:rPr>
              <a:t>Unique players &amp; home/away labeling</a:t>
            </a:r>
            <a:endParaRPr lang="en-US" sz="1000" dirty="0"/>
          </a:p>
        </p:txBody>
      </p:sp>
      <p:sp>
        <p:nvSpPr>
          <p:cNvPr id="16" name="Shape 12"/>
          <p:cNvSpPr/>
          <p:nvPr/>
        </p:nvSpPr>
        <p:spPr>
          <a:xfrm>
            <a:off x="3400425" y="3720666"/>
            <a:ext cx="2600325" cy="0"/>
          </a:xfrm>
          <a:prstGeom prst="line">
            <a:avLst/>
          </a:prstGeom>
          <a:noFill/>
          <a:ln w="7144">
            <a:solidFill>
              <a:srgbClr val="F4F1DE"/>
            </a:solidFill>
            <a:prstDash val="solid"/>
          </a:ln>
        </p:spPr>
      </p:sp>
      <p:sp>
        <p:nvSpPr>
          <p:cNvPr id="17" name="Text 13"/>
          <p:cNvSpPr/>
          <p:nvPr/>
        </p:nvSpPr>
        <p:spPr>
          <a:xfrm>
            <a:off x="3400425" y="3781388"/>
            <a:ext cx="411480" cy="150019"/>
          </a:xfrm>
          <a:prstGeom prst="rect">
            <a:avLst/>
          </a:prstGeom>
          <a:noFill/>
          <a:ln/>
        </p:spPr>
        <p:txBody>
          <a:bodyPr wrap="none" lIns="0" tIns="0" rIns="0" bIns="0" rtlCol="0" anchor="t"/>
          <a:lstStyle/>
          <a:p>
            <a:pPr marL="0" indent="0" algn="l">
              <a:lnSpc>
                <a:spcPts val="1181"/>
              </a:lnSpc>
              <a:buNone/>
            </a:pPr>
            <a:r>
              <a:rPr lang="en-US" sz="1000" i="1" dirty="0">
                <a:solidFill>
                  <a:srgbClr val="FFF100"/>
                </a:solidFill>
                <a:latin typeface="Liberation Sans Narrow" pitchFamily="34" charset="0"/>
                <a:ea typeface="Liberation Sans Narrow" pitchFamily="34" charset="-122"/>
                <a:cs typeface="Liberation Sans Narrow" pitchFamily="34" charset="-120"/>
              </a:rPr>
              <a:t>Q2</a:t>
            </a:r>
            <a:endParaRPr lang="en-US" sz="800" dirty="0"/>
          </a:p>
        </p:txBody>
      </p:sp>
      <p:sp>
        <p:nvSpPr>
          <p:cNvPr id="18" name="Text 14"/>
          <p:cNvSpPr/>
          <p:nvPr/>
        </p:nvSpPr>
        <p:spPr>
          <a:xfrm>
            <a:off x="3729038" y="3795675"/>
            <a:ext cx="2271713" cy="135731"/>
          </a:xfrm>
          <a:prstGeom prst="rect">
            <a:avLst/>
          </a:prstGeom>
          <a:noFill/>
          <a:ln/>
        </p:spPr>
        <p:txBody>
          <a:bodyPr wrap="square" lIns="0" tIns="0" rIns="0" bIns="0" rtlCol="0" anchor="t"/>
          <a:lstStyle/>
          <a:p>
            <a:pPr marL="0" indent="0" algn="l">
              <a:lnSpc>
                <a:spcPts val="987"/>
              </a:lnSpc>
              <a:buNone/>
            </a:pPr>
            <a:r>
              <a:rPr lang="en-US" sz="1000" dirty="0">
                <a:solidFill>
                  <a:srgbClr val="F4F1DE">
                    <a:alpha val="85000"/>
                  </a:srgbClr>
                </a:solidFill>
                <a:latin typeface="Carlito" pitchFamily="34" charset="0"/>
                <a:ea typeface="Carlito" pitchFamily="34" charset="-122"/>
                <a:cs typeface="Carlito" pitchFamily="34" charset="-120"/>
              </a:rPr>
              <a:t>Average player height</a:t>
            </a:r>
            <a:endParaRPr lang="en-US" sz="1000" dirty="0"/>
          </a:p>
        </p:txBody>
      </p:sp>
      <p:sp>
        <p:nvSpPr>
          <p:cNvPr id="19" name="Shape 15"/>
          <p:cNvSpPr/>
          <p:nvPr/>
        </p:nvSpPr>
        <p:spPr>
          <a:xfrm>
            <a:off x="571500" y="4063566"/>
            <a:ext cx="2600325" cy="0"/>
          </a:xfrm>
          <a:prstGeom prst="line">
            <a:avLst/>
          </a:prstGeom>
          <a:noFill/>
          <a:ln w="7144">
            <a:solidFill>
              <a:srgbClr val="F4F1DE"/>
            </a:solidFill>
            <a:prstDash val="solid"/>
          </a:ln>
        </p:spPr>
      </p:sp>
      <p:sp>
        <p:nvSpPr>
          <p:cNvPr id="20" name="Text 16"/>
          <p:cNvSpPr/>
          <p:nvPr/>
        </p:nvSpPr>
        <p:spPr>
          <a:xfrm>
            <a:off x="571500" y="4124288"/>
            <a:ext cx="411480" cy="150019"/>
          </a:xfrm>
          <a:prstGeom prst="rect">
            <a:avLst/>
          </a:prstGeom>
          <a:noFill/>
          <a:ln/>
        </p:spPr>
        <p:txBody>
          <a:bodyPr wrap="none" lIns="0" tIns="0" rIns="0" bIns="0" rtlCol="0" anchor="t"/>
          <a:lstStyle/>
          <a:p>
            <a:pPr marL="0" indent="0" algn="l">
              <a:lnSpc>
                <a:spcPts val="1181"/>
              </a:lnSpc>
              <a:buNone/>
            </a:pPr>
            <a:r>
              <a:rPr lang="en-US" sz="1000" i="1" dirty="0">
                <a:solidFill>
                  <a:srgbClr val="FFF100"/>
                </a:solidFill>
                <a:latin typeface="Liberation Sans Narrow" pitchFamily="34" charset="0"/>
                <a:ea typeface="Liberation Sans Narrow" pitchFamily="34" charset="-122"/>
                <a:cs typeface="Liberation Sans Narrow" pitchFamily="34" charset="-120"/>
              </a:rPr>
              <a:t>Q10</a:t>
            </a:r>
            <a:endParaRPr lang="en-US" sz="800" dirty="0"/>
          </a:p>
        </p:txBody>
      </p:sp>
      <p:sp>
        <p:nvSpPr>
          <p:cNvPr id="21" name="Text 17"/>
          <p:cNvSpPr/>
          <p:nvPr/>
        </p:nvSpPr>
        <p:spPr>
          <a:xfrm>
            <a:off x="900113" y="4138575"/>
            <a:ext cx="2271713" cy="135731"/>
          </a:xfrm>
          <a:prstGeom prst="rect">
            <a:avLst/>
          </a:prstGeom>
          <a:noFill/>
          <a:ln/>
        </p:spPr>
        <p:txBody>
          <a:bodyPr wrap="square" lIns="0" tIns="0" rIns="0" bIns="0" rtlCol="0" anchor="t"/>
          <a:lstStyle/>
          <a:p>
            <a:pPr marL="0" indent="0" algn="l">
              <a:lnSpc>
                <a:spcPts val="987"/>
              </a:lnSpc>
              <a:buNone/>
            </a:pPr>
            <a:r>
              <a:rPr lang="en-US" sz="1000" dirty="0">
                <a:solidFill>
                  <a:srgbClr val="F4F1DE">
                    <a:alpha val="85000"/>
                  </a:srgbClr>
                </a:solidFill>
                <a:latin typeface="Carlito" pitchFamily="34" charset="0"/>
                <a:ea typeface="Carlito" pitchFamily="34" charset="-122"/>
                <a:cs typeface="Carlito" pitchFamily="34" charset="-120"/>
              </a:rPr>
              <a:t>Height vs ranking correlation</a:t>
            </a:r>
            <a:endParaRPr lang="en-US" sz="1000" dirty="0"/>
          </a:p>
        </p:txBody>
      </p:sp>
      <p:sp>
        <p:nvSpPr>
          <p:cNvPr id="22" name="Shape 18"/>
          <p:cNvSpPr/>
          <p:nvPr/>
        </p:nvSpPr>
        <p:spPr>
          <a:xfrm>
            <a:off x="3400425" y="4063566"/>
            <a:ext cx="2600325" cy="0"/>
          </a:xfrm>
          <a:prstGeom prst="line">
            <a:avLst/>
          </a:prstGeom>
          <a:noFill/>
          <a:ln w="7144">
            <a:solidFill>
              <a:srgbClr val="F4F1DE"/>
            </a:solidFill>
            <a:prstDash val="solid"/>
          </a:ln>
        </p:spPr>
      </p:sp>
      <p:sp>
        <p:nvSpPr>
          <p:cNvPr id="23" name="Text 19"/>
          <p:cNvSpPr/>
          <p:nvPr/>
        </p:nvSpPr>
        <p:spPr>
          <a:xfrm>
            <a:off x="3400425" y="4124288"/>
            <a:ext cx="411480" cy="150019"/>
          </a:xfrm>
          <a:prstGeom prst="rect">
            <a:avLst/>
          </a:prstGeom>
          <a:noFill/>
          <a:ln/>
        </p:spPr>
        <p:txBody>
          <a:bodyPr wrap="none" lIns="0" tIns="0" rIns="0" bIns="0" rtlCol="0" anchor="t"/>
          <a:lstStyle/>
          <a:p>
            <a:pPr marL="0" indent="0" algn="l">
              <a:lnSpc>
                <a:spcPts val="1181"/>
              </a:lnSpc>
              <a:buNone/>
            </a:pPr>
            <a:r>
              <a:rPr lang="en-US" sz="1000" i="1" dirty="0">
                <a:solidFill>
                  <a:srgbClr val="FFF100"/>
                </a:solidFill>
                <a:latin typeface="Liberation Sans Narrow" pitchFamily="34" charset="0"/>
                <a:ea typeface="Liberation Sans Narrow" pitchFamily="34" charset="-122"/>
                <a:cs typeface="Liberation Sans Narrow" pitchFamily="34" charset="-120"/>
              </a:rPr>
              <a:t>Q13</a:t>
            </a:r>
            <a:endParaRPr lang="en-US" sz="800" dirty="0"/>
          </a:p>
        </p:txBody>
      </p:sp>
      <p:sp>
        <p:nvSpPr>
          <p:cNvPr id="24" name="Text 20"/>
          <p:cNvSpPr/>
          <p:nvPr/>
        </p:nvSpPr>
        <p:spPr>
          <a:xfrm>
            <a:off x="3729038" y="4138575"/>
            <a:ext cx="2271713" cy="135731"/>
          </a:xfrm>
          <a:prstGeom prst="rect">
            <a:avLst/>
          </a:prstGeom>
          <a:noFill/>
          <a:ln/>
        </p:spPr>
        <p:txBody>
          <a:bodyPr wrap="square" lIns="0" tIns="0" rIns="0" bIns="0" rtlCol="0" anchor="t"/>
          <a:lstStyle/>
          <a:p>
            <a:pPr marL="0" indent="0" algn="l">
              <a:lnSpc>
                <a:spcPts val="987"/>
              </a:lnSpc>
              <a:buNone/>
            </a:pPr>
            <a:r>
              <a:rPr lang="en-US" sz="1000" dirty="0">
                <a:solidFill>
                  <a:srgbClr val="F4F1DE">
                    <a:alpha val="85000"/>
                  </a:srgbClr>
                </a:solidFill>
                <a:latin typeface="Carlito" pitchFamily="34" charset="0"/>
                <a:ea typeface="Carlito" pitchFamily="34" charset="-122"/>
                <a:cs typeface="Carlito" pitchFamily="34" charset="-120"/>
              </a:rPr>
              <a:t>Left vs right-handed players</a:t>
            </a:r>
            <a:endParaRPr lang="en-US" sz="1000" dirty="0"/>
          </a:p>
        </p:txBody>
      </p:sp>
      <p:sp>
        <p:nvSpPr>
          <p:cNvPr id="25" name="Shape 21"/>
          <p:cNvSpPr/>
          <p:nvPr/>
        </p:nvSpPr>
        <p:spPr>
          <a:xfrm>
            <a:off x="571500" y="4406466"/>
            <a:ext cx="2600325" cy="0"/>
          </a:xfrm>
          <a:prstGeom prst="line">
            <a:avLst/>
          </a:prstGeom>
          <a:noFill/>
          <a:ln w="7144">
            <a:solidFill>
              <a:srgbClr val="F4F1DE"/>
            </a:solidFill>
            <a:prstDash val="solid"/>
          </a:ln>
        </p:spPr>
      </p:sp>
      <p:sp>
        <p:nvSpPr>
          <p:cNvPr id="26" name="Text 22"/>
          <p:cNvSpPr/>
          <p:nvPr/>
        </p:nvSpPr>
        <p:spPr>
          <a:xfrm>
            <a:off x="571500" y="4467188"/>
            <a:ext cx="411480" cy="150019"/>
          </a:xfrm>
          <a:prstGeom prst="rect">
            <a:avLst/>
          </a:prstGeom>
          <a:noFill/>
          <a:ln/>
        </p:spPr>
        <p:txBody>
          <a:bodyPr wrap="none" lIns="0" tIns="0" rIns="0" bIns="0" rtlCol="0" anchor="t"/>
          <a:lstStyle/>
          <a:p>
            <a:pPr marL="0" indent="0" algn="l">
              <a:lnSpc>
                <a:spcPts val="1181"/>
              </a:lnSpc>
              <a:buNone/>
            </a:pPr>
            <a:r>
              <a:rPr lang="en-US" sz="1000" i="1" dirty="0">
                <a:solidFill>
                  <a:srgbClr val="FFF100"/>
                </a:solidFill>
                <a:latin typeface="Liberation Sans Narrow" pitchFamily="34" charset="0"/>
                <a:ea typeface="Liberation Sans Narrow" pitchFamily="34" charset="-122"/>
                <a:cs typeface="Liberation Sans Narrow" pitchFamily="34" charset="-120"/>
              </a:rPr>
              <a:t>Q15</a:t>
            </a:r>
            <a:endParaRPr lang="en-US" sz="800" dirty="0"/>
          </a:p>
        </p:txBody>
      </p:sp>
      <p:sp>
        <p:nvSpPr>
          <p:cNvPr id="27" name="Text 23"/>
          <p:cNvSpPr/>
          <p:nvPr/>
        </p:nvSpPr>
        <p:spPr>
          <a:xfrm>
            <a:off x="900113" y="4481475"/>
            <a:ext cx="2271713" cy="135731"/>
          </a:xfrm>
          <a:prstGeom prst="rect">
            <a:avLst/>
          </a:prstGeom>
          <a:noFill/>
          <a:ln/>
        </p:spPr>
        <p:txBody>
          <a:bodyPr wrap="square" lIns="0" tIns="0" rIns="0" bIns="0" rtlCol="0" anchor="t"/>
          <a:lstStyle/>
          <a:p>
            <a:pPr marL="0" indent="0" algn="l">
              <a:lnSpc>
                <a:spcPts val="987"/>
              </a:lnSpc>
              <a:buNone/>
            </a:pPr>
            <a:r>
              <a:rPr lang="en-US" sz="1000" dirty="0">
                <a:solidFill>
                  <a:srgbClr val="F4F1DE">
                    <a:alpha val="85000"/>
                  </a:srgbClr>
                </a:solidFill>
                <a:latin typeface="Carlito" pitchFamily="34" charset="0"/>
                <a:ea typeface="Carlito" pitchFamily="34" charset="-122"/>
                <a:cs typeface="Carlito" pitchFamily="34" charset="-120"/>
              </a:rPr>
              <a:t>Distinct countries represented</a:t>
            </a:r>
            <a:endParaRPr lang="en-US" sz="1000" dirty="0"/>
          </a:p>
        </p:txBody>
      </p:sp>
      <p:sp>
        <p:nvSpPr>
          <p:cNvPr id="28" name="Shape 24"/>
          <p:cNvSpPr/>
          <p:nvPr/>
        </p:nvSpPr>
        <p:spPr>
          <a:xfrm>
            <a:off x="3400425" y="4406466"/>
            <a:ext cx="2600325" cy="0"/>
          </a:xfrm>
          <a:prstGeom prst="line">
            <a:avLst/>
          </a:prstGeom>
          <a:noFill/>
          <a:ln w="7144">
            <a:solidFill>
              <a:srgbClr val="F4F1DE"/>
            </a:solidFill>
            <a:prstDash val="solid"/>
          </a:ln>
        </p:spPr>
      </p:sp>
      <p:sp>
        <p:nvSpPr>
          <p:cNvPr id="29" name="Text 25"/>
          <p:cNvSpPr/>
          <p:nvPr/>
        </p:nvSpPr>
        <p:spPr>
          <a:xfrm>
            <a:off x="3400425" y="4467188"/>
            <a:ext cx="411480" cy="150019"/>
          </a:xfrm>
          <a:prstGeom prst="rect">
            <a:avLst/>
          </a:prstGeom>
          <a:noFill/>
          <a:ln/>
        </p:spPr>
        <p:txBody>
          <a:bodyPr wrap="none" lIns="0" tIns="0" rIns="0" bIns="0" rtlCol="0" anchor="t"/>
          <a:lstStyle/>
          <a:p>
            <a:pPr marL="0" indent="0" algn="l">
              <a:lnSpc>
                <a:spcPts val="1181"/>
              </a:lnSpc>
              <a:buNone/>
            </a:pPr>
            <a:r>
              <a:rPr lang="en-US" sz="1000" i="1" dirty="0">
                <a:solidFill>
                  <a:srgbClr val="FFF100"/>
                </a:solidFill>
                <a:latin typeface="Liberation Sans Narrow" pitchFamily="34" charset="0"/>
                <a:ea typeface="Liberation Sans Narrow" pitchFamily="34" charset="-122"/>
                <a:cs typeface="Liberation Sans Narrow" pitchFamily="34" charset="-120"/>
              </a:rPr>
              <a:t>OP1</a:t>
            </a:r>
            <a:endParaRPr lang="en-US" sz="800" dirty="0"/>
          </a:p>
        </p:txBody>
      </p:sp>
      <p:sp>
        <p:nvSpPr>
          <p:cNvPr id="30" name="Text 26"/>
          <p:cNvSpPr/>
          <p:nvPr/>
        </p:nvSpPr>
        <p:spPr>
          <a:xfrm>
            <a:off x="3729038" y="4481475"/>
            <a:ext cx="2271713" cy="135731"/>
          </a:xfrm>
          <a:prstGeom prst="rect">
            <a:avLst/>
          </a:prstGeom>
          <a:noFill/>
          <a:ln/>
        </p:spPr>
        <p:txBody>
          <a:bodyPr wrap="none" lIns="0" tIns="0" rIns="0" bIns="0" rtlCol="0" anchor="t"/>
          <a:lstStyle/>
          <a:p>
            <a:pPr marL="0" indent="0" algn="l">
              <a:lnSpc>
                <a:spcPts val="987"/>
              </a:lnSpc>
              <a:buNone/>
            </a:pPr>
            <a:r>
              <a:rPr lang="en-US" sz="1000" dirty="0">
                <a:solidFill>
                  <a:srgbClr val="F4F1DE">
                    <a:alpha val="85000"/>
                  </a:srgbClr>
                </a:solidFill>
                <a:latin typeface="Carlito" pitchFamily="34" charset="0"/>
                <a:ea typeface="Carlito" pitchFamily="34" charset="-122"/>
                <a:cs typeface="Carlito" pitchFamily="34" charset="-120"/>
              </a:rPr>
              <a:t>Fan vote home bias</a:t>
            </a:r>
            <a:endParaRPr lang="en-US" sz="1000" dirty="0"/>
          </a:p>
        </p:txBody>
      </p:sp>
      <p:sp>
        <p:nvSpPr>
          <p:cNvPr id="31" name="Shape 27"/>
          <p:cNvSpPr/>
          <p:nvPr/>
        </p:nvSpPr>
        <p:spPr>
          <a:xfrm>
            <a:off x="571500" y="4749366"/>
            <a:ext cx="5429250" cy="0"/>
          </a:xfrm>
          <a:prstGeom prst="line">
            <a:avLst/>
          </a:prstGeom>
          <a:noFill/>
          <a:ln w="7144">
            <a:solidFill>
              <a:srgbClr val="F4F1DE"/>
            </a:solidFill>
            <a:prstDash val="solid"/>
          </a:ln>
        </p:spPr>
      </p:sp>
      <p:sp>
        <p:nvSpPr>
          <p:cNvPr id="32" name="Text 28"/>
          <p:cNvSpPr/>
          <p:nvPr/>
        </p:nvSpPr>
        <p:spPr>
          <a:xfrm>
            <a:off x="571500" y="4810088"/>
            <a:ext cx="411480" cy="150019"/>
          </a:xfrm>
          <a:prstGeom prst="rect">
            <a:avLst/>
          </a:prstGeom>
          <a:noFill/>
          <a:ln/>
        </p:spPr>
        <p:txBody>
          <a:bodyPr wrap="none" lIns="0" tIns="0" rIns="0" bIns="0" rtlCol="0" anchor="t"/>
          <a:lstStyle/>
          <a:p>
            <a:pPr marL="0" indent="0" algn="l">
              <a:lnSpc>
                <a:spcPts val="1181"/>
              </a:lnSpc>
              <a:buNone/>
            </a:pPr>
            <a:r>
              <a:rPr lang="en-US" sz="1000" i="1" dirty="0">
                <a:solidFill>
                  <a:srgbClr val="FFF100"/>
                </a:solidFill>
                <a:latin typeface="Liberation Sans Narrow" pitchFamily="34" charset="0"/>
                <a:ea typeface="Liberation Sans Narrow" pitchFamily="34" charset="-122"/>
                <a:cs typeface="Liberation Sans Narrow" pitchFamily="34" charset="-120"/>
              </a:rPr>
              <a:t>OP2</a:t>
            </a:r>
            <a:endParaRPr lang="en-US" sz="800" dirty="0"/>
          </a:p>
        </p:txBody>
      </p:sp>
      <p:sp>
        <p:nvSpPr>
          <p:cNvPr id="33" name="Text 29"/>
          <p:cNvSpPr/>
          <p:nvPr/>
        </p:nvSpPr>
        <p:spPr>
          <a:xfrm>
            <a:off x="900113" y="4824375"/>
            <a:ext cx="5100638" cy="135731"/>
          </a:xfrm>
          <a:prstGeom prst="rect">
            <a:avLst/>
          </a:prstGeom>
          <a:noFill/>
          <a:ln/>
        </p:spPr>
        <p:txBody>
          <a:bodyPr wrap="square" lIns="0" tIns="0" rIns="0" bIns="0" rtlCol="0" anchor="t"/>
          <a:lstStyle/>
          <a:p>
            <a:pPr marL="0" indent="0" algn="l">
              <a:lnSpc>
                <a:spcPts val="987"/>
              </a:lnSpc>
              <a:buNone/>
            </a:pPr>
            <a:r>
              <a:rPr lang="en-US" sz="1000" dirty="0">
                <a:solidFill>
                  <a:srgbClr val="F4F1DE">
                    <a:alpha val="85000"/>
                  </a:srgbClr>
                </a:solidFill>
                <a:latin typeface="Carlito" pitchFamily="34" charset="0"/>
                <a:ea typeface="Carlito" pitchFamily="34" charset="-122"/>
                <a:cs typeface="Carlito" pitchFamily="34" charset="-120"/>
              </a:rPr>
              <a:t>Fan votes vs betting market</a:t>
            </a:r>
            <a:endParaRPr lang="en-US" sz="1000" dirty="0"/>
          </a:p>
        </p:txBody>
      </p:sp>
      <p:sp>
        <p:nvSpPr>
          <p:cNvPr id="34" name="Text 30"/>
          <p:cNvSpPr/>
          <p:nvPr/>
        </p:nvSpPr>
        <p:spPr>
          <a:xfrm>
            <a:off x="7499375" y="4797028"/>
            <a:ext cx="1644625"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F4F1DE">
                    <a:alpha val="55000"/>
                  </a:srgbClr>
                </a:solidFill>
                <a:latin typeface="Liberation Sans Narrow" pitchFamily="34" charset="0"/>
                <a:ea typeface="Liberation Sans Narrow" pitchFamily="34" charset="-122"/>
                <a:cs typeface="Liberation Sans Narrow" pitchFamily="34" charset="-120"/>
              </a:rPr>
              <a:t>SLIDE 02 · SECTION 01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0" y="2125"/>
            <a:ext cx="9144000" cy="5143500"/>
          </a:xfrm>
          <a:prstGeom prst="rect">
            <a:avLst/>
          </a:prstGeom>
          <a:solidFill>
            <a:srgbClr val="1B4332"/>
          </a:solidFill>
          <a:ln/>
        </p:spPr>
        <p:txBody>
          <a:bodyPr wrap="square" rtlCol="0" anchor="ctr"/>
          <a:lstStyle/>
          <a:p>
            <a:pPr marL="0" indent="0">
              <a:buNone/>
            </a:pPr>
            <a:endParaRPr lang="en-US" dirty="0"/>
          </a:p>
        </p:txBody>
      </p:sp>
      <p:sp>
        <p:nvSpPr>
          <p:cNvPr id="3" name="Shape 1"/>
          <p:cNvSpPr/>
          <p:nvPr/>
        </p:nvSpPr>
        <p:spPr>
          <a:xfrm>
            <a:off x="400050" y="489347"/>
            <a:ext cx="8343900" cy="0"/>
          </a:xfrm>
          <a:prstGeom prst="line">
            <a:avLst/>
          </a:prstGeom>
          <a:noFill/>
          <a:ln w="7144">
            <a:solidFill>
              <a:srgbClr val="F4F1DE"/>
            </a:solidFill>
            <a:prstDash val="solid"/>
          </a:ln>
        </p:spPr>
      </p:sp>
      <p:sp>
        <p:nvSpPr>
          <p:cNvPr id="4" name="Text 2"/>
          <p:cNvSpPr/>
          <p:nvPr/>
        </p:nvSpPr>
        <p:spPr>
          <a:xfrm>
            <a:off x="400050" y="257175"/>
            <a:ext cx="128588" cy="128588"/>
          </a:xfrm>
          <a:prstGeom prst="rect">
            <a:avLst/>
          </a:prstGeom>
          <a:noFill/>
          <a:ln/>
        </p:spPr>
        <p:txBody>
          <a:bodyPr wrap="none" lIns="0" tIns="0" rIns="0" bIns="0" rtlCol="0" anchor="ctr"/>
          <a:lstStyle/>
          <a:p>
            <a:pPr marL="0" indent="0" algn="ctr">
              <a:buNone/>
            </a:pPr>
            <a:r>
              <a:rPr lang="en-US" sz="1266" dirty="0">
                <a:solidFill>
                  <a:srgbClr val="FFF100"/>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600075" y="262533"/>
            <a:ext cx="2612295" cy="123230"/>
          </a:xfrm>
          <a:prstGeom prst="rect">
            <a:avLst/>
          </a:prstGeom>
          <a:noFill/>
          <a:ln/>
        </p:spPr>
        <p:txBody>
          <a:bodyPr wrap="square" lIns="0" tIns="0" rIns="0" bIns="0" rtlCol="0" anchor="t"/>
          <a:lstStyle/>
          <a:p>
            <a:pPr marL="0" indent="0" algn="l">
              <a:lnSpc>
                <a:spcPts val="928"/>
              </a:lnSpc>
              <a:buNone/>
            </a:pPr>
            <a:r>
              <a:rPr lang="en-US" sz="800" kern="0" spc="173" dirty="0">
                <a:solidFill>
                  <a:srgbClr val="F4F1DE">
                    <a:alpha val="55000"/>
                  </a:srgbClr>
                </a:solidFill>
                <a:latin typeface="Carlito" pitchFamily="34" charset="0"/>
                <a:ea typeface="Carlito" pitchFamily="34" charset="-122"/>
                <a:cs typeface="Carlito" pitchFamily="34" charset="-120"/>
              </a:rPr>
              <a:t>Player Profiles &amp; Fan Behavior</a:t>
            </a:r>
          </a:p>
        </p:txBody>
      </p:sp>
      <p:sp>
        <p:nvSpPr>
          <p:cNvPr id="6" name="Text 4"/>
          <p:cNvSpPr/>
          <p:nvPr/>
        </p:nvSpPr>
        <p:spPr>
          <a:xfrm>
            <a:off x="7760556" y="262533"/>
            <a:ext cx="1007852" cy="12323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Q1 · SECTION 01</a:t>
            </a:r>
            <a:endParaRPr lang="en-US" sz="800" dirty="0"/>
          </a:p>
        </p:txBody>
      </p:sp>
      <p:sp>
        <p:nvSpPr>
          <p:cNvPr id="10" name="Text 7"/>
          <p:cNvSpPr/>
          <p:nvPr/>
        </p:nvSpPr>
        <p:spPr>
          <a:xfrm>
            <a:off x="5457825" y="635794"/>
            <a:ext cx="3286125" cy="436876"/>
          </a:xfrm>
          <a:prstGeom prst="rect">
            <a:avLst/>
          </a:prstGeom>
          <a:noFill/>
          <a:ln/>
        </p:spPr>
        <p:txBody>
          <a:bodyPr wrap="square" lIns="0" tIns="0" rIns="0" bIns="0" rtlCol="0" anchor="t"/>
          <a:lstStyle/>
          <a:p>
            <a:pPr marL="0" indent="0" algn="l">
              <a:lnSpc>
                <a:spcPts val="1593"/>
              </a:lnSpc>
              <a:buNone/>
            </a:pPr>
            <a:r>
              <a:rPr lang="en-US" sz="1350" kern="0" spc="-7" dirty="0">
                <a:solidFill>
                  <a:srgbClr val="F4F1DE"/>
                </a:solidFill>
                <a:latin typeface="Tinos" pitchFamily="34" charset="0"/>
                <a:ea typeface="Tinos" pitchFamily="34" charset="-122"/>
                <a:cs typeface="Tinos" pitchFamily="34" charset="-120"/>
              </a:rPr>
              <a:t>How Many Unique Tennis Players Are in the Dataset?</a:t>
            </a:r>
            <a:endParaRPr lang="en-US" sz="1350" dirty="0"/>
          </a:p>
        </p:txBody>
      </p:sp>
      <p:sp>
        <p:nvSpPr>
          <p:cNvPr id="11" name="Text 8"/>
          <p:cNvSpPr/>
          <p:nvPr/>
        </p:nvSpPr>
        <p:spPr>
          <a:xfrm>
            <a:off x="5457825" y="1126034"/>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457825" y="1247477"/>
            <a:ext cx="3286125" cy="918250"/>
          </a:xfrm>
          <a:prstGeom prst="rect">
            <a:avLst/>
          </a:prstGeom>
          <a:noFill/>
          <a:ln/>
        </p:spPr>
        <p:txBody>
          <a:bodyPr wrap="square" lIns="0" tIns="0" rIns="0" bIns="0" rtlCol="0" anchor="t">
            <a:noAutofit/>
          </a:bodyPr>
          <a:lstStyle/>
          <a:p>
            <a:pPr marL="0" indent="0" algn="l">
              <a:lnSpc>
                <a:spcPts val="1177"/>
              </a:lnSpc>
              <a:buNone/>
            </a:pPr>
            <a:r>
              <a:rPr lang="en-US" sz="900" dirty="0">
                <a:solidFill>
                  <a:srgbClr val="F4F1DE">
                    <a:alpha val="92000"/>
                  </a:srgbClr>
                </a:solidFill>
                <a:latin typeface="Candara" panose="020E0502030303020204" pitchFamily="34" charset="0"/>
                <a:ea typeface="Carlito" pitchFamily="34" charset="-122"/>
                <a:cs typeface="Carlito" pitchFamily="34" charset="-120"/>
              </a:rPr>
              <a:t>2,644 unique players were identified from 24,079 home/away appearances across 16,873 matches — an average of ~9.1 matches per player. A side investigation into whether the 'home/away' label carries meaning found that 86.3% of players appeared on both sides, while 13.7% were consistently assigned to one side.</a:t>
            </a:r>
            <a:endParaRPr lang="en-US" sz="900" dirty="0">
              <a:latin typeface="Candara" panose="020E0502030303020204" pitchFamily="34" charset="0"/>
            </a:endParaRPr>
          </a:p>
        </p:txBody>
      </p:sp>
      <p:sp>
        <p:nvSpPr>
          <p:cNvPr id="13" name="Shape 10"/>
          <p:cNvSpPr/>
          <p:nvPr/>
        </p:nvSpPr>
        <p:spPr>
          <a:xfrm>
            <a:off x="5472805" y="2440760"/>
            <a:ext cx="0" cy="391790"/>
          </a:xfrm>
          <a:prstGeom prst="line">
            <a:avLst/>
          </a:prstGeom>
          <a:noFill/>
          <a:ln w="21431">
            <a:solidFill>
              <a:srgbClr val="FFF100"/>
            </a:solidFill>
            <a:prstDash val="solid"/>
          </a:ln>
        </p:spPr>
      </p:sp>
      <p:sp>
        <p:nvSpPr>
          <p:cNvPr id="14" name="Text 11"/>
          <p:cNvSpPr/>
          <p:nvPr/>
        </p:nvSpPr>
        <p:spPr>
          <a:xfrm>
            <a:off x="5564981" y="2461840"/>
            <a:ext cx="1485900" cy="258318"/>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2,644</a:t>
            </a:r>
            <a:endParaRPr lang="en-US" sz="1913" dirty="0"/>
          </a:p>
        </p:txBody>
      </p:sp>
      <p:sp>
        <p:nvSpPr>
          <p:cNvPr id="15" name="Text 12"/>
          <p:cNvSpPr/>
          <p:nvPr/>
        </p:nvSpPr>
        <p:spPr>
          <a:xfrm>
            <a:off x="5564981" y="2726510"/>
            <a:ext cx="1485900" cy="106040"/>
          </a:xfrm>
          <a:prstGeom prst="rect">
            <a:avLst/>
          </a:prstGeom>
          <a:noFill/>
          <a:ln/>
        </p:spPr>
        <p:txBody>
          <a:bodyPr wrap="none" lIns="0" tIns="0" rIns="0" bIns="0" rtlCol="0" anchor="t"/>
          <a:lstStyle/>
          <a:p>
            <a:pPr marL="0" indent="0" algn="l">
              <a:lnSpc>
                <a:spcPts val="835"/>
              </a:lnSpc>
              <a:buNone/>
            </a:pPr>
            <a:r>
              <a:rPr lang="en-US" sz="800" kern="0" spc="31" dirty="0">
                <a:solidFill>
                  <a:srgbClr val="F4F1DE">
                    <a:alpha val="70000"/>
                  </a:srgbClr>
                </a:solidFill>
                <a:latin typeface="Carlito" pitchFamily="34" charset="0"/>
                <a:ea typeface="Carlito" pitchFamily="34" charset="-122"/>
                <a:cs typeface="Carlito" pitchFamily="34" charset="-120"/>
              </a:rPr>
              <a:t>unique players</a:t>
            </a:r>
            <a:endParaRPr lang="en-US" sz="800" dirty="0"/>
          </a:p>
        </p:txBody>
      </p:sp>
      <p:sp>
        <p:nvSpPr>
          <p:cNvPr id="16" name="Shape 13"/>
          <p:cNvSpPr/>
          <p:nvPr/>
        </p:nvSpPr>
        <p:spPr>
          <a:xfrm>
            <a:off x="7161609" y="2447851"/>
            <a:ext cx="0" cy="391790"/>
          </a:xfrm>
          <a:prstGeom prst="line">
            <a:avLst/>
          </a:prstGeom>
          <a:noFill/>
          <a:ln w="21431">
            <a:solidFill>
              <a:srgbClr val="FFF100"/>
            </a:solidFill>
            <a:prstDash val="solid"/>
          </a:ln>
        </p:spPr>
        <p:txBody>
          <a:bodyPr/>
          <a:lstStyle/>
          <a:p>
            <a:endParaRPr lang="fa-IR" dirty="0"/>
          </a:p>
        </p:txBody>
      </p:sp>
      <p:sp>
        <p:nvSpPr>
          <p:cNvPr id="17" name="Text 14"/>
          <p:cNvSpPr/>
          <p:nvPr/>
        </p:nvSpPr>
        <p:spPr>
          <a:xfrm>
            <a:off x="7216182" y="2466914"/>
            <a:ext cx="1569636" cy="258318"/>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52 / 2,644</a:t>
            </a:r>
            <a:endParaRPr lang="en-US" sz="1913" dirty="0"/>
          </a:p>
        </p:txBody>
      </p:sp>
      <p:sp>
        <p:nvSpPr>
          <p:cNvPr id="18" name="Text 15"/>
          <p:cNvSpPr/>
          <p:nvPr/>
        </p:nvSpPr>
        <p:spPr>
          <a:xfrm>
            <a:off x="7249905" y="2726510"/>
            <a:ext cx="1604772" cy="106040"/>
          </a:xfrm>
          <a:prstGeom prst="rect">
            <a:avLst/>
          </a:prstGeom>
          <a:noFill/>
          <a:ln/>
        </p:spPr>
        <p:txBody>
          <a:bodyPr wrap="square" lIns="0" tIns="0" rIns="0" bIns="0" rtlCol="0" anchor="t"/>
          <a:lstStyle/>
          <a:p>
            <a:pPr marL="0" indent="0" algn="l">
              <a:lnSpc>
                <a:spcPts val="835"/>
              </a:lnSpc>
              <a:buNone/>
            </a:pPr>
            <a:r>
              <a:rPr lang="en-US" sz="619" kern="0" spc="31" dirty="0">
                <a:solidFill>
                  <a:srgbClr val="F4F1DE">
                    <a:alpha val="70000"/>
                  </a:srgbClr>
                </a:solidFill>
                <a:latin typeface="Liberation Sans Narrow" pitchFamily="34" charset="0"/>
                <a:ea typeface="Liberation Sans Narrow" pitchFamily="34" charset="-122"/>
                <a:cs typeface="Liberation Sans Narrow" pitchFamily="34" charset="-120"/>
              </a:rPr>
              <a:t>show systematic one-side bias (~2%)</a:t>
            </a:r>
            <a:endParaRPr lang="en-US" sz="619" dirty="0"/>
          </a:p>
        </p:txBody>
      </p:sp>
      <p:sp>
        <p:nvSpPr>
          <p:cNvPr id="19" name="Shape 16"/>
          <p:cNvSpPr/>
          <p:nvPr/>
        </p:nvSpPr>
        <p:spPr>
          <a:xfrm>
            <a:off x="5457825" y="4057650"/>
            <a:ext cx="3286125" cy="0"/>
          </a:xfrm>
          <a:prstGeom prst="line">
            <a:avLst/>
          </a:prstGeom>
          <a:noFill/>
          <a:ln w="7144">
            <a:solidFill>
              <a:srgbClr val="F4F1DE"/>
            </a:solidFill>
            <a:prstDash val="dash"/>
          </a:ln>
        </p:spPr>
      </p:sp>
      <p:sp>
        <p:nvSpPr>
          <p:cNvPr id="20" name="Text 17"/>
          <p:cNvSpPr/>
          <p:nvPr/>
        </p:nvSpPr>
        <p:spPr>
          <a:xfrm>
            <a:off x="5457825" y="4054078"/>
            <a:ext cx="3286125" cy="600075"/>
          </a:xfrm>
          <a:prstGeom prst="rect">
            <a:avLst/>
          </a:prstGeom>
          <a:noFill/>
          <a:ln/>
        </p:spPr>
        <p:txBody>
          <a:bodyPr wrap="square" lIns="0" tIns="100013" rIns="0" bIns="0" rtlCol="0" anchor="t"/>
          <a:lstStyle/>
          <a:p>
            <a:pPr marL="0" indent="0" algn="l">
              <a:lnSpc>
                <a:spcPts val="928"/>
              </a:lnSpc>
              <a:buNone/>
            </a:pPr>
            <a:r>
              <a:rPr lang="en-US" sz="800" kern="0" spc="101" dirty="0">
                <a:solidFill>
                  <a:srgbClr val="FFF100">
                    <a:alpha val="55000"/>
                  </a:srgbClr>
                </a:solidFill>
                <a:latin typeface="Carlito" pitchFamily="34" charset="0"/>
                <a:ea typeface="Carlito" pitchFamily="34" charset="-122"/>
                <a:cs typeface="Carlito" pitchFamily="34" charset="-120"/>
              </a:rPr>
              <a:t>METHODOLOGY: Row-level</a:t>
            </a:r>
            <a:r>
              <a:rPr lang="en-US" sz="800" dirty="0">
                <a:solidFill>
                  <a:srgbClr val="F4F1DE">
                    <a:alpha val="55000"/>
                  </a:srgbClr>
                </a:solidFill>
                <a:latin typeface="Dubai Light" panose="020B0303030403030204" pitchFamily="34" charset="-78"/>
                <a:ea typeface="Carlito" pitchFamily="34" charset="-122"/>
                <a:cs typeface="Dubai Light" panose="020B0303030403030204" pitchFamily="34" charset="-78"/>
              </a:rPr>
              <a:t>: 51.5% home vs. 48.5% away — no raw bias. The 52 players with ≥5 appearances always on one side are statistically significant, suggesting a source-data labeling rule (e.g., seeding), not an error.</a:t>
            </a:r>
            <a:endParaRPr lang="en-US" sz="800" dirty="0">
              <a:latin typeface="Dubai Light" panose="020B0303030403030204" pitchFamily="34" charset="-78"/>
              <a:cs typeface="Dubai Light" panose="020B0303030403030204" pitchFamily="34" charset="-78"/>
            </a:endParaRPr>
          </a:p>
        </p:txBody>
      </p:sp>
      <p:sp>
        <p:nvSpPr>
          <p:cNvPr id="21" name="Shape 18"/>
          <p:cNvSpPr/>
          <p:nvPr/>
        </p:nvSpPr>
        <p:spPr>
          <a:xfrm>
            <a:off x="400050" y="4618434"/>
            <a:ext cx="8343900" cy="0"/>
          </a:xfrm>
          <a:prstGeom prst="line">
            <a:avLst/>
          </a:prstGeom>
          <a:noFill/>
          <a:ln w="7144">
            <a:solidFill>
              <a:srgbClr val="F4F1DE"/>
            </a:solidFill>
            <a:prstDash val="solid"/>
          </a:ln>
        </p:spPr>
      </p:sp>
      <p:sp>
        <p:nvSpPr>
          <p:cNvPr id="22" name="Text 19"/>
          <p:cNvSpPr/>
          <p:nvPr/>
        </p:nvSpPr>
        <p:spPr>
          <a:xfrm>
            <a:off x="400050" y="4693444"/>
            <a:ext cx="7680313" cy="107156"/>
          </a:xfrm>
          <a:prstGeom prst="rect">
            <a:avLst/>
          </a:prstGeom>
          <a:noFill/>
          <a:ln/>
        </p:spPr>
        <p:txBody>
          <a:bodyPr wrap="square" lIns="0" tIns="0" rIns="0" bIns="0" rtlCol="0" anchor="t"/>
          <a:lstStyle/>
          <a:p>
            <a:pPr marL="0" indent="0" algn="l">
              <a:lnSpc>
                <a:spcPts val="844"/>
              </a:lnSpc>
              <a:buNone/>
            </a:pPr>
            <a:r>
              <a:rPr lang="en-US" sz="800" kern="0" spc="124" dirty="0">
                <a:solidFill>
                  <a:srgbClr val="F4F1DE">
                    <a:alpha val="45000"/>
                  </a:srgbClr>
                </a:solidFill>
                <a:latin typeface="Carlito" pitchFamily="34" charset="0"/>
                <a:ea typeface="Carlito" pitchFamily="34" charset="-122"/>
                <a:cs typeface="Carlito" pitchFamily="34" charset="-120"/>
              </a:rPr>
              <a:t>PRESENTED BY MEHRNOOSH YAGHUBI</a:t>
            </a:r>
            <a:endParaRPr lang="en-US" sz="800" dirty="0"/>
          </a:p>
        </p:txBody>
      </p:sp>
      <p:sp>
        <p:nvSpPr>
          <p:cNvPr id="23" name="Text 20"/>
          <p:cNvSpPr/>
          <p:nvPr/>
        </p:nvSpPr>
        <p:spPr>
          <a:xfrm>
            <a:off x="8094650" y="4693444"/>
            <a:ext cx="649300" cy="107156"/>
          </a:xfrm>
          <a:prstGeom prst="rect">
            <a:avLst/>
          </a:prstGeom>
          <a:noFill/>
          <a:ln/>
        </p:spPr>
        <p:txBody>
          <a:bodyPr wrap="none" lIns="0" tIns="0" rIns="0" bIns="0" rtlCol="0" anchor="t"/>
          <a:lstStyle/>
          <a:p>
            <a:pPr marL="0" indent="0" algn="l">
              <a:lnSpc>
                <a:spcPts val="844"/>
              </a:lnSpc>
              <a:buNone/>
            </a:pPr>
            <a:r>
              <a:rPr lang="en-US" sz="600" kern="0" spc="124" dirty="0">
                <a:solidFill>
                  <a:srgbClr val="F4F1DE">
                    <a:alpha val="45000"/>
                  </a:srgbClr>
                </a:solidFill>
                <a:latin typeface="Carlito" pitchFamily="34" charset="0"/>
                <a:ea typeface="Carlito" pitchFamily="34" charset="-122"/>
                <a:cs typeface="Carlito" pitchFamily="34" charset="-120"/>
              </a:rPr>
              <a:t>SLIDE </a:t>
            </a:r>
            <a:r>
              <a:rPr lang="en-US" sz="600" kern="0" spc="124" dirty="0">
                <a:solidFill>
                  <a:srgbClr val="FFF100">
                    <a:alpha val="45000"/>
                  </a:srgbClr>
                </a:solidFill>
                <a:latin typeface="Liberation Sans Narrow" pitchFamily="34" charset="0"/>
                <a:ea typeface="Liberation Sans Narrow" pitchFamily="34" charset="-122"/>
                <a:cs typeface="Liberation Sans Narrow" pitchFamily="34" charset="-120"/>
              </a:rPr>
              <a:t>03</a:t>
            </a:r>
            <a:r>
              <a:rPr lang="en-US" sz="600" kern="0" spc="124" dirty="0">
                <a:solidFill>
                  <a:srgbClr val="F4F1DE">
                    <a:alpha val="45000"/>
                  </a:srgbClr>
                </a:solidFill>
                <a:latin typeface="Liberation Sans Narrow" pitchFamily="34" charset="0"/>
                <a:ea typeface="Liberation Sans Narrow" pitchFamily="34" charset="-122"/>
                <a:cs typeface="Liberation Sans Narrow" pitchFamily="34" charset="-120"/>
              </a:rPr>
              <a:t> /30</a:t>
            </a:r>
            <a:endParaRPr lang="en-US" sz="600" dirty="0"/>
          </a:p>
        </p:txBody>
      </p:sp>
      <p:sp>
        <p:nvSpPr>
          <p:cNvPr id="29" name="Text 5">
            <a:extLst>
              <a:ext uri="{FF2B5EF4-FFF2-40B4-BE49-F238E27FC236}">
                <a16:creationId xmlns:a16="http://schemas.microsoft.com/office/drawing/2014/main" id="{6BB9CE54-CEAE-3AAE-EF88-EDB854E90536}"/>
              </a:ext>
            </a:extLst>
          </p:cNvPr>
          <p:cNvSpPr/>
          <p:nvPr/>
        </p:nvSpPr>
        <p:spPr>
          <a:xfrm>
            <a:off x="400050" y="621534"/>
            <a:ext cx="4857750" cy="3879056"/>
          </a:xfrm>
          <a:prstGeom prst="roundRect">
            <a:avLst>
              <a:gd name="adj" fmla="val 1964"/>
            </a:avLst>
          </a:prstGeom>
          <a:solidFill>
            <a:srgbClr val="FFFFFF"/>
          </a:solidFill>
          <a:ln/>
          <a:effectLst>
            <a:outerShdw blurRad="342900" dist="114300" dir="5400000" algn="bl" rotWithShape="0">
              <a:srgbClr val="000000">
                <a:alpha val="32000"/>
              </a:srgbClr>
            </a:outerShdw>
          </a:effectLst>
        </p:spPr>
        <p:txBody>
          <a:bodyPr wrap="square" rtlCol="0" anchor="ctr"/>
          <a:lstStyle/>
          <a:p>
            <a:pPr marL="0" indent="0">
              <a:buNone/>
            </a:pPr>
            <a:endParaRPr lang="en-US" dirty="0"/>
          </a:p>
        </p:txBody>
      </p:sp>
      <p:pic>
        <p:nvPicPr>
          <p:cNvPr id="27" name="Picture 26">
            <a:extLst>
              <a:ext uri="{FF2B5EF4-FFF2-40B4-BE49-F238E27FC236}">
                <a16:creationId xmlns:a16="http://schemas.microsoft.com/office/drawing/2014/main" id="{DF19E909-DB38-9BAC-DA2D-A4A1DB48939E}"/>
              </a:ext>
            </a:extLst>
          </p:cNvPr>
          <p:cNvPicPr>
            <a:picLocks noChangeAspect="1"/>
          </p:cNvPicPr>
          <p:nvPr/>
        </p:nvPicPr>
        <p:blipFill>
          <a:blip r:embed="rId3"/>
          <a:stretch>
            <a:fillRect/>
          </a:stretch>
        </p:blipFill>
        <p:spPr>
          <a:xfrm>
            <a:off x="865200" y="837128"/>
            <a:ext cx="3927450" cy="3625338"/>
          </a:xfrm>
          <a:prstGeom prst="rect">
            <a:avLst/>
          </a:prstGeom>
        </p:spPr>
      </p:pic>
      <p:sp>
        <p:nvSpPr>
          <p:cNvPr id="8" name="Text 6"/>
          <p:cNvSpPr/>
          <p:nvPr/>
        </p:nvSpPr>
        <p:spPr>
          <a:xfrm>
            <a:off x="528638" y="707231"/>
            <a:ext cx="4600575"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9CA3A2"/>
                </a:solidFill>
                <a:latin typeface="Liberation Sans Narrow" pitchFamily="34" charset="0"/>
                <a:ea typeface="Liberation Sans Narrow" pitchFamily="34" charset="-122"/>
                <a:cs typeface="Liberation Sans Narrow" pitchFamily="34" charset="-120"/>
              </a:rPr>
              <a:t>FIG. 1 · HOME/AWAY DISTRIBUTION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4332"/>
          </a:solidFill>
          <a:ln/>
        </p:spPr>
        <p:txBody>
          <a:bodyPr wrap="square" rtlCol="0" anchor="ctr"/>
          <a:lstStyle/>
          <a:p>
            <a:pPr marL="0" indent="0">
              <a:buNone/>
            </a:pPr>
            <a:endParaRPr lang="en-US" dirty="0"/>
          </a:p>
        </p:txBody>
      </p:sp>
      <p:sp>
        <p:nvSpPr>
          <p:cNvPr id="3" name="Shape 1"/>
          <p:cNvSpPr/>
          <p:nvPr/>
        </p:nvSpPr>
        <p:spPr>
          <a:xfrm>
            <a:off x="400050" y="489347"/>
            <a:ext cx="8343900" cy="0"/>
          </a:xfrm>
          <a:prstGeom prst="line">
            <a:avLst/>
          </a:prstGeom>
          <a:noFill/>
          <a:ln w="7144">
            <a:solidFill>
              <a:srgbClr val="F4F1DE"/>
            </a:solidFill>
            <a:prstDash val="solid"/>
          </a:ln>
        </p:spPr>
      </p:sp>
      <p:sp>
        <p:nvSpPr>
          <p:cNvPr id="4" name="Text 2"/>
          <p:cNvSpPr/>
          <p:nvPr/>
        </p:nvSpPr>
        <p:spPr>
          <a:xfrm>
            <a:off x="400050" y="257175"/>
            <a:ext cx="128588" cy="128588"/>
          </a:xfrm>
          <a:prstGeom prst="rect">
            <a:avLst/>
          </a:prstGeom>
          <a:noFill/>
          <a:ln/>
        </p:spPr>
        <p:txBody>
          <a:bodyPr wrap="none" lIns="0" tIns="0" rIns="0" bIns="0" rtlCol="0" anchor="ctr"/>
          <a:lstStyle/>
          <a:p>
            <a:pPr marL="0" indent="0" algn="ctr">
              <a:buNone/>
            </a:pPr>
            <a:r>
              <a:rPr lang="en-US" sz="1266" dirty="0">
                <a:solidFill>
                  <a:srgbClr val="FFF100"/>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600075" y="262533"/>
            <a:ext cx="2612295" cy="123230"/>
          </a:xfrm>
          <a:prstGeom prst="rect">
            <a:avLst/>
          </a:prstGeom>
          <a:noFill/>
          <a:ln/>
        </p:spPr>
        <p:txBody>
          <a:bodyPr wrap="square" lIns="0" tIns="0" rIns="0" bIns="0" rtlCol="0" anchor="t"/>
          <a:lstStyle/>
          <a:p>
            <a:pPr marL="0" indent="0" algn="l">
              <a:lnSpc>
                <a:spcPts val="928"/>
              </a:lnSpc>
              <a:buNone/>
            </a:pPr>
            <a:r>
              <a:rPr lang="en-US" sz="800" kern="0" spc="173" dirty="0">
                <a:solidFill>
                  <a:srgbClr val="F4F1DE">
                    <a:alpha val="55000"/>
                  </a:srgbClr>
                </a:solidFill>
                <a:latin typeface="Carlito" pitchFamily="34" charset="0"/>
                <a:ea typeface="Carlito" pitchFamily="34" charset="-122"/>
                <a:cs typeface="Carlito" pitchFamily="34" charset="-120"/>
              </a:rPr>
              <a:t>Player Profiles &amp; Fan Behavior</a:t>
            </a:r>
          </a:p>
        </p:txBody>
      </p:sp>
      <p:sp>
        <p:nvSpPr>
          <p:cNvPr id="6" name="Text 4"/>
          <p:cNvSpPr/>
          <p:nvPr/>
        </p:nvSpPr>
        <p:spPr>
          <a:xfrm>
            <a:off x="7760556" y="262533"/>
            <a:ext cx="1007852" cy="12323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Q2 · SECTION 01</a:t>
            </a:r>
            <a:endParaRPr lang="en-US" sz="800" dirty="0"/>
          </a:p>
        </p:txBody>
      </p:sp>
      <p:sp>
        <p:nvSpPr>
          <p:cNvPr id="7" name="Text 5"/>
          <p:cNvSpPr/>
          <p:nvPr/>
        </p:nvSpPr>
        <p:spPr>
          <a:xfrm>
            <a:off x="394692" y="635794"/>
            <a:ext cx="4857750" cy="3879056"/>
          </a:xfrm>
          <a:prstGeom prst="roundRect">
            <a:avLst>
              <a:gd name="adj" fmla="val 1964"/>
            </a:avLst>
          </a:prstGeom>
          <a:solidFill>
            <a:srgbClr val="FFFFFF"/>
          </a:solidFill>
          <a:ln/>
          <a:effectLst>
            <a:outerShdw blurRad="342900" dist="114300" dir="5400000" algn="bl" rotWithShape="0">
              <a:srgbClr val="000000">
                <a:alpha val="32000"/>
              </a:srgbClr>
            </a:outerShdw>
          </a:effectLst>
        </p:spPr>
        <p:txBody>
          <a:bodyPr wrap="square" rtlCol="0" anchor="ctr"/>
          <a:lstStyle/>
          <a:p>
            <a:pPr marL="0" indent="0">
              <a:buNone/>
            </a:pPr>
            <a:endParaRPr lang="en-US" dirty="0"/>
          </a:p>
        </p:txBody>
      </p:sp>
      <p:sp>
        <p:nvSpPr>
          <p:cNvPr id="8" name="Text 6"/>
          <p:cNvSpPr/>
          <p:nvPr/>
        </p:nvSpPr>
        <p:spPr>
          <a:xfrm>
            <a:off x="528638" y="707231"/>
            <a:ext cx="4600575"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9CA3A2"/>
                </a:solidFill>
                <a:latin typeface="Liberation Sans Narrow" pitchFamily="34" charset="0"/>
                <a:ea typeface="Liberation Sans Narrow" pitchFamily="34" charset="-122"/>
                <a:cs typeface="Liberation Sans Narrow" pitchFamily="34" charset="-120"/>
              </a:rPr>
              <a:t>FIG. 2 · Distribution of Player Heights</a:t>
            </a:r>
            <a:endParaRPr lang="en-US" sz="800" dirty="0"/>
          </a:p>
        </p:txBody>
      </p:sp>
      <p:sp>
        <p:nvSpPr>
          <p:cNvPr id="10" name="Text 7"/>
          <p:cNvSpPr/>
          <p:nvPr/>
        </p:nvSpPr>
        <p:spPr>
          <a:xfrm>
            <a:off x="5457825" y="635794"/>
            <a:ext cx="3395853" cy="218438"/>
          </a:xfrm>
          <a:prstGeom prst="rect">
            <a:avLst/>
          </a:prstGeom>
          <a:noFill/>
          <a:ln/>
        </p:spPr>
        <p:txBody>
          <a:bodyPr wrap="square" lIns="0" tIns="0" rIns="0" bIns="0" rtlCol="0" anchor="t"/>
          <a:lstStyle/>
          <a:p>
            <a:pPr marL="0" indent="0" algn="l">
              <a:lnSpc>
                <a:spcPts val="1593"/>
              </a:lnSpc>
              <a:buNone/>
            </a:pPr>
            <a:r>
              <a:rPr lang="en-US" sz="1350" kern="0" spc="-7" dirty="0">
                <a:solidFill>
                  <a:srgbClr val="F4F1DE"/>
                </a:solidFill>
                <a:latin typeface="Tinos" pitchFamily="34" charset="0"/>
                <a:ea typeface="Tinos" pitchFamily="34" charset="-122"/>
                <a:cs typeface="Tinos" pitchFamily="34" charset="-120"/>
              </a:rPr>
              <a:t>What Is the Average Height of the Players?</a:t>
            </a:r>
            <a:endParaRPr lang="en-US" sz="1350" dirty="0"/>
          </a:p>
        </p:txBody>
      </p:sp>
      <p:sp>
        <p:nvSpPr>
          <p:cNvPr id="11" name="Text 8"/>
          <p:cNvSpPr/>
          <p:nvPr/>
        </p:nvSpPr>
        <p:spPr>
          <a:xfrm>
            <a:off x="5457825" y="923776"/>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457825" y="1045220"/>
            <a:ext cx="3286125" cy="983632"/>
          </a:xfrm>
          <a:prstGeom prst="rect">
            <a:avLst/>
          </a:prstGeom>
          <a:noFill/>
          <a:ln/>
        </p:spPr>
        <p:txBody>
          <a:bodyPr wrap="square" lIns="0" tIns="0" rIns="0" bIns="0" rtlCol="0" anchor="t">
            <a:normAutofit/>
          </a:bodyPr>
          <a:lstStyle/>
          <a:p>
            <a:r>
              <a:rPr lang="en-US" sz="900" dirty="0">
                <a:solidFill>
                  <a:schemeClr val="bg1"/>
                </a:solidFill>
                <a:latin typeface="Candara" panose="020E0502030303020204" pitchFamily="34" charset="0"/>
              </a:rPr>
              <a:t>The overall mean player height is 1.82 m. The distribution is broad, reflecting the mixed-gender composition of the dataset. The wide spread indicates that male and female players contribute distinct height ranges, pulling the combined distribution across a large interval around the mean.</a:t>
            </a:r>
          </a:p>
        </p:txBody>
      </p:sp>
      <p:sp>
        <p:nvSpPr>
          <p:cNvPr id="13" name="Shape 10"/>
          <p:cNvSpPr/>
          <p:nvPr/>
        </p:nvSpPr>
        <p:spPr>
          <a:xfrm>
            <a:off x="5468541" y="2056284"/>
            <a:ext cx="0" cy="391790"/>
          </a:xfrm>
          <a:prstGeom prst="line">
            <a:avLst/>
          </a:prstGeom>
          <a:noFill/>
          <a:ln w="21431">
            <a:solidFill>
              <a:srgbClr val="FFF100"/>
            </a:solidFill>
            <a:prstDash val="solid"/>
          </a:ln>
        </p:spPr>
      </p:sp>
      <p:sp>
        <p:nvSpPr>
          <p:cNvPr id="14" name="Text 11"/>
          <p:cNvSpPr/>
          <p:nvPr/>
        </p:nvSpPr>
        <p:spPr>
          <a:xfrm>
            <a:off x="5564981" y="2056284"/>
            <a:ext cx="1485900" cy="258318"/>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1.843 m</a:t>
            </a:r>
            <a:endParaRPr lang="en-US" sz="1913" dirty="0"/>
          </a:p>
        </p:txBody>
      </p:sp>
      <p:sp>
        <p:nvSpPr>
          <p:cNvPr id="19" name="Shape 16"/>
          <p:cNvSpPr/>
          <p:nvPr/>
        </p:nvSpPr>
        <p:spPr>
          <a:xfrm>
            <a:off x="5457825" y="4057650"/>
            <a:ext cx="3286125" cy="0"/>
          </a:xfrm>
          <a:prstGeom prst="line">
            <a:avLst/>
          </a:prstGeom>
          <a:noFill/>
          <a:ln w="7144">
            <a:solidFill>
              <a:srgbClr val="F4F1DE"/>
            </a:solidFill>
            <a:prstDash val="dash"/>
          </a:ln>
        </p:spPr>
      </p:sp>
      <p:sp>
        <p:nvSpPr>
          <p:cNvPr id="20" name="Text 17"/>
          <p:cNvSpPr/>
          <p:nvPr/>
        </p:nvSpPr>
        <p:spPr>
          <a:xfrm>
            <a:off x="5457825" y="4054079"/>
            <a:ext cx="3286125" cy="460772"/>
          </a:xfrm>
          <a:prstGeom prst="rect">
            <a:avLst/>
          </a:prstGeom>
          <a:noFill/>
          <a:ln/>
        </p:spPr>
        <p:txBody>
          <a:bodyPr wrap="square" lIns="0" tIns="100013" rIns="0" bIns="0" rtlCol="0" anchor="t"/>
          <a:lstStyle/>
          <a:p>
            <a:pPr marL="0" indent="0" algn="l">
              <a:lnSpc>
                <a:spcPts val="928"/>
              </a:lnSpc>
              <a:buNone/>
            </a:pPr>
            <a:r>
              <a:rPr lang="en-US" sz="800" kern="0" spc="101" dirty="0">
                <a:solidFill>
                  <a:srgbClr val="FFF100">
                    <a:alpha val="55000"/>
                  </a:srgbClr>
                </a:solidFill>
                <a:latin typeface="Carlito" pitchFamily="34" charset="0"/>
                <a:ea typeface="Carlito" pitchFamily="34" charset="-122"/>
                <a:cs typeface="Carlito" pitchFamily="34" charset="-120"/>
              </a:rPr>
              <a:t>METHODOLOGY</a:t>
            </a:r>
            <a:r>
              <a:rPr lang="en-US" sz="800" dirty="0">
                <a:solidFill>
                  <a:srgbClr val="F4F1DE">
                    <a:alpha val="55000"/>
                  </a:srgbClr>
                </a:solidFill>
                <a:latin typeface="Dubai Light" panose="020B0303030403030204" pitchFamily="34" charset="-78"/>
                <a:ea typeface="Carlito" pitchFamily="34" charset="-122"/>
                <a:cs typeface="Dubai Light" panose="020B0303030403030204" pitchFamily="34" charset="-78"/>
              </a:rPr>
              <a:t>: Reporting a single overall average without noting the gender imbalance would be misleading.</a:t>
            </a:r>
            <a:endParaRPr lang="en-US" sz="800" dirty="0">
              <a:latin typeface="Dubai Light" panose="020B0303030403030204" pitchFamily="34" charset="-78"/>
              <a:cs typeface="Dubai Light" panose="020B0303030403030204" pitchFamily="34" charset="-78"/>
            </a:endParaRPr>
          </a:p>
        </p:txBody>
      </p:sp>
      <p:sp>
        <p:nvSpPr>
          <p:cNvPr id="21" name="Shape 18"/>
          <p:cNvSpPr/>
          <p:nvPr/>
        </p:nvSpPr>
        <p:spPr>
          <a:xfrm>
            <a:off x="400050" y="4618434"/>
            <a:ext cx="8343900" cy="0"/>
          </a:xfrm>
          <a:prstGeom prst="line">
            <a:avLst/>
          </a:prstGeom>
          <a:noFill/>
          <a:ln w="7144">
            <a:solidFill>
              <a:srgbClr val="F4F1DE"/>
            </a:solidFill>
            <a:prstDash val="solid"/>
          </a:ln>
        </p:spPr>
      </p:sp>
      <p:sp>
        <p:nvSpPr>
          <p:cNvPr id="22" name="Text 19"/>
          <p:cNvSpPr/>
          <p:nvPr/>
        </p:nvSpPr>
        <p:spPr>
          <a:xfrm>
            <a:off x="414337" y="4693444"/>
            <a:ext cx="7680313" cy="107156"/>
          </a:xfrm>
          <a:prstGeom prst="rect">
            <a:avLst/>
          </a:prstGeom>
          <a:noFill/>
          <a:ln/>
        </p:spPr>
        <p:txBody>
          <a:bodyPr wrap="square" lIns="0" tIns="0" rIns="0" bIns="0" rtlCol="0" anchor="t"/>
          <a:lstStyle/>
          <a:p>
            <a:pPr>
              <a:lnSpc>
                <a:spcPts val="844"/>
              </a:lnSpc>
            </a:pPr>
            <a:r>
              <a:rPr lang="en-US" sz="800" kern="0" spc="124" dirty="0">
                <a:solidFill>
                  <a:srgbClr val="F4F1DE">
                    <a:alpha val="45000"/>
                  </a:srgbClr>
                </a:solidFill>
                <a:latin typeface="Carlito" pitchFamily="34" charset="0"/>
                <a:ea typeface="Carlito" pitchFamily="34" charset="-122"/>
                <a:cs typeface="Carlito" pitchFamily="34" charset="-120"/>
              </a:rPr>
              <a:t>PRESENTED BY MEHRNOOSH YAGHUBI</a:t>
            </a:r>
            <a:endParaRPr lang="en-US" sz="800" dirty="0"/>
          </a:p>
        </p:txBody>
      </p:sp>
      <p:sp>
        <p:nvSpPr>
          <p:cNvPr id="23" name="Text 20"/>
          <p:cNvSpPr/>
          <p:nvPr/>
        </p:nvSpPr>
        <p:spPr>
          <a:xfrm>
            <a:off x="8094650" y="4693444"/>
            <a:ext cx="649300" cy="107156"/>
          </a:xfrm>
          <a:prstGeom prst="rect">
            <a:avLst/>
          </a:prstGeom>
          <a:noFill/>
          <a:ln/>
        </p:spPr>
        <p:txBody>
          <a:bodyPr wrap="none" lIns="0" tIns="0" rIns="0" bIns="0" rtlCol="0" anchor="t"/>
          <a:lstStyle/>
          <a:p>
            <a:pPr marL="0" indent="0" algn="l">
              <a:lnSpc>
                <a:spcPts val="844"/>
              </a:lnSpc>
              <a:buNone/>
            </a:pPr>
            <a:r>
              <a:rPr lang="en-US" sz="600" kern="0" spc="124" dirty="0">
                <a:solidFill>
                  <a:srgbClr val="F4F1DE">
                    <a:alpha val="45000"/>
                  </a:srgbClr>
                </a:solidFill>
                <a:latin typeface="Carlito" pitchFamily="34" charset="0"/>
                <a:ea typeface="Carlito" pitchFamily="34" charset="-122"/>
                <a:cs typeface="Carlito" pitchFamily="34" charset="-120"/>
              </a:rPr>
              <a:t>SLIDE </a:t>
            </a:r>
            <a:r>
              <a:rPr lang="en-US" sz="600" kern="0" spc="124" dirty="0">
                <a:solidFill>
                  <a:srgbClr val="FFF100">
                    <a:alpha val="45000"/>
                  </a:srgbClr>
                </a:solidFill>
                <a:latin typeface="Liberation Sans Narrow" pitchFamily="34" charset="0"/>
                <a:ea typeface="Liberation Sans Narrow" pitchFamily="34" charset="-122"/>
                <a:cs typeface="Liberation Sans Narrow" pitchFamily="34" charset="-120"/>
              </a:rPr>
              <a:t>04</a:t>
            </a:r>
            <a:r>
              <a:rPr lang="en-US" sz="600" kern="0" spc="124" dirty="0">
                <a:solidFill>
                  <a:srgbClr val="F4F1DE">
                    <a:alpha val="45000"/>
                  </a:srgbClr>
                </a:solidFill>
                <a:latin typeface="Liberation Sans Narrow" pitchFamily="34" charset="0"/>
                <a:ea typeface="Liberation Sans Narrow" pitchFamily="34" charset="-122"/>
                <a:cs typeface="Liberation Sans Narrow" pitchFamily="34" charset="-120"/>
              </a:rPr>
              <a:t> / 30</a:t>
            </a:r>
            <a:endParaRPr lang="en-US" sz="600" dirty="0"/>
          </a:p>
        </p:txBody>
      </p:sp>
      <p:pic>
        <p:nvPicPr>
          <p:cNvPr id="27" name="Picture 26">
            <a:extLst>
              <a:ext uri="{FF2B5EF4-FFF2-40B4-BE49-F238E27FC236}">
                <a16:creationId xmlns:a16="http://schemas.microsoft.com/office/drawing/2014/main" id="{C10F8F22-6426-577D-7B29-6D19B8236804}"/>
              </a:ext>
            </a:extLst>
          </p:cNvPr>
          <p:cNvPicPr>
            <a:picLocks noChangeAspect="1"/>
          </p:cNvPicPr>
          <p:nvPr/>
        </p:nvPicPr>
        <p:blipFill>
          <a:blip r:embed="rId3"/>
          <a:stretch>
            <a:fillRect/>
          </a:stretch>
        </p:blipFill>
        <p:spPr>
          <a:xfrm>
            <a:off x="590857" y="1262254"/>
            <a:ext cx="4466918" cy="27918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352A"/>
        </a:solidFill>
        <a:effectLst/>
      </p:bgPr>
    </p:bg>
    <p:spTree>
      <p:nvGrpSpPr>
        <p:cNvPr id="1" name="">
          <a:extLst>
            <a:ext uri="{FF2B5EF4-FFF2-40B4-BE49-F238E27FC236}">
              <a16:creationId xmlns:a16="http://schemas.microsoft.com/office/drawing/2014/main" id="{DACDDB45-5008-72B3-B3BF-680EE918B2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5B37915-ADD0-C25E-AF07-95765860594B}"/>
              </a:ext>
            </a:extLst>
          </p:cNvPr>
          <p:cNvSpPr/>
          <p:nvPr/>
        </p:nvSpPr>
        <p:spPr>
          <a:xfrm>
            <a:off x="0" y="0"/>
            <a:ext cx="9144000" cy="5143500"/>
          </a:xfrm>
          <a:prstGeom prst="rect">
            <a:avLst/>
          </a:prstGeom>
          <a:solidFill>
            <a:srgbClr val="1B4332"/>
          </a:solidFill>
          <a:ln/>
        </p:spPr>
        <p:txBody>
          <a:bodyPr wrap="square" rtlCol="0" anchor="ctr"/>
          <a:lstStyle/>
          <a:p>
            <a:pPr marL="0" indent="0">
              <a:buNone/>
            </a:pPr>
            <a:endParaRPr lang="en-US" dirty="0"/>
          </a:p>
        </p:txBody>
      </p:sp>
      <p:sp>
        <p:nvSpPr>
          <p:cNvPr id="3" name="Shape 1">
            <a:extLst>
              <a:ext uri="{FF2B5EF4-FFF2-40B4-BE49-F238E27FC236}">
                <a16:creationId xmlns:a16="http://schemas.microsoft.com/office/drawing/2014/main" id="{27D5EB88-14D5-515D-2E5A-F731114141C3}"/>
              </a:ext>
            </a:extLst>
          </p:cNvPr>
          <p:cNvSpPr/>
          <p:nvPr/>
        </p:nvSpPr>
        <p:spPr>
          <a:xfrm>
            <a:off x="400050" y="489347"/>
            <a:ext cx="8343900" cy="0"/>
          </a:xfrm>
          <a:prstGeom prst="line">
            <a:avLst/>
          </a:prstGeom>
          <a:noFill/>
          <a:ln w="7144">
            <a:solidFill>
              <a:srgbClr val="F4F1DE"/>
            </a:solidFill>
            <a:prstDash val="solid"/>
          </a:ln>
        </p:spPr>
      </p:sp>
      <p:sp>
        <p:nvSpPr>
          <p:cNvPr id="4" name="Text 2">
            <a:extLst>
              <a:ext uri="{FF2B5EF4-FFF2-40B4-BE49-F238E27FC236}">
                <a16:creationId xmlns:a16="http://schemas.microsoft.com/office/drawing/2014/main" id="{E90B62FF-F06B-9C91-D6F5-88E9408C71C8}"/>
              </a:ext>
            </a:extLst>
          </p:cNvPr>
          <p:cNvSpPr/>
          <p:nvPr/>
        </p:nvSpPr>
        <p:spPr>
          <a:xfrm>
            <a:off x="400050" y="257175"/>
            <a:ext cx="128588" cy="128588"/>
          </a:xfrm>
          <a:prstGeom prst="rect">
            <a:avLst/>
          </a:prstGeom>
          <a:noFill/>
          <a:ln/>
        </p:spPr>
        <p:txBody>
          <a:bodyPr wrap="none" lIns="0" tIns="0" rIns="0" bIns="0" rtlCol="0" anchor="ctr"/>
          <a:lstStyle/>
          <a:p>
            <a:pPr marL="0" indent="0" algn="ctr">
              <a:buNone/>
            </a:pPr>
            <a:r>
              <a:rPr lang="en-US" sz="1266" dirty="0">
                <a:solidFill>
                  <a:srgbClr val="FFF100"/>
                </a:solidFill>
                <a:latin typeface="Segoe UI Symbol" pitchFamily="34" charset="0"/>
                <a:ea typeface="Segoe UI Symbol" pitchFamily="34" charset="-122"/>
                <a:cs typeface="Segoe UI Symbol" pitchFamily="34" charset="-120"/>
              </a:rPr>
              <a:t>✦</a:t>
            </a:r>
            <a:endParaRPr lang="en-US" sz="1266" dirty="0"/>
          </a:p>
        </p:txBody>
      </p:sp>
      <p:sp>
        <p:nvSpPr>
          <p:cNvPr id="5" name="Text 3">
            <a:extLst>
              <a:ext uri="{FF2B5EF4-FFF2-40B4-BE49-F238E27FC236}">
                <a16:creationId xmlns:a16="http://schemas.microsoft.com/office/drawing/2014/main" id="{3C91BB72-154A-6CD3-5C56-CE7B47333F8B}"/>
              </a:ext>
            </a:extLst>
          </p:cNvPr>
          <p:cNvSpPr/>
          <p:nvPr/>
        </p:nvSpPr>
        <p:spPr>
          <a:xfrm>
            <a:off x="600075" y="262533"/>
            <a:ext cx="2612295" cy="123230"/>
          </a:xfrm>
          <a:prstGeom prst="rect">
            <a:avLst/>
          </a:prstGeom>
          <a:noFill/>
          <a:ln/>
        </p:spPr>
        <p:txBody>
          <a:bodyPr wrap="square" lIns="0" tIns="0" rIns="0" bIns="0" rtlCol="0" anchor="t"/>
          <a:lstStyle/>
          <a:p>
            <a:pPr marL="0" indent="0" algn="l">
              <a:lnSpc>
                <a:spcPts val="928"/>
              </a:lnSpc>
              <a:buNone/>
            </a:pPr>
            <a:r>
              <a:rPr lang="en-US" sz="800" kern="0" spc="173" dirty="0">
                <a:solidFill>
                  <a:srgbClr val="F4F1DE">
                    <a:alpha val="55000"/>
                  </a:srgbClr>
                </a:solidFill>
                <a:latin typeface="Carlito" pitchFamily="34" charset="0"/>
                <a:ea typeface="Carlito" pitchFamily="34" charset="-122"/>
                <a:cs typeface="Carlito" pitchFamily="34" charset="-120"/>
              </a:rPr>
              <a:t>Player Profiles &amp; Fan Behavior</a:t>
            </a:r>
          </a:p>
        </p:txBody>
      </p:sp>
      <p:sp>
        <p:nvSpPr>
          <p:cNvPr id="6" name="Text 4">
            <a:extLst>
              <a:ext uri="{FF2B5EF4-FFF2-40B4-BE49-F238E27FC236}">
                <a16:creationId xmlns:a16="http://schemas.microsoft.com/office/drawing/2014/main" id="{8DDB3C0B-FAC9-59F9-41A2-2F936540D8D0}"/>
              </a:ext>
            </a:extLst>
          </p:cNvPr>
          <p:cNvSpPr/>
          <p:nvPr/>
        </p:nvSpPr>
        <p:spPr>
          <a:xfrm>
            <a:off x="7760556" y="262533"/>
            <a:ext cx="1007852" cy="12323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Q2 · SECTION 01</a:t>
            </a:r>
            <a:endParaRPr lang="en-US" sz="800" dirty="0"/>
          </a:p>
        </p:txBody>
      </p:sp>
      <p:sp>
        <p:nvSpPr>
          <p:cNvPr id="7" name="Text 5">
            <a:extLst>
              <a:ext uri="{FF2B5EF4-FFF2-40B4-BE49-F238E27FC236}">
                <a16:creationId xmlns:a16="http://schemas.microsoft.com/office/drawing/2014/main" id="{F9DF98B1-8058-42BB-A234-57480909E1D6}"/>
              </a:ext>
            </a:extLst>
          </p:cNvPr>
          <p:cNvSpPr/>
          <p:nvPr/>
        </p:nvSpPr>
        <p:spPr>
          <a:xfrm>
            <a:off x="400050" y="635794"/>
            <a:ext cx="4857750" cy="3879056"/>
          </a:xfrm>
          <a:prstGeom prst="roundRect">
            <a:avLst>
              <a:gd name="adj" fmla="val 1964"/>
            </a:avLst>
          </a:prstGeom>
          <a:solidFill>
            <a:srgbClr val="FFFFFF"/>
          </a:solidFill>
          <a:ln/>
          <a:effectLst>
            <a:outerShdw blurRad="342900" dist="114300" dir="5400000" algn="bl" rotWithShape="0">
              <a:srgbClr val="000000">
                <a:alpha val="32000"/>
              </a:srgbClr>
            </a:outerShdw>
          </a:effectLst>
        </p:spPr>
        <p:txBody>
          <a:bodyPr wrap="square" rtlCol="0" anchor="ctr"/>
          <a:lstStyle/>
          <a:p>
            <a:pPr marL="0" indent="0">
              <a:buNone/>
            </a:pPr>
            <a:endParaRPr lang="en-US" dirty="0"/>
          </a:p>
        </p:txBody>
      </p:sp>
      <p:sp>
        <p:nvSpPr>
          <p:cNvPr id="8" name="Text 6">
            <a:extLst>
              <a:ext uri="{FF2B5EF4-FFF2-40B4-BE49-F238E27FC236}">
                <a16:creationId xmlns:a16="http://schemas.microsoft.com/office/drawing/2014/main" id="{1DB89D43-C715-291D-7B34-39A450DD895A}"/>
              </a:ext>
            </a:extLst>
          </p:cNvPr>
          <p:cNvSpPr/>
          <p:nvPr/>
        </p:nvSpPr>
        <p:spPr>
          <a:xfrm>
            <a:off x="528638" y="707231"/>
            <a:ext cx="4600575"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9CA3A2"/>
                </a:solidFill>
                <a:latin typeface="Liberation Sans Narrow" pitchFamily="34" charset="0"/>
                <a:ea typeface="Liberation Sans Narrow" pitchFamily="34" charset="-122"/>
                <a:cs typeface="Liberation Sans Narrow" pitchFamily="34" charset="-120"/>
              </a:rPr>
              <a:t>FIG. 3 · HEIGHT HISTOGRAM BY GENDER</a:t>
            </a:r>
            <a:endParaRPr lang="en-US" sz="800" dirty="0"/>
          </a:p>
        </p:txBody>
      </p:sp>
      <p:sp>
        <p:nvSpPr>
          <p:cNvPr id="10" name="Text 7">
            <a:extLst>
              <a:ext uri="{FF2B5EF4-FFF2-40B4-BE49-F238E27FC236}">
                <a16:creationId xmlns:a16="http://schemas.microsoft.com/office/drawing/2014/main" id="{85C65229-F235-1DDF-23DD-D9E28C610D00}"/>
              </a:ext>
            </a:extLst>
          </p:cNvPr>
          <p:cNvSpPr/>
          <p:nvPr/>
        </p:nvSpPr>
        <p:spPr>
          <a:xfrm>
            <a:off x="5457825" y="635794"/>
            <a:ext cx="3395853" cy="218438"/>
          </a:xfrm>
          <a:prstGeom prst="rect">
            <a:avLst/>
          </a:prstGeom>
          <a:noFill/>
          <a:ln/>
        </p:spPr>
        <p:txBody>
          <a:bodyPr wrap="square" lIns="0" tIns="0" rIns="0" bIns="0" rtlCol="0" anchor="t"/>
          <a:lstStyle/>
          <a:p>
            <a:pPr marL="0" indent="0" algn="l">
              <a:lnSpc>
                <a:spcPts val="1593"/>
              </a:lnSpc>
              <a:buNone/>
            </a:pPr>
            <a:r>
              <a:rPr lang="en-US" sz="1350" kern="0" spc="-7" dirty="0">
                <a:solidFill>
                  <a:srgbClr val="F4F1DE"/>
                </a:solidFill>
                <a:latin typeface="Tinos" pitchFamily="34" charset="0"/>
                <a:ea typeface="Tinos" pitchFamily="34" charset="-122"/>
                <a:cs typeface="Tinos" pitchFamily="34" charset="-120"/>
              </a:rPr>
              <a:t>What Is the Average Height of the Players?</a:t>
            </a:r>
            <a:endParaRPr lang="en-US" sz="1350" dirty="0"/>
          </a:p>
        </p:txBody>
      </p:sp>
      <p:sp>
        <p:nvSpPr>
          <p:cNvPr id="11" name="Text 8">
            <a:extLst>
              <a:ext uri="{FF2B5EF4-FFF2-40B4-BE49-F238E27FC236}">
                <a16:creationId xmlns:a16="http://schemas.microsoft.com/office/drawing/2014/main" id="{BBA8DD97-45AF-21EF-7DE3-2F37C62F2D47}"/>
              </a:ext>
            </a:extLst>
          </p:cNvPr>
          <p:cNvSpPr/>
          <p:nvPr/>
        </p:nvSpPr>
        <p:spPr>
          <a:xfrm>
            <a:off x="5457825" y="923776"/>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a:extLst>
              <a:ext uri="{FF2B5EF4-FFF2-40B4-BE49-F238E27FC236}">
                <a16:creationId xmlns:a16="http://schemas.microsoft.com/office/drawing/2014/main" id="{C7DC8982-59B2-1A28-45E2-9609956C4AA7}"/>
              </a:ext>
            </a:extLst>
          </p:cNvPr>
          <p:cNvSpPr/>
          <p:nvPr/>
        </p:nvSpPr>
        <p:spPr>
          <a:xfrm>
            <a:off x="5457825" y="1045220"/>
            <a:ext cx="3286125" cy="983632"/>
          </a:xfrm>
          <a:prstGeom prst="rect">
            <a:avLst/>
          </a:prstGeom>
          <a:noFill/>
          <a:ln/>
        </p:spPr>
        <p:txBody>
          <a:bodyPr wrap="square" lIns="0" tIns="0" rIns="0" bIns="0" rtlCol="0" anchor="t">
            <a:normAutofit fontScale="92500"/>
          </a:bodyPr>
          <a:lstStyle/>
          <a:p>
            <a:pPr marL="0" indent="0" algn="l">
              <a:lnSpc>
                <a:spcPts val="1177"/>
              </a:lnSpc>
              <a:buNone/>
            </a:pPr>
            <a:r>
              <a:rPr lang="en-US" sz="1000" dirty="0">
                <a:solidFill>
                  <a:srgbClr val="F4F1DE">
                    <a:alpha val="92000"/>
                  </a:srgbClr>
                </a:solidFill>
                <a:latin typeface="Candara" panose="020E0502030303020204" pitchFamily="34" charset="0"/>
                <a:ea typeface="Carlito" pitchFamily="34" charset="-122"/>
                <a:cs typeface="Carlito" pitchFamily="34" charset="-120"/>
              </a:rPr>
              <a:t>The height distribution is genuinely bimodal — a smaller cluster of women around 1.65–1.75 m and a larger cluster of men around 1.78–1.95 m. The ~11 cm gap between genders is consistent with known professional tennis averages (WTA ~1.70–1.75 m, ATP ~1.85 m). The overall mixed average of 1.82 m sits closer to the men's mean simply because men outnumber women ~4:1 in the height-available subset.</a:t>
            </a:r>
            <a:endParaRPr lang="en-US" sz="1000" dirty="0">
              <a:latin typeface="Candara" panose="020E0502030303020204" pitchFamily="34" charset="0"/>
            </a:endParaRPr>
          </a:p>
        </p:txBody>
      </p:sp>
      <p:sp>
        <p:nvSpPr>
          <p:cNvPr id="13" name="Shape 10">
            <a:extLst>
              <a:ext uri="{FF2B5EF4-FFF2-40B4-BE49-F238E27FC236}">
                <a16:creationId xmlns:a16="http://schemas.microsoft.com/office/drawing/2014/main" id="{6EE1B03D-A0A2-6829-443D-5DAAC8B63677}"/>
              </a:ext>
            </a:extLst>
          </p:cNvPr>
          <p:cNvSpPr/>
          <p:nvPr/>
        </p:nvSpPr>
        <p:spPr>
          <a:xfrm>
            <a:off x="5468541" y="2056284"/>
            <a:ext cx="0" cy="391790"/>
          </a:xfrm>
          <a:prstGeom prst="line">
            <a:avLst/>
          </a:prstGeom>
          <a:noFill/>
          <a:ln w="21431">
            <a:solidFill>
              <a:srgbClr val="FFF100"/>
            </a:solidFill>
            <a:prstDash val="solid"/>
          </a:ln>
        </p:spPr>
      </p:sp>
      <p:sp>
        <p:nvSpPr>
          <p:cNvPr id="14" name="Text 11">
            <a:extLst>
              <a:ext uri="{FF2B5EF4-FFF2-40B4-BE49-F238E27FC236}">
                <a16:creationId xmlns:a16="http://schemas.microsoft.com/office/drawing/2014/main" id="{2B61F82D-F7CB-5F4C-2FC9-0F18EF25F8C3}"/>
              </a:ext>
            </a:extLst>
          </p:cNvPr>
          <p:cNvSpPr/>
          <p:nvPr/>
        </p:nvSpPr>
        <p:spPr>
          <a:xfrm>
            <a:off x="5564981" y="2056284"/>
            <a:ext cx="1485900" cy="258318"/>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1.843 m</a:t>
            </a:r>
            <a:endParaRPr lang="en-US" sz="1913" dirty="0"/>
          </a:p>
        </p:txBody>
      </p:sp>
      <p:sp>
        <p:nvSpPr>
          <p:cNvPr id="15" name="Text 12">
            <a:extLst>
              <a:ext uri="{FF2B5EF4-FFF2-40B4-BE49-F238E27FC236}">
                <a16:creationId xmlns:a16="http://schemas.microsoft.com/office/drawing/2014/main" id="{8E419B6D-A4EB-4EEE-A0F9-5A1E44A62CF6}"/>
              </a:ext>
            </a:extLst>
          </p:cNvPr>
          <p:cNvSpPr/>
          <p:nvPr/>
        </p:nvSpPr>
        <p:spPr>
          <a:xfrm>
            <a:off x="5564981" y="2342034"/>
            <a:ext cx="1485900" cy="106040"/>
          </a:xfrm>
          <a:prstGeom prst="rect">
            <a:avLst/>
          </a:prstGeom>
          <a:noFill/>
          <a:ln/>
        </p:spPr>
        <p:txBody>
          <a:bodyPr wrap="none" lIns="0" tIns="0" rIns="0" bIns="0" rtlCol="0" anchor="t"/>
          <a:lstStyle/>
          <a:p>
            <a:pPr marL="0" indent="0" algn="l">
              <a:lnSpc>
                <a:spcPts val="835"/>
              </a:lnSpc>
              <a:buNone/>
            </a:pPr>
            <a:r>
              <a:rPr lang="en-US" sz="800" kern="0" spc="31" dirty="0">
                <a:solidFill>
                  <a:srgbClr val="F4F1DE">
                    <a:alpha val="70000"/>
                  </a:srgbClr>
                </a:solidFill>
                <a:latin typeface="Liberation Sans Narrow" pitchFamily="34" charset="0"/>
                <a:ea typeface="Liberation Sans Narrow" pitchFamily="34" charset="-122"/>
                <a:cs typeface="Liberation Sans Narrow" pitchFamily="34" charset="-120"/>
              </a:rPr>
              <a:t>Men (n = 1,060)</a:t>
            </a:r>
            <a:endParaRPr lang="en-US" sz="800" dirty="0"/>
          </a:p>
        </p:txBody>
      </p:sp>
      <p:sp>
        <p:nvSpPr>
          <p:cNvPr id="16" name="Shape 13">
            <a:extLst>
              <a:ext uri="{FF2B5EF4-FFF2-40B4-BE49-F238E27FC236}">
                <a16:creationId xmlns:a16="http://schemas.microsoft.com/office/drawing/2014/main" id="{93751D41-1ABD-C5BF-7C2B-C8FBB6840A82}"/>
              </a:ext>
            </a:extLst>
          </p:cNvPr>
          <p:cNvSpPr/>
          <p:nvPr/>
        </p:nvSpPr>
        <p:spPr>
          <a:xfrm>
            <a:off x="7161609" y="2056284"/>
            <a:ext cx="0" cy="391790"/>
          </a:xfrm>
          <a:prstGeom prst="line">
            <a:avLst/>
          </a:prstGeom>
          <a:noFill/>
          <a:ln w="21431">
            <a:solidFill>
              <a:srgbClr val="FFF100"/>
            </a:solidFill>
            <a:prstDash val="solid"/>
          </a:ln>
        </p:spPr>
      </p:sp>
      <p:sp>
        <p:nvSpPr>
          <p:cNvPr id="17" name="Text 14">
            <a:extLst>
              <a:ext uri="{FF2B5EF4-FFF2-40B4-BE49-F238E27FC236}">
                <a16:creationId xmlns:a16="http://schemas.microsoft.com/office/drawing/2014/main" id="{FF3FE080-9F23-54A3-0BE3-36A98926A989}"/>
              </a:ext>
            </a:extLst>
          </p:cNvPr>
          <p:cNvSpPr/>
          <p:nvPr/>
        </p:nvSpPr>
        <p:spPr>
          <a:xfrm>
            <a:off x="7258050" y="2056284"/>
            <a:ext cx="1485900" cy="258318"/>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1.732 m</a:t>
            </a:r>
            <a:endParaRPr lang="en-US" sz="1913" dirty="0"/>
          </a:p>
        </p:txBody>
      </p:sp>
      <p:sp>
        <p:nvSpPr>
          <p:cNvPr id="18" name="Text 15">
            <a:extLst>
              <a:ext uri="{FF2B5EF4-FFF2-40B4-BE49-F238E27FC236}">
                <a16:creationId xmlns:a16="http://schemas.microsoft.com/office/drawing/2014/main" id="{7B6963C9-2019-B8B0-5D94-F0EB083B85D7}"/>
              </a:ext>
            </a:extLst>
          </p:cNvPr>
          <p:cNvSpPr/>
          <p:nvPr/>
        </p:nvSpPr>
        <p:spPr>
          <a:xfrm>
            <a:off x="7258050" y="2342034"/>
            <a:ext cx="1485900" cy="106040"/>
          </a:xfrm>
          <a:prstGeom prst="rect">
            <a:avLst/>
          </a:prstGeom>
          <a:noFill/>
          <a:ln/>
        </p:spPr>
        <p:txBody>
          <a:bodyPr wrap="none" lIns="0" tIns="0" rIns="0" bIns="0" rtlCol="0" anchor="t"/>
          <a:lstStyle/>
          <a:p>
            <a:pPr marL="0" indent="0" algn="l">
              <a:lnSpc>
                <a:spcPts val="835"/>
              </a:lnSpc>
              <a:buNone/>
            </a:pPr>
            <a:r>
              <a:rPr lang="en-US" sz="800" kern="0" spc="31" dirty="0">
                <a:solidFill>
                  <a:srgbClr val="F4F1DE">
                    <a:alpha val="70000"/>
                  </a:srgbClr>
                </a:solidFill>
                <a:latin typeface="Liberation Sans Narrow" pitchFamily="34" charset="0"/>
                <a:ea typeface="Liberation Sans Narrow" pitchFamily="34" charset="-122"/>
                <a:cs typeface="Liberation Sans Narrow" pitchFamily="34" charset="-120"/>
              </a:rPr>
              <a:t>Women (n = 256)</a:t>
            </a:r>
            <a:endParaRPr lang="en-US" sz="800" dirty="0"/>
          </a:p>
        </p:txBody>
      </p:sp>
      <p:sp>
        <p:nvSpPr>
          <p:cNvPr id="19" name="Shape 16">
            <a:extLst>
              <a:ext uri="{FF2B5EF4-FFF2-40B4-BE49-F238E27FC236}">
                <a16:creationId xmlns:a16="http://schemas.microsoft.com/office/drawing/2014/main" id="{C34DE0DC-9A5C-01CD-C402-24E754B26E4A}"/>
              </a:ext>
            </a:extLst>
          </p:cNvPr>
          <p:cNvSpPr/>
          <p:nvPr/>
        </p:nvSpPr>
        <p:spPr>
          <a:xfrm>
            <a:off x="5457825" y="4057650"/>
            <a:ext cx="3286125" cy="0"/>
          </a:xfrm>
          <a:prstGeom prst="line">
            <a:avLst/>
          </a:prstGeom>
          <a:noFill/>
          <a:ln w="7144">
            <a:solidFill>
              <a:srgbClr val="F4F1DE"/>
            </a:solidFill>
            <a:prstDash val="dash"/>
          </a:ln>
        </p:spPr>
      </p:sp>
      <p:sp>
        <p:nvSpPr>
          <p:cNvPr id="20" name="Text 17">
            <a:extLst>
              <a:ext uri="{FF2B5EF4-FFF2-40B4-BE49-F238E27FC236}">
                <a16:creationId xmlns:a16="http://schemas.microsoft.com/office/drawing/2014/main" id="{4F31D5B5-584F-4E04-A64F-6BC4DB500F6B}"/>
              </a:ext>
            </a:extLst>
          </p:cNvPr>
          <p:cNvSpPr/>
          <p:nvPr/>
        </p:nvSpPr>
        <p:spPr>
          <a:xfrm>
            <a:off x="5457825" y="4054079"/>
            <a:ext cx="3286125" cy="489346"/>
          </a:xfrm>
          <a:prstGeom prst="rect">
            <a:avLst/>
          </a:prstGeom>
          <a:noFill/>
          <a:ln/>
        </p:spPr>
        <p:txBody>
          <a:bodyPr wrap="square" lIns="0" tIns="100013" rIns="0" bIns="0" rtlCol="0" anchor="t"/>
          <a:lstStyle/>
          <a:p>
            <a:pPr marL="0" indent="0" algn="l">
              <a:lnSpc>
                <a:spcPts val="928"/>
              </a:lnSpc>
              <a:buNone/>
            </a:pPr>
            <a:r>
              <a:rPr lang="en-US" sz="800" kern="0" spc="101" dirty="0">
                <a:solidFill>
                  <a:srgbClr val="FFF100">
                    <a:alpha val="55000"/>
                  </a:srgbClr>
                </a:solidFill>
                <a:latin typeface="Carlito" pitchFamily="34" charset="0"/>
                <a:ea typeface="Carlito" pitchFamily="34" charset="-122"/>
                <a:cs typeface="Carlito" pitchFamily="34" charset="-120"/>
              </a:rPr>
              <a:t>METHODOLOGY</a:t>
            </a:r>
            <a:r>
              <a:rPr lang="en-US" sz="800" dirty="0">
                <a:solidFill>
                  <a:srgbClr val="F4F1DE">
                    <a:alpha val="55000"/>
                  </a:srgbClr>
                </a:solidFill>
                <a:latin typeface="Dubai Light" panose="020B0303030403030204" pitchFamily="34" charset="-78"/>
                <a:ea typeface="Carlito" pitchFamily="34" charset="-122"/>
                <a:cs typeface="Dubai Light" panose="020B0303030403030204" pitchFamily="34" charset="-78"/>
              </a:rPr>
              <a:t>: Standard deviation is similar between genders (0.069 vs. 0.061). </a:t>
            </a:r>
            <a:endParaRPr lang="en-US" sz="800" dirty="0">
              <a:latin typeface="Dubai Light" panose="020B0303030403030204" pitchFamily="34" charset="-78"/>
              <a:cs typeface="Dubai Light" panose="020B0303030403030204" pitchFamily="34" charset="-78"/>
            </a:endParaRPr>
          </a:p>
        </p:txBody>
      </p:sp>
      <p:sp>
        <p:nvSpPr>
          <p:cNvPr id="21" name="Shape 18">
            <a:extLst>
              <a:ext uri="{FF2B5EF4-FFF2-40B4-BE49-F238E27FC236}">
                <a16:creationId xmlns:a16="http://schemas.microsoft.com/office/drawing/2014/main" id="{FB8BEF4E-57CD-C738-6929-BCF69CB29021}"/>
              </a:ext>
            </a:extLst>
          </p:cNvPr>
          <p:cNvSpPr/>
          <p:nvPr/>
        </p:nvSpPr>
        <p:spPr>
          <a:xfrm>
            <a:off x="400050" y="4618434"/>
            <a:ext cx="8343900" cy="0"/>
          </a:xfrm>
          <a:prstGeom prst="line">
            <a:avLst/>
          </a:prstGeom>
          <a:noFill/>
          <a:ln w="7144">
            <a:solidFill>
              <a:srgbClr val="F4F1DE"/>
            </a:solidFill>
            <a:prstDash val="solid"/>
          </a:ln>
        </p:spPr>
      </p:sp>
      <p:sp>
        <p:nvSpPr>
          <p:cNvPr id="22" name="Text 19">
            <a:extLst>
              <a:ext uri="{FF2B5EF4-FFF2-40B4-BE49-F238E27FC236}">
                <a16:creationId xmlns:a16="http://schemas.microsoft.com/office/drawing/2014/main" id="{7D029ED8-4963-7D47-EAF1-5A6D67343D97}"/>
              </a:ext>
            </a:extLst>
          </p:cNvPr>
          <p:cNvSpPr/>
          <p:nvPr/>
        </p:nvSpPr>
        <p:spPr>
          <a:xfrm>
            <a:off x="400050" y="4693444"/>
            <a:ext cx="7680313" cy="107156"/>
          </a:xfrm>
          <a:prstGeom prst="rect">
            <a:avLst/>
          </a:prstGeom>
          <a:noFill/>
          <a:ln/>
        </p:spPr>
        <p:txBody>
          <a:bodyPr wrap="square" lIns="0" tIns="0" rIns="0" bIns="0" rtlCol="0" anchor="t"/>
          <a:lstStyle/>
          <a:p>
            <a:pPr marL="0" indent="0" algn="l">
              <a:lnSpc>
                <a:spcPts val="844"/>
              </a:lnSpc>
              <a:buNone/>
            </a:pPr>
            <a:r>
              <a:rPr lang="en-US" sz="900" kern="0" spc="124" dirty="0">
                <a:solidFill>
                  <a:srgbClr val="F4F1DE">
                    <a:alpha val="45000"/>
                  </a:srgbClr>
                </a:solidFill>
                <a:latin typeface="Carlito" pitchFamily="34" charset="0"/>
                <a:ea typeface="Carlito" pitchFamily="34" charset="-122"/>
                <a:cs typeface="Carlito" pitchFamily="34" charset="-120"/>
              </a:rPr>
              <a:t>PRESENTED BY MEHRNOOSH YAGHUBI</a:t>
            </a:r>
            <a:endParaRPr lang="en-US" sz="900" dirty="0"/>
          </a:p>
        </p:txBody>
      </p:sp>
      <p:sp>
        <p:nvSpPr>
          <p:cNvPr id="23" name="Text 20">
            <a:extLst>
              <a:ext uri="{FF2B5EF4-FFF2-40B4-BE49-F238E27FC236}">
                <a16:creationId xmlns:a16="http://schemas.microsoft.com/office/drawing/2014/main" id="{8BFD4FB4-C586-1EEF-40CB-9B18FE9D834D}"/>
              </a:ext>
            </a:extLst>
          </p:cNvPr>
          <p:cNvSpPr/>
          <p:nvPr/>
        </p:nvSpPr>
        <p:spPr>
          <a:xfrm>
            <a:off x="8094650" y="4693444"/>
            <a:ext cx="759028" cy="107156"/>
          </a:xfrm>
          <a:prstGeom prst="rect">
            <a:avLst/>
          </a:prstGeom>
          <a:noFill/>
          <a:ln/>
        </p:spPr>
        <p:txBody>
          <a:bodyPr wrap="none" lIns="0" tIns="0" rIns="0" bIns="0" rtlCol="0" anchor="t"/>
          <a:lstStyle/>
          <a:p>
            <a:pPr>
              <a:lnSpc>
                <a:spcPts val="844"/>
              </a:lnSpc>
            </a:pPr>
            <a:r>
              <a:rPr lang="en-US" sz="600" kern="0" spc="124" dirty="0">
                <a:solidFill>
                  <a:srgbClr val="F4F1DE">
                    <a:alpha val="45000"/>
                  </a:srgbClr>
                </a:solidFill>
                <a:latin typeface="Carlito" pitchFamily="34" charset="0"/>
                <a:ea typeface="Carlito" pitchFamily="34" charset="-122"/>
              </a:rPr>
              <a:t>SLIDE </a:t>
            </a:r>
            <a:r>
              <a:rPr lang="en-US" sz="600" kern="0" spc="124" dirty="0">
                <a:solidFill>
                  <a:srgbClr val="FFF100">
                    <a:alpha val="45000"/>
                  </a:srgbClr>
                </a:solidFill>
                <a:latin typeface="Liberation Sans Narrow" pitchFamily="34" charset="0"/>
                <a:ea typeface="Liberation Sans Narrow" pitchFamily="34" charset="-122"/>
              </a:rPr>
              <a:t>05</a:t>
            </a:r>
            <a:r>
              <a:rPr lang="en-US" sz="600" kern="0" spc="124" dirty="0">
                <a:solidFill>
                  <a:srgbClr val="F4F1DE">
                    <a:alpha val="45000"/>
                  </a:srgbClr>
                </a:solidFill>
                <a:latin typeface="Carlito" pitchFamily="34" charset="0"/>
                <a:ea typeface="Carlito" pitchFamily="34" charset="-122"/>
              </a:rPr>
              <a:t> / 30</a:t>
            </a:r>
          </a:p>
        </p:txBody>
      </p:sp>
      <p:pic>
        <p:nvPicPr>
          <p:cNvPr id="25" name="Picture 24">
            <a:extLst>
              <a:ext uri="{FF2B5EF4-FFF2-40B4-BE49-F238E27FC236}">
                <a16:creationId xmlns:a16="http://schemas.microsoft.com/office/drawing/2014/main" id="{FE540D27-A5C7-CFC6-E8EE-A24275864FB2}"/>
              </a:ext>
            </a:extLst>
          </p:cNvPr>
          <p:cNvPicPr>
            <a:picLocks noChangeAspect="1"/>
          </p:cNvPicPr>
          <p:nvPr/>
        </p:nvPicPr>
        <p:blipFill>
          <a:blip r:embed="rId3"/>
          <a:stretch>
            <a:fillRect/>
          </a:stretch>
        </p:blipFill>
        <p:spPr>
          <a:xfrm>
            <a:off x="400050" y="1073724"/>
            <a:ext cx="4857750" cy="3036094"/>
          </a:xfrm>
          <a:prstGeom prst="rect">
            <a:avLst/>
          </a:prstGeom>
        </p:spPr>
      </p:pic>
    </p:spTree>
    <p:extLst>
      <p:ext uri="{BB962C8B-B14F-4D97-AF65-F5344CB8AC3E}">
        <p14:creationId xmlns:p14="http://schemas.microsoft.com/office/powerpoint/2010/main" val="3980282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4332"/>
          </a:solidFill>
          <a:ln/>
        </p:spPr>
        <p:txBody>
          <a:bodyPr wrap="square" rtlCol="0" anchor="ctr"/>
          <a:lstStyle/>
          <a:p>
            <a:pPr marL="0" indent="0">
              <a:buNone/>
            </a:pPr>
            <a:endParaRPr lang="en-US" dirty="0"/>
          </a:p>
        </p:txBody>
      </p:sp>
      <p:sp>
        <p:nvSpPr>
          <p:cNvPr id="3" name="Shape 1"/>
          <p:cNvSpPr/>
          <p:nvPr/>
        </p:nvSpPr>
        <p:spPr>
          <a:xfrm>
            <a:off x="400050" y="489347"/>
            <a:ext cx="8343900" cy="0"/>
          </a:xfrm>
          <a:prstGeom prst="line">
            <a:avLst/>
          </a:prstGeom>
          <a:noFill/>
          <a:ln w="7144">
            <a:solidFill>
              <a:srgbClr val="F4F1DE"/>
            </a:solidFill>
            <a:prstDash val="solid"/>
          </a:ln>
        </p:spPr>
      </p:sp>
      <p:sp>
        <p:nvSpPr>
          <p:cNvPr id="4" name="Text 2"/>
          <p:cNvSpPr/>
          <p:nvPr/>
        </p:nvSpPr>
        <p:spPr>
          <a:xfrm>
            <a:off x="400050" y="257175"/>
            <a:ext cx="128588" cy="128588"/>
          </a:xfrm>
          <a:prstGeom prst="rect">
            <a:avLst/>
          </a:prstGeom>
          <a:noFill/>
          <a:ln/>
        </p:spPr>
        <p:txBody>
          <a:bodyPr wrap="none" lIns="0" tIns="0" rIns="0" bIns="0" rtlCol="0" anchor="ctr"/>
          <a:lstStyle/>
          <a:p>
            <a:pPr marL="0" indent="0" algn="ctr">
              <a:buNone/>
            </a:pPr>
            <a:r>
              <a:rPr lang="en-US" sz="1266" dirty="0">
                <a:solidFill>
                  <a:srgbClr val="FFF100"/>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600075" y="262533"/>
            <a:ext cx="2612295" cy="123230"/>
          </a:xfrm>
          <a:prstGeom prst="rect">
            <a:avLst/>
          </a:prstGeom>
          <a:noFill/>
          <a:ln/>
        </p:spPr>
        <p:txBody>
          <a:bodyPr wrap="square" lIns="0" tIns="0" rIns="0" bIns="0" rtlCol="0" anchor="t"/>
          <a:lstStyle/>
          <a:p>
            <a:pPr marL="0" indent="0" algn="l">
              <a:lnSpc>
                <a:spcPts val="928"/>
              </a:lnSpc>
              <a:buNone/>
            </a:pPr>
            <a:r>
              <a:rPr lang="en-US" sz="800" kern="0" spc="173" dirty="0">
                <a:solidFill>
                  <a:srgbClr val="F4F1DE">
                    <a:alpha val="55000"/>
                  </a:srgbClr>
                </a:solidFill>
                <a:latin typeface="Carlito" pitchFamily="34" charset="0"/>
                <a:ea typeface="Carlito" pitchFamily="34" charset="-122"/>
                <a:cs typeface="Carlito" pitchFamily="34" charset="-120"/>
              </a:rPr>
              <a:t>Player Profiles &amp; Fan Behavior</a:t>
            </a:r>
          </a:p>
        </p:txBody>
      </p:sp>
      <p:sp>
        <p:nvSpPr>
          <p:cNvPr id="6" name="Text 4"/>
          <p:cNvSpPr/>
          <p:nvPr/>
        </p:nvSpPr>
        <p:spPr>
          <a:xfrm>
            <a:off x="7719268" y="262533"/>
            <a:ext cx="1024682" cy="12323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Q10 · SECTION 01</a:t>
            </a:r>
            <a:endParaRPr lang="en-US" sz="800" dirty="0"/>
          </a:p>
        </p:txBody>
      </p:sp>
      <p:sp>
        <p:nvSpPr>
          <p:cNvPr id="7" name="Text 5"/>
          <p:cNvSpPr/>
          <p:nvPr/>
        </p:nvSpPr>
        <p:spPr>
          <a:xfrm>
            <a:off x="400050" y="635794"/>
            <a:ext cx="4857750" cy="3879056"/>
          </a:xfrm>
          <a:prstGeom prst="roundRect">
            <a:avLst>
              <a:gd name="adj" fmla="val 1964"/>
            </a:avLst>
          </a:prstGeom>
          <a:solidFill>
            <a:srgbClr val="FFFFFF"/>
          </a:solidFill>
          <a:ln/>
          <a:effectLst>
            <a:outerShdw blurRad="342900" dist="114300" dir="5400000" algn="bl" rotWithShape="0">
              <a:srgbClr val="000000">
                <a:alpha val="32000"/>
              </a:srgbClr>
            </a:outerShdw>
          </a:effectLst>
        </p:spPr>
        <p:txBody>
          <a:bodyPr wrap="square" rtlCol="0" anchor="ctr"/>
          <a:lstStyle/>
          <a:p>
            <a:pPr marL="0" indent="0">
              <a:buNone/>
            </a:pPr>
            <a:endParaRPr lang="en-US" dirty="0"/>
          </a:p>
        </p:txBody>
      </p:sp>
      <p:sp>
        <p:nvSpPr>
          <p:cNvPr id="8" name="Text 6"/>
          <p:cNvSpPr/>
          <p:nvPr/>
        </p:nvSpPr>
        <p:spPr>
          <a:xfrm>
            <a:off x="528638" y="707231"/>
            <a:ext cx="4600575"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9CA3A2"/>
                </a:solidFill>
                <a:latin typeface="Liberation Sans Narrow" pitchFamily="34" charset="0"/>
                <a:ea typeface="Liberation Sans Narrow" pitchFamily="34" charset="-122"/>
                <a:cs typeface="Liberation Sans Narrow" pitchFamily="34" charset="-120"/>
              </a:rPr>
              <a:t>FIG. 4 · HEIGHT VS CURRENT RANK</a:t>
            </a:r>
            <a:endParaRPr lang="en-US" sz="800" dirty="0"/>
          </a:p>
        </p:txBody>
      </p:sp>
      <p:sp>
        <p:nvSpPr>
          <p:cNvPr id="10" name="Text 7"/>
          <p:cNvSpPr/>
          <p:nvPr/>
        </p:nvSpPr>
        <p:spPr>
          <a:xfrm>
            <a:off x="5457825" y="635794"/>
            <a:ext cx="3286125" cy="425785"/>
          </a:xfrm>
          <a:prstGeom prst="rect">
            <a:avLst/>
          </a:prstGeom>
          <a:noFill/>
          <a:ln/>
        </p:spPr>
        <p:txBody>
          <a:bodyPr wrap="square" lIns="0" tIns="0" rIns="0" bIns="0" rtlCol="0" anchor="t"/>
          <a:lstStyle/>
          <a:p>
            <a:pPr marL="0" indent="0" algn="l">
              <a:lnSpc>
                <a:spcPts val="1553"/>
              </a:lnSpc>
              <a:buNone/>
            </a:pPr>
            <a:r>
              <a:rPr lang="en-US" sz="1294" kern="0" spc="-6" dirty="0">
                <a:solidFill>
                  <a:srgbClr val="F4F1DE"/>
                </a:solidFill>
                <a:latin typeface="Tinos" pitchFamily="34" charset="0"/>
                <a:ea typeface="Tinos" pitchFamily="34" charset="-122"/>
                <a:cs typeface="Tinos" pitchFamily="34" charset="-120"/>
              </a:rPr>
              <a:t>Is There a Correlation Between a Player's Height and Their Ranking?</a:t>
            </a:r>
            <a:endParaRPr lang="en-US" sz="1294" dirty="0"/>
          </a:p>
        </p:txBody>
      </p:sp>
      <p:sp>
        <p:nvSpPr>
          <p:cNvPr id="11" name="Text 8"/>
          <p:cNvSpPr/>
          <p:nvPr/>
        </p:nvSpPr>
        <p:spPr>
          <a:xfrm>
            <a:off x="5457825" y="1115764"/>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457825" y="1237208"/>
            <a:ext cx="3286125" cy="1043274"/>
          </a:xfrm>
          <a:prstGeom prst="rect">
            <a:avLst/>
          </a:prstGeom>
          <a:noFill/>
          <a:ln/>
        </p:spPr>
        <p:txBody>
          <a:bodyPr wrap="square" lIns="0" tIns="0" rIns="0" bIns="0" rtlCol="0" anchor="t">
            <a:noAutofit/>
          </a:bodyPr>
          <a:lstStyle/>
          <a:p>
            <a:pPr marL="0" indent="0" algn="l">
              <a:lnSpc>
                <a:spcPts val="1177"/>
              </a:lnSpc>
              <a:buNone/>
            </a:pPr>
            <a:r>
              <a:rPr lang="en-US" sz="900" dirty="0">
                <a:solidFill>
                  <a:srgbClr val="F4F1DE">
                    <a:alpha val="92000"/>
                  </a:srgbClr>
                </a:solidFill>
                <a:latin typeface="Candara" panose="020E0502030303020204" pitchFamily="34" charset="0"/>
                <a:ea typeface="Carlito" pitchFamily="34" charset="-122"/>
                <a:cs typeface="Carlito" pitchFamily="34" charset="-120"/>
              </a:rPr>
              <a:t>Pearson r = 0.106 indicates a positive but negligible linear relationship — |r| &lt; 0.2 is generally considered insignificant. At every height value, players are spread across the full range of rankings rather than clustering toward better ranks for taller players. The slightly positive sign (taller → higher/worse rank) runs opposite to the common belief that height is an advantage, but the near-zero magnitude is likely noise.</a:t>
            </a:r>
            <a:endParaRPr lang="en-US" sz="900" dirty="0">
              <a:latin typeface="Candara" panose="020E0502030303020204" pitchFamily="34" charset="0"/>
            </a:endParaRPr>
          </a:p>
        </p:txBody>
      </p:sp>
      <p:sp>
        <p:nvSpPr>
          <p:cNvPr id="13" name="Shape 10"/>
          <p:cNvSpPr/>
          <p:nvPr/>
        </p:nvSpPr>
        <p:spPr>
          <a:xfrm>
            <a:off x="5472805" y="2614988"/>
            <a:ext cx="0" cy="431304"/>
          </a:xfrm>
          <a:prstGeom prst="line">
            <a:avLst/>
          </a:prstGeom>
          <a:noFill/>
          <a:ln w="21431">
            <a:solidFill>
              <a:srgbClr val="FFF100"/>
            </a:solidFill>
            <a:prstDash val="solid"/>
          </a:ln>
        </p:spPr>
        <p:txBody>
          <a:bodyPr/>
          <a:lstStyle/>
          <a:p>
            <a:endParaRPr lang="fa-IR" dirty="0"/>
          </a:p>
        </p:txBody>
      </p:sp>
      <p:sp>
        <p:nvSpPr>
          <p:cNvPr id="14" name="Text 11"/>
          <p:cNvSpPr/>
          <p:nvPr/>
        </p:nvSpPr>
        <p:spPr>
          <a:xfrm>
            <a:off x="5535317" y="2570955"/>
            <a:ext cx="1924629" cy="284520"/>
          </a:xfrm>
          <a:prstGeom prst="rect">
            <a:avLst/>
          </a:prstGeom>
          <a:noFill/>
          <a:ln/>
        </p:spPr>
        <p:txBody>
          <a:bodyPr wrap="none" lIns="0" tIns="0" rIns="0" bIns="0" rtlCol="0" anchor="t"/>
          <a:lstStyle/>
          <a:p>
            <a:pPr marL="0" indent="0" algn="l">
              <a:lnSpc>
                <a:spcPts val="2700"/>
              </a:lnSpc>
              <a:buNone/>
            </a:pPr>
            <a:r>
              <a:rPr lang="en-US" sz="2700" b="1" dirty="0">
                <a:solidFill>
                  <a:srgbClr val="FFF100"/>
                </a:solidFill>
                <a:latin typeface="Liberation Sans Narrow" pitchFamily="34" charset="0"/>
                <a:ea typeface="Liberation Sans Narrow" pitchFamily="34" charset="-122"/>
                <a:cs typeface="Liberation Sans Narrow" pitchFamily="34" charset="-120"/>
              </a:rPr>
              <a:t>r = 0.106</a:t>
            </a:r>
            <a:endParaRPr lang="en-US" sz="2700" dirty="0"/>
          </a:p>
        </p:txBody>
      </p:sp>
      <p:sp>
        <p:nvSpPr>
          <p:cNvPr id="15" name="Text 12"/>
          <p:cNvSpPr/>
          <p:nvPr/>
        </p:nvSpPr>
        <p:spPr>
          <a:xfrm>
            <a:off x="7100887" y="2821224"/>
            <a:ext cx="1780245" cy="231279"/>
          </a:xfrm>
          <a:prstGeom prst="rect">
            <a:avLst/>
          </a:prstGeom>
          <a:noFill/>
          <a:ln/>
        </p:spPr>
        <p:txBody>
          <a:bodyPr wrap="square" lIns="0" tIns="0" rIns="0" bIns="0" rtlCol="0" anchor="t"/>
          <a:lstStyle/>
          <a:p>
            <a:pPr marL="0" indent="0" algn="l">
              <a:lnSpc>
                <a:spcPts val="911"/>
              </a:lnSpc>
              <a:buNone/>
            </a:pPr>
            <a:r>
              <a:rPr lang="en-US" sz="800" kern="0" spc="34" dirty="0">
                <a:solidFill>
                  <a:srgbClr val="F4F1DE">
                    <a:alpha val="78000"/>
                  </a:srgbClr>
                </a:solidFill>
                <a:latin typeface="Carlito" pitchFamily="34" charset="0"/>
                <a:ea typeface="Carlito" pitchFamily="34" charset="-122"/>
                <a:cs typeface="Carlito" pitchFamily="34" charset="-120"/>
              </a:rPr>
              <a:t>negligible correlation</a:t>
            </a:r>
            <a:endParaRPr lang="en-US" sz="800" dirty="0"/>
          </a:p>
          <a:p>
            <a:pPr marL="0" indent="0" algn="l">
              <a:lnSpc>
                <a:spcPts val="911"/>
              </a:lnSpc>
              <a:buNone/>
            </a:pPr>
            <a:r>
              <a:rPr lang="en-US" sz="800" kern="0" spc="34" dirty="0">
                <a:solidFill>
                  <a:srgbClr val="F4F1DE">
                    <a:alpha val="78000"/>
                  </a:srgbClr>
                </a:solidFill>
                <a:latin typeface="Liberation Sans Narrow" pitchFamily="34" charset="0"/>
                <a:ea typeface="Liberation Sans Narrow" pitchFamily="34" charset="-122"/>
                <a:cs typeface="Liberation Sans Narrow" pitchFamily="34" charset="-120"/>
              </a:rPr>
              <a:t>(|r| &lt; 0.2 → insignificant)</a:t>
            </a:r>
            <a:endParaRPr lang="en-US" sz="800" dirty="0"/>
          </a:p>
        </p:txBody>
      </p:sp>
      <p:sp>
        <p:nvSpPr>
          <p:cNvPr id="16" name="Shape 13"/>
          <p:cNvSpPr/>
          <p:nvPr/>
        </p:nvSpPr>
        <p:spPr>
          <a:xfrm>
            <a:off x="5457825" y="3939778"/>
            <a:ext cx="3286125" cy="0"/>
          </a:xfrm>
          <a:prstGeom prst="line">
            <a:avLst/>
          </a:prstGeom>
          <a:noFill/>
          <a:ln w="7144">
            <a:solidFill>
              <a:srgbClr val="F4F1DE"/>
            </a:solidFill>
            <a:prstDash val="dash"/>
          </a:ln>
        </p:spPr>
      </p:sp>
      <p:sp>
        <p:nvSpPr>
          <p:cNvPr id="17" name="Text 14"/>
          <p:cNvSpPr/>
          <p:nvPr/>
        </p:nvSpPr>
        <p:spPr>
          <a:xfrm>
            <a:off x="5457825" y="3936206"/>
            <a:ext cx="3286125" cy="807997"/>
          </a:xfrm>
          <a:prstGeom prst="rect">
            <a:avLst/>
          </a:prstGeom>
          <a:noFill/>
          <a:ln/>
        </p:spPr>
        <p:txBody>
          <a:bodyPr wrap="square" lIns="0" tIns="100013" rIns="0" bIns="0" rtlCol="0" anchor="t"/>
          <a:lstStyle/>
          <a:p>
            <a:pPr marL="0" indent="0" algn="l">
              <a:lnSpc>
                <a:spcPts val="928"/>
              </a:lnSpc>
              <a:buNone/>
            </a:pPr>
            <a:r>
              <a:rPr lang="en-US" sz="800" kern="0" spc="101" dirty="0">
                <a:solidFill>
                  <a:srgbClr val="FFF100">
                    <a:alpha val="55000"/>
                  </a:srgbClr>
                </a:solidFill>
                <a:latin typeface="Carlito" pitchFamily="34" charset="0"/>
                <a:ea typeface="Carlito" pitchFamily="34" charset="-122"/>
                <a:cs typeface="Carlito" pitchFamily="34" charset="-120"/>
              </a:rPr>
              <a:t>METHODOLOGY:</a:t>
            </a:r>
            <a:r>
              <a:rPr lang="en-US" sz="800" dirty="0">
                <a:solidFill>
                  <a:srgbClr val="F4F1DE">
                    <a:alpha val="55000"/>
                  </a:srgbClr>
                </a:solidFill>
                <a:latin typeface="Carlito" pitchFamily="34" charset="0"/>
                <a:ea typeface="Carlito" pitchFamily="34" charset="-122"/>
                <a:cs typeface="Carlito" pitchFamily="34" charset="-120"/>
              </a:rPr>
              <a:t> </a:t>
            </a:r>
            <a:r>
              <a:rPr lang="en-US" sz="800" dirty="0">
                <a:solidFill>
                  <a:srgbClr val="F4F1DE">
                    <a:alpha val="55000"/>
                  </a:srgbClr>
                </a:solidFill>
                <a:latin typeface="Dubai Light" panose="020B0303030403030204" pitchFamily="34" charset="-78"/>
                <a:ea typeface="Carlito" pitchFamily="34" charset="-122"/>
                <a:cs typeface="Dubai Light" panose="020B0303030403030204" pitchFamily="34" charset="-78"/>
              </a:rPr>
              <a:t>Based on 1,307 players (49.4% of 2,644 — the rest are missing height or current_rank). Heights form distinct vertical bands (1.70, 1.73, 1.75, 1.78 m), suggesting original recording in feet/inches and conversion to rounded meters — a data characteristic, not an error.</a:t>
            </a:r>
            <a:endParaRPr lang="en-US" sz="800" dirty="0">
              <a:latin typeface="Dubai Light" panose="020B0303030403030204" pitchFamily="34" charset="-78"/>
              <a:cs typeface="Dubai Light" panose="020B0303030403030204" pitchFamily="34" charset="-78"/>
            </a:endParaRPr>
          </a:p>
        </p:txBody>
      </p:sp>
      <p:sp>
        <p:nvSpPr>
          <p:cNvPr id="18" name="Shape 15"/>
          <p:cNvSpPr/>
          <p:nvPr/>
        </p:nvSpPr>
        <p:spPr>
          <a:xfrm>
            <a:off x="400050" y="4618434"/>
            <a:ext cx="8343900" cy="0"/>
          </a:xfrm>
          <a:prstGeom prst="line">
            <a:avLst/>
          </a:prstGeom>
          <a:noFill/>
          <a:ln w="7144">
            <a:solidFill>
              <a:srgbClr val="F4F1DE"/>
            </a:solidFill>
            <a:prstDash val="solid"/>
          </a:ln>
        </p:spPr>
      </p:sp>
      <p:sp>
        <p:nvSpPr>
          <p:cNvPr id="19" name="Text 16"/>
          <p:cNvSpPr/>
          <p:nvPr/>
        </p:nvSpPr>
        <p:spPr>
          <a:xfrm>
            <a:off x="400050" y="4693444"/>
            <a:ext cx="7680313" cy="107156"/>
          </a:xfrm>
          <a:prstGeom prst="rect">
            <a:avLst/>
          </a:prstGeom>
          <a:noFill/>
          <a:ln/>
        </p:spPr>
        <p:txBody>
          <a:bodyPr wrap="square" lIns="0" tIns="0" rIns="0" bIns="0" rtlCol="0" anchor="t"/>
          <a:lstStyle/>
          <a:p>
            <a:pPr marL="0" indent="0" algn="l">
              <a:lnSpc>
                <a:spcPts val="844"/>
              </a:lnSpc>
              <a:buNone/>
            </a:pPr>
            <a:r>
              <a:rPr lang="en-US" sz="800" kern="0" spc="124" dirty="0">
                <a:solidFill>
                  <a:srgbClr val="F4F1DE">
                    <a:alpha val="45000"/>
                  </a:srgbClr>
                </a:solidFill>
                <a:latin typeface="Carlito" pitchFamily="34" charset="0"/>
                <a:ea typeface="Carlito" pitchFamily="34" charset="-122"/>
                <a:cs typeface="Carlito" pitchFamily="34" charset="-120"/>
              </a:rPr>
              <a:t>PRESENTED BY MEHRNOOSH YAGHUBI</a:t>
            </a:r>
            <a:endParaRPr lang="en-US" sz="800" dirty="0"/>
          </a:p>
        </p:txBody>
      </p:sp>
      <p:sp>
        <p:nvSpPr>
          <p:cNvPr id="20" name="Text 17"/>
          <p:cNvSpPr/>
          <p:nvPr/>
        </p:nvSpPr>
        <p:spPr>
          <a:xfrm>
            <a:off x="8094650" y="4693443"/>
            <a:ext cx="786482" cy="154341"/>
          </a:xfrm>
          <a:prstGeom prst="rect">
            <a:avLst/>
          </a:prstGeom>
          <a:noFill/>
          <a:ln/>
        </p:spPr>
        <p:txBody>
          <a:bodyPr wrap="none" lIns="0" tIns="0" rIns="0" bIns="0" rtlCol="0" anchor="t"/>
          <a:lstStyle/>
          <a:p>
            <a:pPr marL="0" indent="0" algn="l">
              <a:lnSpc>
                <a:spcPts val="844"/>
              </a:lnSpc>
              <a:buNone/>
            </a:pPr>
            <a:r>
              <a:rPr lang="en-US" sz="600" kern="0" spc="124" dirty="0">
                <a:solidFill>
                  <a:srgbClr val="F4F1DE">
                    <a:alpha val="45000"/>
                  </a:srgbClr>
                </a:solidFill>
                <a:latin typeface="Carlito" pitchFamily="34" charset="0"/>
                <a:ea typeface="Carlito" pitchFamily="34" charset="-122"/>
                <a:cs typeface="Carlito" pitchFamily="34" charset="-120"/>
              </a:rPr>
              <a:t>SLIDE </a:t>
            </a:r>
            <a:r>
              <a:rPr lang="en-US" sz="600" kern="0" spc="124" dirty="0">
                <a:solidFill>
                  <a:srgbClr val="FFF100">
                    <a:alpha val="45000"/>
                  </a:srgbClr>
                </a:solidFill>
                <a:latin typeface="Liberation Sans Narrow" pitchFamily="34" charset="0"/>
                <a:ea typeface="Liberation Sans Narrow" pitchFamily="34" charset="-122"/>
                <a:cs typeface="Liberation Sans Narrow" pitchFamily="34" charset="-120"/>
              </a:rPr>
              <a:t>06</a:t>
            </a:r>
            <a:r>
              <a:rPr lang="en-US" sz="600" kern="0" spc="124" dirty="0">
                <a:solidFill>
                  <a:srgbClr val="F4F1DE">
                    <a:alpha val="45000"/>
                  </a:srgbClr>
                </a:solidFill>
                <a:latin typeface="Liberation Sans Narrow" pitchFamily="34" charset="0"/>
                <a:ea typeface="Liberation Sans Narrow" pitchFamily="34" charset="-122"/>
                <a:cs typeface="Liberation Sans Narrow" pitchFamily="34" charset="-120"/>
              </a:rPr>
              <a:t> / 30</a:t>
            </a:r>
            <a:endParaRPr lang="en-US" sz="600" dirty="0"/>
          </a:p>
        </p:txBody>
      </p:sp>
      <p:pic>
        <p:nvPicPr>
          <p:cNvPr id="22" name="Picture 21">
            <a:extLst>
              <a:ext uri="{FF2B5EF4-FFF2-40B4-BE49-F238E27FC236}">
                <a16:creationId xmlns:a16="http://schemas.microsoft.com/office/drawing/2014/main" id="{8C3223A1-FA56-4AFB-BBE6-3EDCBDDE7201}"/>
              </a:ext>
            </a:extLst>
          </p:cNvPr>
          <p:cNvPicPr>
            <a:picLocks noChangeAspect="1"/>
          </p:cNvPicPr>
          <p:nvPr/>
        </p:nvPicPr>
        <p:blipFill>
          <a:blip r:embed="rId3"/>
          <a:stretch>
            <a:fillRect/>
          </a:stretch>
        </p:blipFill>
        <p:spPr>
          <a:xfrm>
            <a:off x="528637" y="889773"/>
            <a:ext cx="4600575" cy="34504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4332"/>
          </a:solidFill>
          <a:ln/>
        </p:spPr>
        <p:txBody>
          <a:bodyPr wrap="square" rtlCol="0" anchor="ctr"/>
          <a:lstStyle/>
          <a:p>
            <a:pPr marL="0" indent="0">
              <a:buNone/>
            </a:pPr>
            <a:endParaRPr lang="en-US" dirty="0"/>
          </a:p>
        </p:txBody>
      </p:sp>
      <p:sp>
        <p:nvSpPr>
          <p:cNvPr id="3" name="Shape 1"/>
          <p:cNvSpPr/>
          <p:nvPr/>
        </p:nvSpPr>
        <p:spPr>
          <a:xfrm>
            <a:off x="400050" y="489347"/>
            <a:ext cx="8343900" cy="0"/>
          </a:xfrm>
          <a:prstGeom prst="line">
            <a:avLst/>
          </a:prstGeom>
          <a:noFill/>
          <a:ln w="7144">
            <a:solidFill>
              <a:srgbClr val="F4F1DE"/>
            </a:solidFill>
            <a:prstDash val="solid"/>
          </a:ln>
        </p:spPr>
      </p:sp>
      <p:sp>
        <p:nvSpPr>
          <p:cNvPr id="4" name="Text 2"/>
          <p:cNvSpPr/>
          <p:nvPr/>
        </p:nvSpPr>
        <p:spPr>
          <a:xfrm>
            <a:off x="400050" y="257175"/>
            <a:ext cx="128588" cy="128588"/>
          </a:xfrm>
          <a:prstGeom prst="rect">
            <a:avLst/>
          </a:prstGeom>
          <a:noFill/>
          <a:ln/>
        </p:spPr>
        <p:txBody>
          <a:bodyPr wrap="none" lIns="0" tIns="0" rIns="0" bIns="0" rtlCol="0" anchor="ctr"/>
          <a:lstStyle/>
          <a:p>
            <a:pPr marL="0" indent="0" algn="ctr">
              <a:buNone/>
            </a:pPr>
            <a:r>
              <a:rPr lang="en-US" sz="1266" dirty="0">
                <a:solidFill>
                  <a:srgbClr val="FFF100"/>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600075" y="262533"/>
            <a:ext cx="2612295" cy="123230"/>
          </a:xfrm>
          <a:prstGeom prst="rect">
            <a:avLst/>
          </a:prstGeom>
          <a:noFill/>
          <a:ln/>
        </p:spPr>
        <p:txBody>
          <a:bodyPr wrap="square" lIns="0" tIns="0" rIns="0" bIns="0" rtlCol="0" anchor="t"/>
          <a:lstStyle/>
          <a:p>
            <a:pPr marL="0" indent="0" algn="l">
              <a:lnSpc>
                <a:spcPts val="928"/>
              </a:lnSpc>
              <a:buNone/>
            </a:pPr>
            <a:r>
              <a:rPr lang="en-US" sz="800" kern="0" spc="173" dirty="0">
                <a:solidFill>
                  <a:srgbClr val="F4F1DE">
                    <a:alpha val="55000"/>
                  </a:srgbClr>
                </a:solidFill>
                <a:latin typeface="Carlito" pitchFamily="34" charset="0"/>
                <a:ea typeface="Carlito" pitchFamily="34" charset="-122"/>
                <a:cs typeface="Carlito" pitchFamily="34" charset="-120"/>
              </a:rPr>
              <a:t>Player Profiles &amp; Fan Behavior</a:t>
            </a:r>
          </a:p>
        </p:txBody>
      </p:sp>
      <p:sp>
        <p:nvSpPr>
          <p:cNvPr id="6" name="Text 4"/>
          <p:cNvSpPr/>
          <p:nvPr/>
        </p:nvSpPr>
        <p:spPr>
          <a:xfrm>
            <a:off x="7719268" y="262533"/>
            <a:ext cx="1024682" cy="12323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Q13 · SECTION 01</a:t>
            </a:r>
            <a:endParaRPr lang="en-US" sz="800" dirty="0"/>
          </a:p>
        </p:txBody>
      </p:sp>
      <p:sp>
        <p:nvSpPr>
          <p:cNvPr id="7" name="Text 5"/>
          <p:cNvSpPr/>
          <p:nvPr/>
        </p:nvSpPr>
        <p:spPr>
          <a:xfrm>
            <a:off x="400050" y="635794"/>
            <a:ext cx="4857750" cy="3879056"/>
          </a:xfrm>
          <a:prstGeom prst="roundRect">
            <a:avLst>
              <a:gd name="adj" fmla="val 1964"/>
            </a:avLst>
          </a:prstGeom>
          <a:solidFill>
            <a:srgbClr val="FFFFFF"/>
          </a:solidFill>
          <a:ln/>
          <a:effectLst>
            <a:outerShdw blurRad="342900" dist="114300" dir="5400000" algn="bl" rotWithShape="0">
              <a:srgbClr val="000000">
                <a:alpha val="32000"/>
              </a:srgbClr>
            </a:outerShdw>
          </a:effectLst>
        </p:spPr>
        <p:txBody>
          <a:bodyPr wrap="square" rtlCol="0" anchor="ctr"/>
          <a:lstStyle/>
          <a:p>
            <a:pPr marL="0" indent="0">
              <a:buNone/>
            </a:pPr>
            <a:endParaRPr lang="en-US" dirty="0"/>
          </a:p>
        </p:txBody>
      </p:sp>
      <p:sp>
        <p:nvSpPr>
          <p:cNvPr id="8" name="Text 6"/>
          <p:cNvSpPr/>
          <p:nvPr/>
        </p:nvSpPr>
        <p:spPr>
          <a:xfrm>
            <a:off x="528638" y="707231"/>
            <a:ext cx="4600575"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9CA3A2"/>
                </a:solidFill>
                <a:latin typeface="Liberation Sans Narrow" pitchFamily="34" charset="0"/>
                <a:ea typeface="Liberation Sans Narrow" pitchFamily="34" charset="-122"/>
                <a:cs typeface="Liberation Sans Narrow" pitchFamily="34" charset="-120"/>
              </a:rPr>
              <a:t>FIG. 5 · HANDEDNESS DISTRIBUTION</a:t>
            </a:r>
            <a:endParaRPr lang="en-US" sz="800" dirty="0"/>
          </a:p>
        </p:txBody>
      </p:sp>
      <p:sp>
        <p:nvSpPr>
          <p:cNvPr id="10" name="Text 7"/>
          <p:cNvSpPr/>
          <p:nvPr/>
        </p:nvSpPr>
        <p:spPr>
          <a:xfrm>
            <a:off x="5457825" y="635794"/>
            <a:ext cx="3286125" cy="425785"/>
          </a:xfrm>
          <a:prstGeom prst="rect">
            <a:avLst/>
          </a:prstGeom>
          <a:noFill/>
          <a:ln/>
        </p:spPr>
        <p:txBody>
          <a:bodyPr wrap="square" lIns="0" tIns="0" rIns="0" bIns="0" rtlCol="0" anchor="t"/>
          <a:lstStyle/>
          <a:p>
            <a:pPr marL="0" indent="0" algn="l">
              <a:lnSpc>
                <a:spcPts val="1553"/>
              </a:lnSpc>
              <a:buNone/>
            </a:pPr>
            <a:r>
              <a:rPr lang="en-US" sz="1294" kern="0" spc="-6" dirty="0">
                <a:solidFill>
                  <a:srgbClr val="F4F1DE"/>
                </a:solidFill>
                <a:latin typeface="Tinos" pitchFamily="34" charset="0"/>
                <a:ea typeface="Tinos" pitchFamily="34" charset="-122"/>
                <a:cs typeface="Tinos" pitchFamily="34" charset="-120"/>
              </a:rPr>
              <a:t>What Is the Distribution of Left-Handed vs Right-Handed Players?</a:t>
            </a:r>
            <a:endParaRPr lang="en-US" sz="1294" dirty="0"/>
          </a:p>
        </p:txBody>
      </p:sp>
      <p:sp>
        <p:nvSpPr>
          <p:cNvPr id="11" name="Text 8"/>
          <p:cNvSpPr/>
          <p:nvPr/>
        </p:nvSpPr>
        <p:spPr>
          <a:xfrm>
            <a:off x="5457825" y="1115764"/>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457825" y="1237208"/>
            <a:ext cx="3286125" cy="983632"/>
          </a:xfrm>
          <a:prstGeom prst="rect">
            <a:avLst/>
          </a:prstGeom>
          <a:noFill/>
          <a:ln/>
        </p:spPr>
        <p:txBody>
          <a:bodyPr wrap="square" lIns="0" tIns="0" rIns="0" bIns="0" rtlCol="0" anchor="t">
            <a:normAutofit/>
          </a:bodyPr>
          <a:lstStyle/>
          <a:p>
            <a:pPr marL="0" indent="0" algn="l">
              <a:lnSpc>
                <a:spcPts val="1177"/>
              </a:lnSpc>
              <a:buNone/>
            </a:pPr>
            <a:r>
              <a:rPr lang="en-US" sz="900" dirty="0">
                <a:solidFill>
                  <a:srgbClr val="F4F1DE">
                    <a:alpha val="92000"/>
                  </a:srgbClr>
                </a:solidFill>
                <a:latin typeface="Candara" panose="020E0502030303020204" pitchFamily="34" charset="0"/>
                <a:ea typeface="Carlito" pitchFamily="34" charset="-122"/>
                <a:cs typeface="Carlito" pitchFamily="34" charset="-120"/>
              </a:rPr>
              <a:t>Among players with a recorded handedness, 88.4% are right-handed and 11.6% are left-handed. The left-handed rate is consistent with real-world patterns — roughly 10% of the general population is left-handed, and professional tennis is commonly observed to have a slightly higher share, as left-handed shots/spin are less familiar to right-handed-dominant opponents, offering a modest tactical edge.</a:t>
            </a:r>
            <a:endParaRPr lang="en-US" sz="900" dirty="0">
              <a:latin typeface="Candara" panose="020E0502030303020204" pitchFamily="34" charset="0"/>
            </a:endParaRPr>
          </a:p>
        </p:txBody>
      </p:sp>
      <p:sp>
        <p:nvSpPr>
          <p:cNvPr id="13" name="Shape 10"/>
          <p:cNvSpPr/>
          <p:nvPr/>
        </p:nvSpPr>
        <p:spPr>
          <a:xfrm>
            <a:off x="5439966" y="2576246"/>
            <a:ext cx="0" cy="363215"/>
          </a:xfrm>
          <a:prstGeom prst="line">
            <a:avLst/>
          </a:prstGeom>
          <a:noFill/>
          <a:ln w="21431">
            <a:solidFill>
              <a:srgbClr val="FFF100"/>
            </a:solidFill>
            <a:prstDash val="solid"/>
          </a:ln>
        </p:spPr>
      </p:sp>
      <p:sp>
        <p:nvSpPr>
          <p:cNvPr id="14" name="Text 11"/>
          <p:cNvSpPr/>
          <p:nvPr/>
        </p:nvSpPr>
        <p:spPr>
          <a:xfrm>
            <a:off x="5466754" y="2610630"/>
            <a:ext cx="1769364" cy="229743"/>
          </a:xfrm>
          <a:prstGeom prst="rect">
            <a:avLst/>
          </a:prstGeom>
          <a:noFill/>
          <a:ln/>
        </p:spPr>
        <p:txBody>
          <a:bodyPr wrap="none" lIns="0" tIns="0" rIns="0" bIns="0" rtlCol="0" anchor="t">
            <a:normAutofit/>
          </a:bodyPr>
          <a:lstStyle/>
          <a:p>
            <a:pPr marL="0" indent="0" algn="l">
              <a:lnSpc>
                <a:spcPts val="1688"/>
              </a:lnSpc>
              <a:buNone/>
            </a:pPr>
            <a:r>
              <a:rPr lang="en-US" sz="1688" b="1" dirty="0">
                <a:solidFill>
                  <a:srgbClr val="FFF100"/>
                </a:solidFill>
                <a:latin typeface="Liberation Sans Narrow" pitchFamily="34" charset="0"/>
                <a:ea typeface="Liberation Sans Narrow" pitchFamily="34" charset="-122"/>
                <a:cs typeface="Liberation Sans Narrow" pitchFamily="34" charset="-120"/>
              </a:rPr>
              <a:t>1,013 · 88.4%</a:t>
            </a:r>
            <a:endParaRPr lang="en-US" sz="1688" dirty="0"/>
          </a:p>
        </p:txBody>
      </p:sp>
      <p:sp>
        <p:nvSpPr>
          <p:cNvPr id="15" name="Text 12"/>
          <p:cNvSpPr/>
          <p:nvPr/>
        </p:nvSpPr>
        <p:spPr>
          <a:xfrm>
            <a:off x="5466754" y="2828925"/>
            <a:ext cx="1485900" cy="106040"/>
          </a:xfrm>
          <a:prstGeom prst="rect">
            <a:avLst/>
          </a:prstGeom>
          <a:noFill/>
          <a:ln/>
        </p:spPr>
        <p:txBody>
          <a:bodyPr wrap="none" lIns="0" tIns="0" rIns="0" bIns="0" rtlCol="0" anchor="t"/>
          <a:lstStyle/>
          <a:p>
            <a:pPr marL="0" indent="0" algn="l">
              <a:lnSpc>
                <a:spcPts val="835"/>
              </a:lnSpc>
              <a:buNone/>
            </a:pPr>
            <a:r>
              <a:rPr lang="en-US" sz="800" kern="0" spc="31" dirty="0">
                <a:solidFill>
                  <a:srgbClr val="F4F1DE">
                    <a:alpha val="70000"/>
                  </a:srgbClr>
                </a:solidFill>
                <a:latin typeface="Carlito" pitchFamily="34" charset="0"/>
                <a:ea typeface="Carlito" pitchFamily="34" charset="-122"/>
                <a:cs typeface="Carlito" pitchFamily="34" charset="-120"/>
              </a:rPr>
              <a:t>Right-handed</a:t>
            </a:r>
            <a:endParaRPr lang="en-US" sz="800" dirty="0"/>
          </a:p>
        </p:txBody>
      </p:sp>
      <p:sp>
        <p:nvSpPr>
          <p:cNvPr id="16" name="Shape 13"/>
          <p:cNvSpPr/>
          <p:nvPr/>
        </p:nvSpPr>
        <p:spPr>
          <a:xfrm>
            <a:off x="7162876" y="2576246"/>
            <a:ext cx="0" cy="363215"/>
          </a:xfrm>
          <a:prstGeom prst="line">
            <a:avLst/>
          </a:prstGeom>
          <a:noFill/>
          <a:ln w="21431">
            <a:solidFill>
              <a:srgbClr val="FFF100"/>
            </a:solidFill>
            <a:prstDash val="solid"/>
          </a:ln>
        </p:spPr>
      </p:sp>
      <p:sp>
        <p:nvSpPr>
          <p:cNvPr id="17" name="Text 14"/>
          <p:cNvSpPr/>
          <p:nvPr/>
        </p:nvSpPr>
        <p:spPr>
          <a:xfrm>
            <a:off x="7187820" y="2597949"/>
            <a:ext cx="1498773" cy="229743"/>
          </a:xfrm>
          <a:prstGeom prst="rect">
            <a:avLst/>
          </a:prstGeom>
          <a:noFill/>
          <a:ln/>
        </p:spPr>
        <p:txBody>
          <a:bodyPr wrap="none" lIns="0" tIns="0" rIns="0" bIns="0" rtlCol="0" anchor="t">
            <a:normAutofit/>
          </a:bodyPr>
          <a:lstStyle/>
          <a:p>
            <a:pPr marL="0" indent="0" algn="l">
              <a:lnSpc>
                <a:spcPts val="1688"/>
              </a:lnSpc>
              <a:buNone/>
            </a:pPr>
            <a:r>
              <a:rPr lang="en-US" sz="1688" b="1" dirty="0">
                <a:solidFill>
                  <a:srgbClr val="FFF100"/>
                </a:solidFill>
                <a:latin typeface="Liberation Sans Narrow" pitchFamily="34" charset="0"/>
                <a:ea typeface="Liberation Sans Narrow" pitchFamily="34" charset="-122"/>
                <a:cs typeface="Liberation Sans Narrow" pitchFamily="34" charset="-120"/>
              </a:rPr>
              <a:t>133 · 11.6%</a:t>
            </a:r>
            <a:endParaRPr lang="en-US" sz="1688" dirty="0"/>
          </a:p>
        </p:txBody>
      </p:sp>
      <p:sp>
        <p:nvSpPr>
          <p:cNvPr id="18" name="Text 15"/>
          <p:cNvSpPr/>
          <p:nvPr/>
        </p:nvSpPr>
        <p:spPr>
          <a:xfrm>
            <a:off x="7188396" y="2837917"/>
            <a:ext cx="1485900" cy="106040"/>
          </a:xfrm>
          <a:prstGeom prst="rect">
            <a:avLst/>
          </a:prstGeom>
          <a:noFill/>
          <a:ln/>
        </p:spPr>
        <p:txBody>
          <a:bodyPr wrap="none" lIns="0" tIns="0" rIns="0" bIns="0" rtlCol="0" anchor="t"/>
          <a:lstStyle/>
          <a:p>
            <a:pPr marL="0" indent="0" algn="l">
              <a:lnSpc>
                <a:spcPts val="835"/>
              </a:lnSpc>
              <a:buNone/>
            </a:pPr>
            <a:r>
              <a:rPr lang="en-US" sz="800" kern="0" spc="31" dirty="0">
                <a:solidFill>
                  <a:srgbClr val="F4F1DE">
                    <a:alpha val="70000"/>
                  </a:srgbClr>
                </a:solidFill>
                <a:latin typeface="Carlito" pitchFamily="34" charset="0"/>
                <a:ea typeface="Carlito" pitchFamily="34" charset="-122"/>
                <a:cs typeface="Carlito" pitchFamily="34" charset="-120"/>
              </a:rPr>
              <a:t>Left-handed</a:t>
            </a:r>
            <a:endParaRPr lang="en-US" sz="800" dirty="0"/>
          </a:p>
        </p:txBody>
      </p:sp>
      <p:sp>
        <p:nvSpPr>
          <p:cNvPr id="19" name="Shape 16"/>
          <p:cNvSpPr/>
          <p:nvPr/>
        </p:nvSpPr>
        <p:spPr>
          <a:xfrm>
            <a:off x="5457825" y="4057650"/>
            <a:ext cx="3286125" cy="0"/>
          </a:xfrm>
          <a:prstGeom prst="line">
            <a:avLst/>
          </a:prstGeom>
          <a:noFill/>
          <a:ln w="7144">
            <a:solidFill>
              <a:srgbClr val="F4F1DE"/>
            </a:solidFill>
            <a:prstDash val="dash"/>
          </a:ln>
        </p:spPr>
      </p:sp>
      <p:sp>
        <p:nvSpPr>
          <p:cNvPr id="20" name="Text 17"/>
          <p:cNvSpPr/>
          <p:nvPr/>
        </p:nvSpPr>
        <p:spPr>
          <a:xfrm>
            <a:off x="5457825" y="4054078"/>
            <a:ext cx="3286125" cy="643405"/>
          </a:xfrm>
          <a:prstGeom prst="rect">
            <a:avLst/>
          </a:prstGeom>
          <a:noFill/>
          <a:ln/>
        </p:spPr>
        <p:txBody>
          <a:bodyPr wrap="square" lIns="0" tIns="100013" rIns="0" bIns="0" rtlCol="0" anchor="t"/>
          <a:lstStyle/>
          <a:p>
            <a:pPr marL="0" indent="0" algn="l">
              <a:lnSpc>
                <a:spcPts val="928"/>
              </a:lnSpc>
              <a:buNone/>
            </a:pPr>
            <a:r>
              <a:rPr lang="en-US" sz="800" kern="0" spc="101" dirty="0">
                <a:solidFill>
                  <a:srgbClr val="FFF100">
                    <a:alpha val="55000"/>
                  </a:srgbClr>
                </a:solidFill>
                <a:latin typeface="Carlito" pitchFamily="34" charset="0"/>
                <a:ea typeface="Carlito" pitchFamily="34" charset="-122"/>
                <a:cs typeface="Carlito" pitchFamily="34" charset="-120"/>
              </a:rPr>
              <a:t>METHODOLOGY:</a:t>
            </a:r>
            <a:r>
              <a:rPr lang="en-US" sz="800" dirty="0">
                <a:solidFill>
                  <a:srgbClr val="F4F1DE">
                    <a:alpha val="55000"/>
                  </a:srgbClr>
                </a:solidFill>
                <a:latin typeface="Carlito" pitchFamily="34" charset="0"/>
                <a:ea typeface="Carlito" pitchFamily="34" charset="-122"/>
                <a:cs typeface="Carlito" pitchFamily="34" charset="-120"/>
              </a:rPr>
              <a:t> </a:t>
            </a:r>
            <a:r>
              <a:rPr lang="en-US" sz="800" dirty="0">
                <a:solidFill>
                  <a:srgbClr val="F4F1DE">
                    <a:alpha val="55000"/>
                  </a:srgbClr>
                </a:solidFill>
                <a:latin typeface="Dubai Light" panose="020B0303030403030204" pitchFamily="34" charset="-78"/>
                <a:ea typeface="Carlito" pitchFamily="34" charset="-122"/>
                <a:cs typeface="Dubai Light" panose="020B0303030403030204" pitchFamily="34" charset="-78"/>
              </a:rPr>
              <a:t>Based on only 1,146 of 2,644 unique players (43.3%) — the remaining 1,498 (56.7%) have no recorded 'plays' value. Should be reported as "among players with known handedness", not generalized to the full player population.</a:t>
            </a:r>
            <a:endParaRPr lang="en-US" sz="800" dirty="0">
              <a:latin typeface="Dubai Light" panose="020B0303030403030204" pitchFamily="34" charset="-78"/>
              <a:cs typeface="Dubai Light" panose="020B0303030403030204" pitchFamily="34" charset="-78"/>
            </a:endParaRPr>
          </a:p>
        </p:txBody>
      </p:sp>
      <p:sp>
        <p:nvSpPr>
          <p:cNvPr id="21" name="Shape 18"/>
          <p:cNvSpPr/>
          <p:nvPr/>
        </p:nvSpPr>
        <p:spPr>
          <a:xfrm>
            <a:off x="400050" y="4618434"/>
            <a:ext cx="8343900" cy="0"/>
          </a:xfrm>
          <a:prstGeom prst="line">
            <a:avLst/>
          </a:prstGeom>
          <a:noFill/>
          <a:ln w="7144">
            <a:solidFill>
              <a:srgbClr val="F4F1DE"/>
            </a:solidFill>
            <a:prstDash val="solid"/>
          </a:ln>
        </p:spPr>
      </p:sp>
      <p:sp>
        <p:nvSpPr>
          <p:cNvPr id="22" name="Text 19"/>
          <p:cNvSpPr/>
          <p:nvPr/>
        </p:nvSpPr>
        <p:spPr>
          <a:xfrm>
            <a:off x="400050" y="4693444"/>
            <a:ext cx="7680313" cy="107156"/>
          </a:xfrm>
          <a:prstGeom prst="rect">
            <a:avLst/>
          </a:prstGeom>
          <a:noFill/>
          <a:ln/>
        </p:spPr>
        <p:txBody>
          <a:bodyPr wrap="square" lIns="0" tIns="0" rIns="0" bIns="0" rtlCol="0" anchor="t"/>
          <a:lstStyle/>
          <a:p>
            <a:pPr marL="0" indent="0" algn="l">
              <a:lnSpc>
                <a:spcPts val="844"/>
              </a:lnSpc>
              <a:buNone/>
            </a:pPr>
            <a:r>
              <a:rPr lang="en-US" sz="800" kern="0" spc="124" dirty="0">
                <a:solidFill>
                  <a:srgbClr val="F4F1DE">
                    <a:alpha val="45000"/>
                  </a:srgbClr>
                </a:solidFill>
                <a:latin typeface="Carlito" pitchFamily="34" charset="0"/>
                <a:ea typeface="Carlito" pitchFamily="34" charset="-122"/>
                <a:cs typeface="Carlito" pitchFamily="34" charset="-120"/>
              </a:rPr>
              <a:t>PRESENTED BY MEHRNOOSH YAGHUBI</a:t>
            </a:r>
            <a:endParaRPr lang="en-US" sz="800" dirty="0"/>
          </a:p>
        </p:txBody>
      </p:sp>
      <p:sp>
        <p:nvSpPr>
          <p:cNvPr id="23" name="Text 20"/>
          <p:cNvSpPr/>
          <p:nvPr/>
        </p:nvSpPr>
        <p:spPr>
          <a:xfrm>
            <a:off x="8094650" y="4660930"/>
            <a:ext cx="649300" cy="139670"/>
          </a:xfrm>
          <a:prstGeom prst="rect">
            <a:avLst/>
          </a:prstGeom>
          <a:noFill/>
          <a:ln/>
        </p:spPr>
        <p:txBody>
          <a:bodyPr wrap="none" lIns="0" tIns="0" rIns="0" bIns="0" rtlCol="0" anchor="t"/>
          <a:lstStyle/>
          <a:p>
            <a:pPr marL="0" indent="0" algn="l">
              <a:lnSpc>
                <a:spcPts val="844"/>
              </a:lnSpc>
              <a:buNone/>
            </a:pPr>
            <a:r>
              <a:rPr lang="en-US" sz="600" kern="0" spc="124" dirty="0">
                <a:solidFill>
                  <a:srgbClr val="F4F1DE">
                    <a:alpha val="45000"/>
                  </a:srgbClr>
                </a:solidFill>
                <a:latin typeface="Carlito" pitchFamily="34" charset="0"/>
                <a:ea typeface="Carlito" pitchFamily="34" charset="-122"/>
                <a:cs typeface="Carlito" pitchFamily="34" charset="-120"/>
              </a:rPr>
              <a:t>SLIDE </a:t>
            </a:r>
            <a:r>
              <a:rPr lang="en-US" sz="600" kern="0" spc="124" dirty="0">
                <a:solidFill>
                  <a:srgbClr val="FFF100">
                    <a:alpha val="45000"/>
                  </a:srgbClr>
                </a:solidFill>
                <a:latin typeface="Liberation Sans Narrow" pitchFamily="34" charset="0"/>
                <a:ea typeface="Liberation Sans Narrow" pitchFamily="34" charset="-122"/>
                <a:cs typeface="Liberation Sans Narrow" pitchFamily="34" charset="-120"/>
              </a:rPr>
              <a:t>07 </a:t>
            </a:r>
            <a:r>
              <a:rPr lang="en-US" sz="600" kern="0" spc="124" dirty="0">
                <a:solidFill>
                  <a:srgbClr val="F4F1DE">
                    <a:alpha val="45000"/>
                  </a:srgbClr>
                </a:solidFill>
                <a:latin typeface="Liberation Sans Narrow" pitchFamily="34" charset="0"/>
                <a:ea typeface="Liberation Sans Narrow" pitchFamily="34" charset="-122"/>
                <a:cs typeface="Liberation Sans Narrow" pitchFamily="34" charset="-120"/>
              </a:rPr>
              <a:t>/ 30</a:t>
            </a:r>
            <a:endParaRPr lang="en-US" sz="600" dirty="0"/>
          </a:p>
        </p:txBody>
      </p:sp>
      <p:pic>
        <p:nvPicPr>
          <p:cNvPr id="25" name="Picture 24">
            <a:extLst>
              <a:ext uri="{FF2B5EF4-FFF2-40B4-BE49-F238E27FC236}">
                <a16:creationId xmlns:a16="http://schemas.microsoft.com/office/drawing/2014/main" id="{FB82B423-82D5-8E9B-87E5-22553CC4231C}"/>
              </a:ext>
            </a:extLst>
          </p:cNvPr>
          <p:cNvPicPr>
            <a:picLocks noChangeAspect="1"/>
          </p:cNvPicPr>
          <p:nvPr/>
        </p:nvPicPr>
        <p:blipFill>
          <a:blip r:embed="rId3"/>
          <a:stretch>
            <a:fillRect/>
          </a:stretch>
        </p:blipFill>
        <p:spPr>
          <a:xfrm>
            <a:off x="528638" y="871823"/>
            <a:ext cx="4270589" cy="35588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4332"/>
          </a:solidFill>
          <a:ln/>
        </p:spPr>
        <p:txBody>
          <a:bodyPr wrap="square" rtlCol="0" anchor="ctr"/>
          <a:lstStyle/>
          <a:p>
            <a:pPr marL="0" indent="0">
              <a:buNone/>
            </a:pPr>
            <a:endParaRPr lang="en-US" dirty="0"/>
          </a:p>
        </p:txBody>
      </p:sp>
      <p:sp>
        <p:nvSpPr>
          <p:cNvPr id="3" name="Shape 1"/>
          <p:cNvSpPr/>
          <p:nvPr/>
        </p:nvSpPr>
        <p:spPr>
          <a:xfrm>
            <a:off x="400050" y="489347"/>
            <a:ext cx="8343900" cy="0"/>
          </a:xfrm>
          <a:prstGeom prst="line">
            <a:avLst/>
          </a:prstGeom>
          <a:noFill/>
          <a:ln w="7144">
            <a:solidFill>
              <a:srgbClr val="F4F1DE"/>
            </a:solidFill>
            <a:prstDash val="solid"/>
          </a:ln>
        </p:spPr>
      </p:sp>
      <p:sp>
        <p:nvSpPr>
          <p:cNvPr id="4" name="Text 2"/>
          <p:cNvSpPr/>
          <p:nvPr/>
        </p:nvSpPr>
        <p:spPr>
          <a:xfrm>
            <a:off x="400050" y="257175"/>
            <a:ext cx="128588" cy="128588"/>
          </a:xfrm>
          <a:prstGeom prst="rect">
            <a:avLst/>
          </a:prstGeom>
          <a:noFill/>
          <a:ln/>
        </p:spPr>
        <p:txBody>
          <a:bodyPr wrap="none" lIns="0" tIns="0" rIns="0" bIns="0" rtlCol="0" anchor="ctr"/>
          <a:lstStyle/>
          <a:p>
            <a:pPr marL="0" indent="0" algn="ctr">
              <a:buNone/>
            </a:pPr>
            <a:r>
              <a:rPr lang="en-US" sz="1266" dirty="0">
                <a:solidFill>
                  <a:srgbClr val="FFF100"/>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600075" y="262533"/>
            <a:ext cx="2612295" cy="123230"/>
          </a:xfrm>
          <a:prstGeom prst="rect">
            <a:avLst/>
          </a:prstGeom>
          <a:noFill/>
          <a:ln/>
        </p:spPr>
        <p:txBody>
          <a:bodyPr wrap="square" lIns="0" tIns="0" rIns="0" bIns="0" rtlCol="0" anchor="t"/>
          <a:lstStyle/>
          <a:p>
            <a:pPr marL="0" indent="0" algn="l">
              <a:lnSpc>
                <a:spcPts val="928"/>
              </a:lnSpc>
              <a:buNone/>
            </a:pPr>
            <a:r>
              <a:rPr lang="en-US" sz="800" kern="0" spc="173">
                <a:solidFill>
                  <a:srgbClr val="F4F1DE">
                    <a:alpha val="55000"/>
                  </a:srgbClr>
                </a:solidFill>
                <a:latin typeface="Carlito" pitchFamily="34" charset="0"/>
                <a:ea typeface="Carlito" pitchFamily="34" charset="-122"/>
                <a:cs typeface="Carlito" pitchFamily="34" charset="-120"/>
              </a:rPr>
              <a:t>Player Profiles &amp; Fan Behavior</a:t>
            </a:r>
            <a:endParaRPr lang="en-US" sz="800" kern="0" spc="173" dirty="0">
              <a:solidFill>
                <a:srgbClr val="F4F1DE">
                  <a:alpha val="55000"/>
                </a:srgbClr>
              </a:solidFill>
              <a:latin typeface="Carlito" pitchFamily="34" charset="0"/>
              <a:ea typeface="Carlito" pitchFamily="34" charset="-122"/>
              <a:cs typeface="Carlito" pitchFamily="34" charset="-120"/>
            </a:endParaRPr>
          </a:p>
        </p:txBody>
      </p:sp>
      <p:sp>
        <p:nvSpPr>
          <p:cNvPr id="6" name="Text 4"/>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Q15 · SECTION 01</a:t>
            </a:r>
            <a:endParaRPr lang="en-US" sz="800" dirty="0"/>
          </a:p>
        </p:txBody>
      </p:sp>
      <p:sp>
        <p:nvSpPr>
          <p:cNvPr id="7" name="Text 5"/>
          <p:cNvSpPr/>
          <p:nvPr/>
        </p:nvSpPr>
        <p:spPr>
          <a:xfrm>
            <a:off x="400050" y="635794"/>
            <a:ext cx="4857750" cy="3879056"/>
          </a:xfrm>
          <a:prstGeom prst="roundRect">
            <a:avLst>
              <a:gd name="adj" fmla="val 1964"/>
            </a:avLst>
          </a:prstGeom>
          <a:solidFill>
            <a:srgbClr val="FFFFFF"/>
          </a:solidFill>
          <a:ln/>
          <a:effectLst>
            <a:outerShdw blurRad="342900" dist="114300" dir="5400000" algn="bl" rotWithShape="0">
              <a:srgbClr val="000000">
                <a:alpha val="32000"/>
              </a:srgbClr>
            </a:outerShdw>
          </a:effectLst>
        </p:spPr>
        <p:txBody>
          <a:bodyPr wrap="square" rtlCol="0" anchor="ctr"/>
          <a:lstStyle/>
          <a:p>
            <a:pPr marL="0" indent="0">
              <a:buNone/>
            </a:pPr>
            <a:endParaRPr lang="en-US" dirty="0"/>
          </a:p>
        </p:txBody>
      </p:sp>
      <p:sp>
        <p:nvSpPr>
          <p:cNvPr id="8" name="Text 6"/>
          <p:cNvSpPr/>
          <p:nvPr/>
        </p:nvSpPr>
        <p:spPr>
          <a:xfrm>
            <a:off x="528638" y="707231"/>
            <a:ext cx="4600575"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9CA3A2"/>
                </a:solidFill>
                <a:latin typeface="Liberation Sans Narrow" pitchFamily="34" charset="0"/>
                <a:ea typeface="Liberation Sans Narrow" pitchFamily="34" charset="-122"/>
                <a:cs typeface="Liberation Sans Narrow" pitchFamily="34" charset="-120"/>
              </a:rPr>
              <a:t>FIG. 6 · COUNTRIES REPRESENTED</a:t>
            </a:r>
            <a:endParaRPr lang="en-US" sz="800" dirty="0"/>
          </a:p>
        </p:txBody>
      </p:sp>
      <p:sp>
        <p:nvSpPr>
          <p:cNvPr id="10" name="Text 7"/>
          <p:cNvSpPr/>
          <p:nvPr/>
        </p:nvSpPr>
        <p:spPr>
          <a:xfrm>
            <a:off x="5457825" y="635794"/>
            <a:ext cx="3286125" cy="425785"/>
          </a:xfrm>
          <a:prstGeom prst="rect">
            <a:avLst/>
          </a:prstGeom>
          <a:noFill/>
          <a:ln/>
        </p:spPr>
        <p:txBody>
          <a:bodyPr wrap="square" lIns="0" tIns="0" rIns="0" bIns="0" rtlCol="0" anchor="t"/>
          <a:lstStyle/>
          <a:p>
            <a:pPr marL="0" indent="0" algn="l">
              <a:lnSpc>
                <a:spcPts val="1553"/>
              </a:lnSpc>
              <a:buNone/>
            </a:pPr>
            <a:r>
              <a:rPr lang="en-US" sz="1294" kern="0" spc="-6" dirty="0">
                <a:solidFill>
                  <a:srgbClr val="F4F1DE"/>
                </a:solidFill>
                <a:latin typeface="Tinos" pitchFamily="34" charset="0"/>
                <a:ea typeface="Tinos" pitchFamily="34" charset="-122"/>
                <a:cs typeface="Tinos" pitchFamily="34" charset="-120"/>
              </a:rPr>
              <a:t>How Many Distinct Countries Are Represented in the Dataset?</a:t>
            </a:r>
            <a:endParaRPr lang="en-US" sz="1294" dirty="0"/>
          </a:p>
        </p:txBody>
      </p:sp>
      <p:sp>
        <p:nvSpPr>
          <p:cNvPr id="11" name="Text 8"/>
          <p:cNvSpPr/>
          <p:nvPr/>
        </p:nvSpPr>
        <p:spPr>
          <a:xfrm>
            <a:off x="5457825" y="1115764"/>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457825" y="1237208"/>
            <a:ext cx="3286125" cy="997919"/>
          </a:xfrm>
          <a:prstGeom prst="rect">
            <a:avLst/>
          </a:prstGeom>
          <a:noFill/>
          <a:ln/>
        </p:spPr>
        <p:txBody>
          <a:bodyPr wrap="square" lIns="0" tIns="0" rIns="0" bIns="0" rtlCol="0" anchor="t">
            <a:normAutofit/>
          </a:bodyPr>
          <a:lstStyle/>
          <a:p>
            <a:pPr marL="0" indent="0" algn="l">
              <a:lnSpc>
                <a:spcPts val="1177"/>
              </a:lnSpc>
              <a:buNone/>
            </a:pPr>
            <a:r>
              <a:rPr lang="en-US" sz="900" dirty="0">
                <a:solidFill>
                  <a:srgbClr val="F4F1DE">
                    <a:alpha val="92000"/>
                  </a:srgbClr>
                </a:solidFill>
                <a:latin typeface="Candara" panose="020E0502030303020204" pitchFamily="34" charset="0"/>
                <a:ea typeface="Carlito" pitchFamily="34" charset="-122"/>
                <a:cs typeface="Carlito" pitchFamily="34" charset="-120"/>
              </a:rPr>
              <a:t>The dataset spans 100 distinct countries, reflecting the deeply global nature of professional tennis. Only 1 player has no recorded country, indicating near-complete geographic coverage. This breadth mirrors the international structure of the ATP, WTA, and ITF circuits, which span every continent and draw players from both traditional powerhouses and emerging tennis nations.</a:t>
            </a:r>
            <a:endParaRPr lang="en-US" sz="900" dirty="0">
              <a:latin typeface="Candara" panose="020E0502030303020204" pitchFamily="34" charset="0"/>
            </a:endParaRPr>
          </a:p>
        </p:txBody>
      </p:sp>
      <p:sp>
        <p:nvSpPr>
          <p:cNvPr id="13" name="Shape 10"/>
          <p:cNvSpPr/>
          <p:nvPr/>
        </p:nvSpPr>
        <p:spPr>
          <a:xfrm>
            <a:off x="5468541" y="2262560"/>
            <a:ext cx="0" cy="493588"/>
          </a:xfrm>
          <a:prstGeom prst="line">
            <a:avLst/>
          </a:prstGeom>
          <a:noFill/>
          <a:ln w="21431">
            <a:solidFill>
              <a:srgbClr val="FFF100"/>
            </a:solidFill>
            <a:prstDash val="solid"/>
          </a:ln>
        </p:spPr>
      </p:sp>
      <p:sp>
        <p:nvSpPr>
          <p:cNvPr id="14" name="Text 11"/>
          <p:cNvSpPr/>
          <p:nvPr/>
        </p:nvSpPr>
        <p:spPr>
          <a:xfrm>
            <a:off x="5550305" y="2262560"/>
            <a:ext cx="1018047" cy="432054"/>
          </a:xfrm>
          <a:prstGeom prst="rect">
            <a:avLst/>
          </a:prstGeom>
          <a:noFill/>
          <a:ln/>
        </p:spPr>
        <p:txBody>
          <a:bodyPr wrap="none" lIns="0" tIns="0" rIns="0" bIns="0" rtlCol="0" anchor="t"/>
          <a:lstStyle/>
          <a:p>
            <a:pPr marL="0" indent="0" algn="l">
              <a:lnSpc>
                <a:spcPts val="3150"/>
              </a:lnSpc>
              <a:buNone/>
            </a:pPr>
            <a:r>
              <a:rPr lang="en-US" sz="3150" b="1" dirty="0">
                <a:solidFill>
                  <a:srgbClr val="FFF100"/>
                </a:solidFill>
                <a:latin typeface="Liberation Sans Narrow" pitchFamily="34" charset="0"/>
                <a:ea typeface="Liberation Sans Narrow" pitchFamily="34" charset="-122"/>
                <a:cs typeface="Liberation Sans Narrow" pitchFamily="34" charset="-120"/>
              </a:rPr>
              <a:t>100</a:t>
            </a:r>
            <a:endParaRPr lang="en-US" sz="3150" dirty="0"/>
          </a:p>
        </p:txBody>
      </p:sp>
      <p:sp>
        <p:nvSpPr>
          <p:cNvPr id="15" name="Text 12"/>
          <p:cNvSpPr/>
          <p:nvPr/>
        </p:nvSpPr>
        <p:spPr>
          <a:xfrm>
            <a:off x="6279356" y="2505447"/>
            <a:ext cx="2464594" cy="250701"/>
          </a:xfrm>
          <a:prstGeom prst="rect">
            <a:avLst/>
          </a:prstGeom>
          <a:noFill/>
          <a:ln/>
        </p:spPr>
        <p:txBody>
          <a:bodyPr wrap="square" lIns="0" tIns="0" rIns="0" bIns="0" rtlCol="0" anchor="t"/>
          <a:lstStyle/>
          <a:p>
            <a:pPr marL="0" indent="0" algn="l">
              <a:lnSpc>
                <a:spcPts val="987"/>
              </a:lnSpc>
              <a:buNone/>
            </a:pPr>
            <a:r>
              <a:rPr lang="en-US" sz="800" kern="0" spc="37" dirty="0">
                <a:solidFill>
                  <a:srgbClr val="F4F1DE">
                    <a:alpha val="82000"/>
                  </a:srgbClr>
                </a:solidFill>
                <a:latin typeface="Carlito" pitchFamily="34" charset="0"/>
                <a:ea typeface="Carlito" pitchFamily="34" charset="-122"/>
                <a:cs typeface="Carlito" pitchFamily="34" charset="-120"/>
              </a:rPr>
              <a:t>distinct countries represented</a:t>
            </a:r>
            <a:endParaRPr lang="en-US" sz="800" dirty="0"/>
          </a:p>
          <a:p>
            <a:pPr marL="0" indent="0" algn="l">
              <a:lnSpc>
                <a:spcPts val="987"/>
              </a:lnSpc>
              <a:buNone/>
            </a:pPr>
            <a:r>
              <a:rPr lang="en-US" sz="800" kern="0" spc="37" dirty="0">
                <a:solidFill>
                  <a:srgbClr val="F4F1DE">
                    <a:alpha val="82000"/>
                  </a:srgbClr>
                </a:solidFill>
                <a:latin typeface="Liberation Sans Narrow" pitchFamily="34" charset="0"/>
                <a:ea typeface="Liberation Sans Narrow" pitchFamily="34" charset="-122"/>
                <a:cs typeface="Liberation Sans Narrow" pitchFamily="34" charset="-120"/>
              </a:rPr>
              <a:t>across 2,644 players</a:t>
            </a:r>
            <a:endParaRPr lang="en-US" sz="800" dirty="0"/>
          </a:p>
        </p:txBody>
      </p:sp>
      <p:sp>
        <p:nvSpPr>
          <p:cNvPr id="16" name="Shape 13"/>
          <p:cNvSpPr/>
          <p:nvPr/>
        </p:nvSpPr>
        <p:spPr>
          <a:xfrm>
            <a:off x="5457825" y="4057650"/>
            <a:ext cx="3286125" cy="0"/>
          </a:xfrm>
          <a:prstGeom prst="line">
            <a:avLst/>
          </a:prstGeom>
          <a:noFill/>
          <a:ln w="7144">
            <a:solidFill>
              <a:srgbClr val="F4F1DE"/>
            </a:solidFill>
            <a:prstDash val="dash"/>
          </a:ln>
        </p:spPr>
      </p:sp>
      <p:sp>
        <p:nvSpPr>
          <p:cNvPr id="17" name="Text 14"/>
          <p:cNvSpPr/>
          <p:nvPr/>
        </p:nvSpPr>
        <p:spPr>
          <a:xfrm>
            <a:off x="5457825" y="4054078"/>
            <a:ext cx="3286125" cy="643405"/>
          </a:xfrm>
          <a:prstGeom prst="rect">
            <a:avLst/>
          </a:prstGeom>
          <a:noFill/>
          <a:ln/>
        </p:spPr>
        <p:txBody>
          <a:bodyPr wrap="square" lIns="0" tIns="100013" rIns="0" bIns="0" rtlCol="0" anchor="t"/>
          <a:lstStyle/>
          <a:p>
            <a:pPr marL="0" indent="0" algn="l">
              <a:lnSpc>
                <a:spcPts val="928"/>
              </a:lnSpc>
              <a:buNone/>
            </a:pPr>
            <a:r>
              <a:rPr lang="en-US" sz="800" kern="0" spc="101" dirty="0">
                <a:solidFill>
                  <a:srgbClr val="FFF100">
                    <a:alpha val="55000"/>
                  </a:srgbClr>
                </a:solidFill>
                <a:latin typeface="Carlito" pitchFamily="34" charset="0"/>
                <a:ea typeface="Carlito" pitchFamily="34" charset="-122"/>
                <a:cs typeface="Carlito" pitchFamily="34" charset="-120"/>
              </a:rPr>
              <a:t>METHODOLOGY</a:t>
            </a:r>
            <a:r>
              <a:rPr lang="en-US" sz="800" dirty="0">
                <a:solidFill>
                  <a:srgbClr val="F4F1DE">
                    <a:alpha val="55000"/>
                  </a:srgbClr>
                </a:solidFill>
                <a:latin typeface="Carlito" pitchFamily="34" charset="0"/>
                <a:ea typeface="Carlito" pitchFamily="34" charset="-122"/>
                <a:cs typeface="Carlito" pitchFamily="34" charset="-120"/>
              </a:rPr>
              <a:t> Country attribution from player records. Near-complete coverage (only 1 player missing country). The global spread is consistent with the international tournament structure across ATP, WTA, and ITF circuits.</a:t>
            </a:r>
            <a:endParaRPr lang="en-US" sz="800" dirty="0"/>
          </a:p>
        </p:txBody>
      </p:sp>
      <p:sp>
        <p:nvSpPr>
          <p:cNvPr id="18" name="Shape 15"/>
          <p:cNvSpPr/>
          <p:nvPr/>
        </p:nvSpPr>
        <p:spPr>
          <a:xfrm>
            <a:off x="400050" y="4618434"/>
            <a:ext cx="8343900" cy="0"/>
          </a:xfrm>
          <a:prstGeom prst="line">
            <a:avLst/>
          </a:prstGeom>
          <a:noFill/>
          <a:ln w="7144">
            <a:solidFill>
              <a:srgbClr val="F4F1DE"/>
            </a:solidFill>
            <a:prstDash val="solid"/>
          </a:ln>
        </p:spPr>
      </p:sp>
      <p:sp>
        <p:nvSpPr>
          <p:cNvPr id="19" name="Text 16"/>
          <p:cNvSpPr/>
          <p:nvPr/>
        </p:nvSpPr>
        <p:spPr>
          <a:xfrm>
            <a:off x="400050" y="4693444"/>
            <a:ext cx="7680313" cy="107156"/>
          </a:xfrm>
          <a:prstGeom prst="rect">
            <a:avLst/>
          </a:prstGeom>
          <a:noFill/>
          <a:ln/>
        </p:spPr>
        <p:txBody>
          <a:bodyPr wrap="square" lIns="0" tIns="0" rIns="0" bIns="0" rtlCol="0" anchor="t"/>
          <a:lstStyle/>
          <a:p>
            <a:pPr marL="0" indent="0" algn="l">
              <a:lnSpc>
                <a:spcPts val="844"/>
              </a:lnSpc>
              <a:buNone/>
            </a:pPr>
            <a:r>
              <a:rPr lang="en-US" sz="800" kern="0" spc="124" dirty="0">
                <a:solidFill>
                  <a:srgbClr val="F4F1DE">
                    <a:alpha val="45000"/>
                  </a:srgbClr>
                </a:solidFill>
                <a:latin typeface="Carlito" pitchFamily="34" charset="0"/>
                <a:ea typeface="Carlito" pitchFamily="34" charset="-122"/>
                <a:cs typeface="Carlito" pitchFamily="34" charset="-120"/>
              </a:rPr>
              <a:t>PRESENTED BY MEHRNOOSH YAGHUBI</a:t>
            </a:r>
            <a:endParaRPr lang="en-US" sz="800" dirty="0"/>
          </a:p>
        </p:txBody>
      </p:sp>
      <p:sp>
        <p:nvSpPr>
          <p:cNvPr id="20" name="Text 17"/>
          <p:cNvSpPr/>
          <p:nvPr/>
        </p:nvSpPr>
        <p:spPr>
          <a:xfrm>
            <a:off x="8094650" y="4693444"/>
            <a:ext cx="649300" cy="107156"/>
          </a:xfrm>
          <a:prstGeom prst="rect">
            <a:avLst/>
          </a:prstGeom>
          <a:noFill/>
          <a:ln/>
        </p:spPr>
        <p:txBody>
          <a:bodyPr wrap="none" lIns="0" tIns="0" rIns="0" bIns="0" rtlCol="0" anchor="t"/>
          <a:lstStyle/>
          <a:p>
            <a:pPr marL="0" indent="0" algn="l">
              <a:lnSpc>
                <a:spcPts val="844"/>
              </a:lnSpc>
              <a:buNone/>
            </a:pPr>
            <a:r>
              <a:rPr lang="en-US" sz="600" kern="0" spc="124" dirty="0">
                <a:solidFill>
                  <a:srgbClr val="F4F1DE">
                    <a:alpha val="45000"/>
                  </a:srgbClr>
                </a:solidFill>
                <a:latin typeface="Carlito" pitchFamily="34" charset="0"/>
                <a:ea typeface="Carlito" pitchFamily="34" charset="-122"/>
                <a:cs typeface="Carlito" pitchFamily="34" charset="-120"/>
              </a:rPr>
              <a:t>SLIDE </a:t>
            </a:r>
            <a:r>
              <a:rPr lang="en-US" sz="600" kern="0" spc="124" dirty="0">
                <a:solidFill>
                  <a:srgbClr val="FFF100">
                    <a:alpha val="45000"/>
                  </a:srgbClr>
                </a:solidFill>
                <a:latin typeface="Liberation Sans Narrow" pitchFamily="34" charset="0"/>
                <a:ea typeface="Liberation Sans Narrow" pitchFamily="34" charset="-122"/>
                <a:cs typeface="Liberation Sans Narrow" pitchFamily="34" charset="-120"/>
              </a:rPr>
              <a:t>08</a:t>
            </a:r>
            <a:r>
              <a:rPr lang="en-US" sz="600" kern="0" spc="124" dirty="0">
                <a:solidFill>
                  <a:srgbClr val="F4F1DE">
                    <a:alpha val="45000"/>
                  </a:srgbClr>
                </a:solidFill>
                <a:latin typeface="Liberation Sans Narrow" pitchFamily="34" charset="0"/>
                <a:ea typeface="Liberation Sans Narrow" pitchFamily="34" charset="-122"/>
                <a:cs typeface="Liberation Sans Narrow" pitchFamily="34" charset="-120"/>
              </a:rPr>
              <a:t> / 30</a:t>
            </a:r>
            <a:endParaRPr lang="en-US" sz="600" dirty="0"/>
          </a:p>
        </p:txBody>
      </p:sp>
      <p:pic>
        <p:nvPicPr>
          <p:cNvPr id="22" name="Picture 21">
            <a:extLst>
              <a:ext uri="{FF2B5EF4-FFF2-40B4-BE49-F238E27FC236}">
                <a16:creationId xmlns:a16="http://schemas.microsoft.com/office/drawing/2014/main" id="{B21C7630-5ACF-08CF-6ADE-3343A95B7673}"/>
              </a:ext>
            </a:extLst>
          </p:cNvPr>
          <p:cNvPicPr>
            <a:picLocks noChangeAspect="1"/>
          </p:cNvPicPr>
          <p:nvPr/>
        </p:nvPicPr>
        <p:blipFill>
          <a:blip r:embed="rId3"/>
          <a:stretch>
            <a:fillRect/>
          </a:stretch>
        </p:blipFill>
        <p:spPr>
          <a:xfrm>
            <a:off x="532431" y="1158215"/>
            <a:ext cx="4596782" cy="30665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4332"/>
          </a:solidFill>
          <a:ln/>
        </p:spPr>
        <p:txBody>
          <a:bodyPr wrap="square" rtlCol="0" anchor="ctr"/>
          <a:lstStyle/>
          <a:p>
            <a:pPr marL="0" indent="0">
              <a:buNone/>
            </a:pPr>
            <a:endParaRPr lang="en-US" dirty="0"/>
          </a:p>
        </p:txBody>
      </p:sp>
      <p:sp>
        <p:nvSpPr>
          <p:cNvPr id="3" name="Shape 1"/>
          <p:cNvSpPr/>
          <p:nvPr/>
        </p:nvSpPr>
        <p:spPr>
          <a:xfrm>
            <a:off x="400050" y="489347"/>
            <a:ext cx="8343900" cy="0"/>
          </a:xfrm>
          <a:prstGeom prst="line">
            <a:avLst/>
          </a:prstGeom>
          <a:noFill/>
          <a:ln w="7144">
            <a:solidFill>
              <a:srgbClr val="F4F1DE"/>
            </a:solidFill>
            <a:prstDash val="solid"/>
          </a:ln>
        </p:spPr>
      </p:sp>
      <p:sp>
        <p:nvSpPr>
          <p:cNvPr id="4" name="Text 2"/>
          <p:cNvSpPr/>
          <p:nvPr/>
        </p:nvSpPr>
        <p:spPr>
          <a:xfrm>
            <a:off x="400050" y="257175"/>
            <a:ext cx="128588" cy="128588"/>
          </a:xfrm>
          <a:prstGeom prst="rect">
            <a:avLst/>
          </a:prstGeom>
          <a:noFill/>
          <a:ln/>
        </p:spPr>
        <p:txBody>
          <a:bodyPr wrap="none" lIns="0" tIns="0" rIns="0" bIns="0" rtlCol="0" anchor="ctr"/>
          <a:lstStyle/>
          <a:p>
            <a:pPr marL="0" indent="0" algn="ctr">
              <a:buNone/>
            </a:pPr>
            <a:r>
              <a:rPr lang="en-US" sz="1266" dirty="0">
                <a:solidFill>
                  <a:srgbClr val="FFF100"/>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600075" y="262533"/>
            <a:ext cx="2612295" cy="123230"/>
          </a:xfrm>
          <a:prstGeom prst="rect">
            <a:avLst/>
          </a:prstGeom>
          <a:noFill/>
          <a:ln/>
        </p:spPr>
        <p:txBody>
          <a:bodyPr wrap="square" lIns="0" tIns="0" rIns="0" bIns="0" rtlCol="0" anchor="t"/>
          <a:lstStyle/>
          <a:p>
            <a:pPr marL="0" indent="0" algn="l">
              <a:lnSpc>
                <a:spcPts val="928"/>
              </a:lnSpc>
              <a:buNone/>
            </a:pPr>
            <a:r>
              <a:rPr lang="en-US" sz="800" kern="0" spc="173" dirty="0">
                <a:solidFill>
                  <a:srgbClr val="F4F1DE">
                    <a:alpha val="55000"/>
                  </a:srgbClr>
                </a:solidFill>
                <a:latin typeface="Carlito" pitchFamily="34" charset="0"/>
                <a:ea typeface="Carlito" pitchFamily="34" charset="-122"/>
                <a:cs typeface="Carlito" pitchFamily="34" charset="-120"/>
              </a:rPr>
              <a:t>Player Profiles &amp; Fan Behavior</a:t>
            </a:r>
          </a:p>
        </p:txBody>
      </p:sp>
      <p:sp>
        <p:nvSpPr>
          <p:cNvPr id="6" name="Text 4"/>
          <p:cNvSpPr/>
          <p:nvPr/>
        </p:nvSpPr>
        <p:spPr>
          <a:xfrm>
            <a:off x="7710562" y="262533"/>
            <a:ext cx="1033388" cy="12323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OP1 · SECTION 01</a:t>
            </a:r>
            <a:endParaRPr lang="en-US" sz="800" dirty="0"/>
          </a:p>
        </p:txBody>
      </p:sp>
      <p:sp>
        <p:nvSpPr>
          <p:cNvPr id="7" name="Text 5"/>
          <p:cNvSpPr/>
          <p:nvPr/>
        </p:nvSpPr>
        <p:spPr>
          <a:xfrm>
            <a:off x="400050" y="635794"/>
            <a:ext cx="4857750" cy="3893344"/>
          </a:xfrm>
          <a:prstGeom prst="roundRect">
            <a:avLst>
              <a:gd name="adj" fmla="val 1957"/>
            </a:avLst>
          </a:prstGeom>
          <a:solidFill>
            <a:srgbClr val="FFFFFF"/>
          </a:solidFill>
          <a:ln/>
          <a:effectLst>
            <a:outerShdw blurRad="342900" dist="114300" dir="5400000" algn="bl" rotWithShape="0">
              <a:srgbClr val="000000">
                <a:alpha val="32000"/>
              </a:srgbClr>
            </a:outerShdw>
          </a:effectLst>
        </p:spPr>
        <p:txBody>
          <a:bodyPr wrap="square" rtlCol="0" anchor="ctr"/>
          <a:lstStyle/>
          <a:p>
            <a:pPr marL="0" indent="0">
              <a:buNone/>
            </a:pPr>
            <a:endParaRPr lang="en-US" dirty="0"/>
          </a:p>
        </p:txBody>
      </p:sp>
      <p:sp>
        <p:nvSpPr>
          <p:cNvPr id="8" name="Text 6"/>
          <p:cNvSpPr/>
          <p:nvPr/>
        </p:nvSpPr>
        <p:spPr>
          <a:xfrm>
            <a:off x="528638" y="707231"/>
            <a:ext cx="4600575"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9CA3A2"/>
                </a:solidFill>
                <a:latin typeface="Liberation Sans Narrow" pitchFamily="34" charset="0"/>
                <a:ea typeface="Liberation Sans Narrow" pitchFamily="34" charset="-122"/>
                <a:cs typeface="Liberation Sans Narrow" pitchFamily="34" charset="-120"/>
              </a:rPr>
              <a:t>FIG. 7 · FAN VOTE SHARE BY MATCHUP</a:t>
            </a:r>
            <a:endParaRPr lang="en-US" sz="800" dirty="0"/>
          </a:p>
        </p:txBody>
      </p:sp>
      <p:sp>
        <p:nvSpPr>
          <p:cNvPr id="10" name="Text 7"/>
          <p:cNvSpPr/>
          <p:nvPr/>
        </p:nvSpPr>
        <p:spPr>
          <a:xfrm>
            <a:off x="5457825" y="635794"/>
            <a:ext cx="3286125" cy="413971"/>
          </a:xfrm>
          <a:prstGeom prst="rect">
            <a:avLst/>
          </a:prstGeom>
          <a:noFill/>
          <a:ln/>
        </p:spPr>
        <p:txBody>
          <a:bodyPr wrap="square" lIns="0" tIns="0" rIns="0" bIns="0" rtlCol="0" anchor="t"/>
          <a:lstStyle/>
          <a:p>
            <a:pPr marL="0" indent="0" algn="l">
              <a:lnSpc>
                <a:spcPts val="1510"/>
              </a:lnSpc>
              <a:buNone/>
            </a:pPr>
            <a:r>
              <a:rPr lang="en-US" sz="1238" kern="0" spc="-6" dirty="0">
                <a:solidFill>
                  <a:srgbClr val="F4F1DE"/>
                </a:solidFill>
                <a:latin typeface="Tinos" pitchFamily="34" charset="0"/>
                <a:ea typeface="Tinos" pitchFamily="34" charset="-122"/>
                <a:cs typeface="Tinos" pitchFamily="34" charset="-120"/>
              </a:rPr>
              <a:t>Is Fan Vote Share Systematically Biased Toward the 'Home' Label?</a:t>
            </a:r>
            <a:endParaRPr lang="en-US" sz="1238" dirty="0"/>
          </a:p>
        </p:txBody>
      </p:sp>
      <p:sp>
        <p:nvSpPr>
          <p:cNvPr id="11" name="Text 8"/>
          <p:cNvSpPr/>
          <p:nvPr/>
        </p:nvSpPr>
        <p:spPr>
          <a:xfrm>
            <a:off x="5457825" y="1090538"/>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457825" y="1197694"/>
            <a:ext cx="3286125" cy="908399"/>
          </a:xfrm>
          <a:prstGeom prst="rect">
            <a:avLst/>
          </a:prstGeom>
          <a:noFill/>
          <a:ln/>
        </p:spPr>
        <p:txBody>
          <a:bodyPr wrap="square" lIns="0" tIns="0" rIns="0" bIns="0" rtlCol="0" anchor="t">
            <a:normAutofit/>
          </a:bodyPr>
          <a:lstStyle/>
          <a:p>
            <a:pPr marL="0" indent="0" algn="l">
              <a:lnSpc>
                <a:spcPts val="1097"/>
              </a:lnSpc>
              <a:buNone/>
            </a:pPr>
            <a:r>
              <a:rPr lang="en-US" sz="900" dirty="0">
                <a:solidFill>
                  <a:srgbClr val="F4F1DE">
                    <a:alpha val="92000"/>
                  </a:srgbClr>
                </a:solidFill>
                <a:latin typeface="Candara" panose="020E0502030303020204" pitchFamily="34" charset="0"/>
                <a:ea typeface="Carlito" pitchFamily="34" charset="-122"/>
                <a:cs typeface="Carlito" pitchFamily="34" charset="-120"/>
              </a:rPr>
              <a:t>A Simpson's-paradox-like result. The overall 52.25% home vote share looks like a small home bias, but after controlling for ranking, fans correctly favor whichever player is actually better-ranked — regardless of the home/away label. When home is the underdog, fans shift to away (32% for home); when home is the favorite, fans favor home (69.5%). </a:t>
            </a:r>
            <a:r>
              <a:rPr lang="en-US" sz="900" dirty="0">
                <a:solidFill>
                  <a:srgbClr val="FFF100">
                    <a:alpha val="92000"/>
                  </a:srgbClr>
                </a:solidFill>
                <a:latin typeface="Candara" panose="020E0502030303020204" pitchFamily="34" charset="0"/>
                <a:ea typeface="Carlito" pitchFamily="34" charset="-122"/>
                <a:cs typeface="Carlito" pitchFamily="34" charset="-120"/>
              </a:rPr>
              <a:t>The labeling-bias hypothesis is REJECTED.</a:t>
            </a:r>
            <a:endParaRPr lang="en-US" sz="900" dirty="0">
              <a:latin typeface="Candara" panose="020E0502030303020204" pitchFamily="34" charset="0"/>
            </a:endParaRPr>
          </a:p>
        </p:txBody>
      </p:sp>
      <p:sp>
        <p:nvSpPr>
          <p:cNvPr id="13" name="Shape 10"/>
          <p:cNvSpPr/>
          <p:nvPr/>
        </p:nvSpPr>
        <p:spPr>
          <a:xfrm>
            <a:off x="5468541" y="2354746"/>
            <a:ext cx="0" cy="171450"/>
          </a:xfrm>
          <a:prstGeom prst="line">
            <a:avLst/>
          </a:prstGeom>
          <a:noFill/>
          <a:ln w="21431">
            <a:solidFill>
              <a:srgbClr val="FFF100"/>
            </a:solidFill>
            <a:prstDash val="solid"/>
          </a:ln>
        </p:spPr>
      </p:sp>
      <p:sp>
        <p:nvSpPr>
          <p:cNvPr id="14" name="Text 11"/>
          <p:cNvSpPr/>
          <p:nvPr/>
        </p:nvSpPr>
        <p:spPr>
          <a:xfrm>
            <a:off x="5564981" y="2354746"/>
            <a:ext cx="970836" cy="171450"/>
          </a:xfrm>
          <a:prstGeom prst="rect">
            <a:avLst/>
          </a:prstGeom>
          <a:noFill/>
          <a:ln/>
        </p:spPr>
        <p:txBody>
          <a:bodyPr wrap="none" lIns="0" tIns="0" rIns="0" bIns="0" rtlCol="0" anchor="t"/>
          <a:lstStyle/>
          <a:p>
            <a:pPr marL="0" indent="0" algn="l">
              <a:lnSpc>
                <a:spcPts val="1350"/>
              </a:lnSpc>
              <a:buNone/>
            </a:pPr>
            <a:r>
              <a:rPr lang="en-US" sz="1350" b="1" dirty="0">
                <a:solidFill>
                  <a:srgbClr val="FFF100"/>
                </a:solidFill>
                <a:latin typeface="Liberation Sans Narrow" pitchFamily="34" charset="0"/>
                <a:ea typeface="Liberation Sans Narrow" pitchFamily="34" charset="-122"/>
                <a:cs typeface="Liberation Sans Narrow" pitchFamily="34" charset="-120"/>
              </a:rPr>
              <a:t>52.25%</a:t>
            </a:r>
            <a:endParaRPr lang="en-US" sz="1350" dirty="0"/>
          </a:p>
        </p:txBody>
      </p:sp>
      <p:sp>
        <p:nvSpPr>
          <p:cNvPr id="15" name="Text 12"/>
          <p:cNvSpPr/>
          <p:nvPr/>
        </p:nvSpPr>
        <p:spPr>
          <a:xfrm>
            <a:off x="6279356" y="2419039"/>
            <a:ext cx="2464594" cy="107156"/>
          </a:xfrm>
          <a:prstGeom prst="rect">
            <a:avLst/>
          </a:prstGeom>
          <a:noFill/>
          <a:ln/>
        </p:spPr>
        <p:txBody>
          <a:bodyPr wrap="square" lIns="0" tIns="0" rIns="0" bIns="0" rtlCol="0" anchor="t"/>
          <a:lstStyle/>
          <a:p>
            <a:pPr marL="0" indent="0" algn="l">
              <a:lnSpc>
                <a:spcPts val="835"/>
              </a:lnSpc>
              <a:buNone/>
            </a:pPr>
            <a:r>
              <a:rPr lang="en-US" sz="619" kern="0" spc="25" dirty="0">
                <a:solidFill>
                  <a:srgbClr val="F4F1DE">
                    <a:alpha val="78000"/>
                  </a:srgbClr>
                </a:solidFill>
                <a:latin typeface="Carlito" pitchFamily="34" charset="0"/>
                <a:ea typeface="Carlito" pitchFamily="34" charset="-122"/>
                <a:cs typeface="Carlito" pitchFamily="34" charset="-120"/>
              </a:rPr>
              <a:t>overall home vote share (t = 8.52, p &lt; 0.0001)</a:t>
            </a:r>
            <a:endParaRPr lang="en-US" sz="619" dirty="0"/>
          </a:p>
        </p:txBody>
      </p:sp>
      <p:sp>
        <p:nvSpPr>
          <p:cNvPr id="16" name="Shape 13"/>
          <p:cNvSpPr/>
          <p:nvPr/>
        </p:nvSpPr>
        <p:spPr>
          <a:xfrm>
            <a:off x="5468541" y="2597633"/>
            <a:ext cx="0" cy="171450"/>
          </a:xfrm>
          <a:prstGeom prst="line">
            <a:avLst/>
          </a:prstGeom>
          <a:noFill/>
          <a:ln w="21431">
            <a:solidFill>
              <a:srgbClr val="FFF100"/>
            </a:solidFill>
            <a:prstDash val="solid"/>
          </a:ln>
        </p:spPr>
      </p:sp>
      <p:sp>
        <p:nvSpPr>
          <p:cNvPr id="17" name="Text 14"/>
          <p:cNvSpPr/>
          <p:nvPr/>
        </p:nvSpPr>
        <p:spPr>
          <a:xfrm>
            <a:off x="5564981" y="2597633"/>
            <a:ext cx="970836" cy="171450"/>
          </a:xfrm>
          <a:prstGeom prst="rect">
            <a:avLst/>
          </a:prstGeom>
          <a:noFill/>
          <a:ln/>
        </p:spPr>
        <p:txBody>
          <a:bodyPr wrap="none" lIns="0" tIns="0" rIns="0" bIns="0" rtlCol="0" anchor="t"/>
          <a:lstStyle/>
          <a:p>
            <a:pPr marL="0" indent="0" algn="l">
              <a:lnSpc>
                <a:spcPts val="1350"/>
              </a:lnSpc>
              <a:buNone/>
            </a:pPr>
            <a:r>
              <a:rPr lang="en-US" sz="1350" b="1" dirty="0">
                <a:solidFill>
                  <a:srgbClr val="FFF100"/>
                </a:solidFill>
                <a:latin typeface="Liberation Sans Narrow" pitchFamily="34" charset="0"/>
                <a:ea typeface="Liberation Sans Narrow" pitchFamily="34" charset="-122"/>
                <a:cs typeface="Liberation Sans Narrow" pitchFamily="34" charset="-120"/>
              </a:rPr>
              <a:t>69.52%</a:t>
            </a:r>
            <a:endParaRPr lang="en-US" sz="1350" dirty="0"/>
          </a:p>
        </p:txBody>
      </p:sp>
      <p:sp>
        <p:nvSpPr>
          <p:cNvPr id="18" name="Text 15"/>
          <p:cNvSpPr/>
          <p:nvPr/>
        </p:nvSpPr>
        <p:spPr>
          <a:xfrm>
            <a:off x="6279356" y="2661927"/>
            <a:ext cx="2464594" cy="107156"/>
          </a:xfrm>
          <a:prstGeom prst="rect">
            <a:avLst/>
          </a:prstGeom>
          <a:noFill/>
          <a:ln/>
        </p:spPr>
        <p:txBody>
          <a:bodyPr wrap="square" lIns="0" tIns="0" rIns="0" bIns="0" rtlCol="0" anchor="t"/>
          <a:lstStyle/>
          <a:p>
            <a:pPr marL="0" indent="0" algn="l">
              <a:lnSpc>
                <a:spcPts val="835"/>
              </a:lnSpc>
              <a:buNone/>
            </a:pPr>
            <a:r>
              <a:rPr lang="en-US" sz="800" kern="0" spc="25" dirty="0">
                <a:solidFill>
                  <a:srgbClr val="F4F1DE">
                    <a:alpha val="78000"/>
                  </a:srgbClr>
                </a:solidFill>
                <a:latin typeface="Carlito" pitchFamily="34" charset="0"/>
                <a:ea typeface="Carlito" pitchFamily="34" charset="-122"/>
                <a:cs typeface="Carlito" pitchFamily="34" charset="-120"/>
              </a:rPr>
              <a:t>when home is the favorite (n = 5,206)</a:t>
            </a:r>
            <a:endParaRPr lang="en-US" sz="800" dirty="0"/>
          </a:p>
        </p:txBody>
      </p:sp>
      <p:sp>
        <p:nvSpPr>
          <p:cNvPr id="19" name="Shape 16"/>
          <p:cNvSpPr/>
          <p:nvPr/>
        </p:nvSpPr>
        <p:spPr>
          <a:xfrm>
            <a:off x="5468541" y="2840521"/>
            <a:ext cx="0" cy="171450"/>
          </a:xfrm>
          <a:prstGeom prst="line">
            <a:avLst/>
          </a:prstGeom>
          <a:noFill/>
          <a:ln w="21431">
            <a:solidFill>
              <a:srgbClr val="FFF100"/>
            </a:solidFill>
            <a:prstDash val="solid"/>
          </a:ln>
        </p:spPr>
      </p:sp>
      <p:sp>
        <p:nvSpPr>
          <p:cNvPr id="20" name="Text 17"/>
          <p:cNvSpPr/>
          <p:nvPr/>
        </p:nvSpPr>
        <p:spPr>
          <a:xfrm>
            <a:off x="5564981" y="2840521"/>
            <a:ext cx="970836" cy="171450"/>
          </a:xfrm>
          <a:prstGeom prst="rect">
            <a:avLst/>
          </a:prstGeom>
          <a:noFill/>
          <a:ln/>
        </p:spPr>
        <p:txBody>
          <a:bodyPr wrap="none" lIns="0" tIns="0" rIns="0" bIns="0" rtlCol="0" anchor="t"/>
          <a:lstStyle/>
          <a:p>
            <a:pPr marL="0" indent="0" algn="l">
              <a:lnSpc>
                <a:spcPts val="1350"/>
              </a:lnSpc>
              <a:buNone/>
            </a:pPr>
            <a:r>
              <a:rPr lang="en-US" sz="1350" b="1" dirty="0">
                <a:solidFill>
                  <a:srgbClr val="FFF100"/>
                </a:solidFill>
                <a:latin typeface="Liberation Sans Narrow" pitchFamily="34" charset="0"/>
                <a:ea typeface="Liberation Sans Narrow" pitchFamily="34" charset="-122"/>
                <a:cs typeface="Liberation Sans Narrow" pitchFamily="34" charset="-120"/>
              </a:rPr>
              <a:t>32.01%</a:t>
            </a:r>
            <a:endParaRPr lang="en-US" sz="1350" dirty="0"/>
          </a:p>
        </p:txBody>
      </p:sp>
      <p:sp>
        <p:nvSpPr>
          <p:cNvPr id="21" name="Text 18"/>
          <p:cNvSpPr/>
          <p:nvPr/>
        </p:nvSpPr>
        <p:spPr>
          <a:xfrm>
            <a:off x="6279356" y="2904814"/>
            <a:ext cx="2464594" cy="107156"/>
          </a:xfrm>
          <a:prstGeom prst="rect">
            <a:avLst/>
          </a:prstGeom>
          <a:noFill/>
          <a:ln/>
        </p:spPr>
        <p:txBody>
          <a:bodyPr wrap="square" lIns="0" tIns="0" rIns="0" bIns="0" rtlCol="0" anchor="t"/>
          <a:lstStyle/>
          <a:p>
            <a:pPr marL="0" indent="0" algn="l">
              <a:lnSpc>
                <a:spcPts val="835"/>
              </a:lnSpc>
              <a:buNone/>
            </a:pPr>
            <a:r>
              <a:rPr lang="en-US" sz="800" kern="0" spc="25" dirty="0">
                <a:solidFill>
                  <a:srgbClr val="F4F1DE">
                    <a:alpha val="78000"/>
                  </a:srgbClr>
                </a:solidFill>
                <a:latin typeface="Carlito" pitchFamily="34" charset="0"/>
                <a:ea typeface="Carlito" pitchFamily="34" charset="-122"/>
                <a:cs typeface="Carlito" pitchFamily="34" charset="-120"/>
              </a:rPr>
              <a:t>when home is the underdog (n = 4,427)</a:t>
            </a:r>
            <a:endParaRPr lang="en-US" sz="800" dirty="0"/>
          </a:p>
        </p:txBody>
      </p:sp>
      <p:sp>
        <p:nvSpPr>
          <p:cNvPr id="22" name="Shape 19"/>
          <p:cNvSpPr/>
          <p:nvPr/>
        </p:nvSpPr>
        <p:spPr>
          <a:xfrm>
            <a:off x="5457825" y="4102298"/>
            <a:ext cx="3286125" cy="0"/>
          </a:xfrm>
          <a:prstGeom prst="line">
            <a:avLst/>
          </a:prstGeom>
          <a:noFill/>
          <a:ln w="7144">
            <a:solidFill>
              <a:srgbClr val="F4F1DE"/>
            </a:solidFill>
            <a:prstDash val="dash"/>
          </a:ln>
        </p:spPr>
      </p:sp>
      <p:sp>
        <p:nvSpPr>
          <p:cNvPr id="23" name="Text 20"/>
          <p:cNvSpPr/>
          <p:nvPr/>
        </p:nvSpPr>
        <p:spPr>
          <a:xfrm>
            <a:off x="5457825" y="4098727"/>
            <a:ext cx="3286125" cy="629630"/>
          </a:xfrm>
          <a:prstGeom prst="rect">
            <a:avLst/>
          </a:prstGeom>
          <a:noFill/>
          <a:ln/>
        </p:spPr>
        <p:txBody>
          <a:bodyPr wrap="square" lIns="0" tIns="85725" rIns="0" bIns="0" rtlCol="0" anchor="t"/>
          <a:lstStyle/>
          <a:p>
            <a:pPr marL="0" indent="0" algn="l">
              <a:lnSpc>
                <a:spcPts val="886"/>
              </a:lnSpc>
              <a:buNone/>
            </a:pPr>
            <a:r>
              <a:rPr lang="en-US" sz="800" kern="0" spc="101" dirty="0">
                <a:solidFill>
                  <a:srgbClr val="FFF100">
                    <a:alpha val="55000"/>
                  </a:srgbClr>
                </a:solidFill>
                <a:latin typeface="Carlito" pitchFamily="34" charset="0"/>
                <a:ea typeface="Carlito" pitchFamily="34" charset="-122"/>
                <a:cs typeface="Carlito" pitchFamily="34" charset="-120"/>
              </a:rPr>
              <a:t>METHODOLOGY</a:t>
            </a:r>
            <a:r>
              <a:rPr lang="en-US" sz="800" dirty="0">
                <a:solidFill>
                  <a:srgbClr val="F4F1DE">
                    <a:alpha val="55000"/>
                  </a:srgbClr>
                </a:solidFill>
                <a:latin typeface="Carlito" pitchFamily="34" charset="0"/>
                <a:ea typeface="Carlito" pitchFamily="34" charset="-122"/>
                <a:cs typeface="Carlito" pitchFamily="34" charset="-120"/>
              </a:rPr>
              <a:t> </a:t>
            </a:r>
            <a:r>
              <a:rPr lang="en-US" sz="800" dirty="0">
                <a:solidFill>
                  <a:srgbClr val="F4F1DE">
                    <a:alpha val="55000"/>
                  </a:srgbClr>
                </a:solidFill>
                <a:latin typeface="Dubai Light" panose="020B0303030403030204" pitchFamily="34" charset="-78"/>
                <a:ea typeface="Carlito" pitchFamily="34" charset="-122"/>
                <a:cs typeface="Dubai Light" panose="020B0303030403030204" pitchFamily="34" charset="-78"/>
              </a:rPr>
              <a:t>The raw average sits slightly above 50% only because matches where home is better-ranked (n=5,206) slightly outnumber those where home is the underdog (n=4,427) — a sample composition effect, not psychological bias.</a:t>
            </a:r>
            <a:endParaRPr lang="en-US" sz="800" dirty="0">
              <a:latin typeface="Dubai Light" panose="020B0303030403030204" pitchFamily="34" charset="-78"/>
              <a:cs typeface="Dubai Light" panose="020B0303030403030204" pitchFamily="34" charset="-78"/>
            </a:endParaRPr>
          </a:p>
        </p:txBody>
      </p:sp>
      <p:sp>
        <p:nvSpPr>
          <p:cNvPr id="24" name="Shape 21"/>
          <p:cNvSpPr/>
          <p:nvPr/>
        </p:nvSpPr>
        <p:spPr>
          <a:xfrm>
            <a:off x="400050" y="4618434"/>
            <a:ext cx="8343900" cy="0"/>
          </a:xfrm>
          <a:prstGeom prst="line">
            <a:avLst/>
          </a:prstGeom>
          <a:noFill/>
          <a:ln w="7144">
            <a:solidFill>
              <a:srgbClr val="F4F1DE"/>
            </a:solidFill>
            <a:prstDash val="solid"/>
          </a:ln>
        </p:spPr>
      </p:sp>
      <p:sp>
        <p:nvSpPr>
          <p:cNvPr id="25" name="Text 22"/>
          <p:cNvSpPr/>
          <p:nvPr/>
        </p:nvSpPr>
        <p:spPr>
          <a:xfrm>
            <a:off x="400050" y="4693444"/>
            <a:ext cx="7680313" cy="107156"/>
          </a:xfrm>
          <a:prstGeom prst="rect">
            <a:avLst/>
          </a:prstGeom>
          <a:noFill/>
          <a:ln/>
        </p:spPr>
        <p:txBody>
          <a:bodyPr wrap="square" lIns="0" tIns="0" rIns="0" bIns="0" rtlCol="0" anchor="t"/>
          <a:lstStyle/>
          <a:p>
            <a:pPr marL="0" indent="0" algn="l">
              <a:lnSpc>
                <a:spcPts val="844"/>
              </a:lnSpc>
              <a:buNone/>
            </a:pPr>
            <a:r>
              <a:rPr lang="en-US" sz="800" kern="0" spc="124" dirty="0">
                <a:solidFill>
                  <a:srgbClr val="F4F1DE">
                    <a:alpha val="45000"/>
                  </a:srgbClr>
                </a:solidFill>
                <a:latin typeface="Carlito" pitchFamily="34" charset="0"/>
                <a:ea typeface="Carlito" pitchFamily="34" charset="-122"/>
                <a:cs typeface="Carlito" pitchFamily="34" charset="-120"/>
              </a:rPr>
              <a:t>PRESENTED BY MEHRNOOSH YAGHUBI</a:t>
            </a:r>
            <a:endParaRPr lang="en-US" sz="800" dirty="0"/>
          </a:p>
        </p:txBody>
      </p:sp>
      <p:sp>
        <p:nvSpPr>
          <p:cNvPr id="26" name="Text 23"/>
          <p:cNvSpPr/>
          <p:nvPr/>
        </p:nvSpPr>
        <p:spPr>
          <a:xfrm>
            <a:off x="8094650" y="4693444"/>
            <a:ext cx="649300" cy="107156"/>
          </a:xfrm>
          <a:prstGeom prst="rect">
            <a:avLst/>
          </a:prstGeom>
          <a:noFill/>
          <a:ln/>
        </p:spPr>
        <p:txBody>
          <a:bodyPr wrap="none" lIns="0" tIns="0" rIns="0" bIns="0" rtlCol="0" anchor="t"/>
          <a:lstStyle/>
          <a:p>
            <a:pPr marL="0" indent="0" algn="l">
              <a:lnSpc>
                <a:spcPts val="844"/>
              </a:lnSpc>
              <a:buNone/>
            </a:pPr>
            <a:r>
              <a:rPr lang="en-US" sz="600" kern="0" spc="124" dirty="0">
                <a:solidFill>
                  <a:srgbClr val="F4F1DE">
                    <a:alpha val="45000"/>
                  </a:srgbClr>
                </a:solidFill>
                <a:latin typeface="Carlito" pitchFamily="34" charset="0"/>
                <a:ea typeface="Carlito" pitchFamily="34" charset="-122"/>
                <a:cs typeface="Carlito" pitchFamily="34" charset="-120"/>
              </a:rPr>
              <a:t>SLIDE </a:t>
            </a:r>
            <a:r>
              <a:rPr lang="en-US" sz="600" kern="0" spc="124" dirty="0">
                <a:solidFill>
                  <a:srgbClr val="FFF100">
                    <a:alpha val="45000"/>
                  </a:srgbClr>
                </a:solidFill>
                <a:latin typeface="Liberation Sans Narrow" pitchFamily="34" charset="0"/>
                <a:ea typeface="Liberation Sans Narrow" pitchFamily="34" charset="-122"/>
                <a:cs typeface="Liberation Sans Narrow" pitchFamily="34" charset="-120"/>
              </a:rPr>
              <a:t>09</a:t>
            </a:r>
            <a:r>
              <a:rPr lang="en-US" sz="600" kern="0" spc="124" dirty="0">
                <a:solidFill>
                  <a:srgbClr val="F4F1DE">
                    <a:alpha val="45000"/>
                  </a:srgbClr>
                </a:solidFill>
                <a:latin typeface="Liberation Sans Narrow" pitchFamily="34" charset="0"/>
                <a:ea typeface="Liberation Sans Narrow" pitchFamily="34" charset="-122"/>
                <a:cs typeface="Liberation Sans Narrow" pitchFamily="34" charset="-120"/>
              </a:rPr>
              <a:t> / 30</a:t>
            </a:r>
            <a:endParaRPr lang="en-US" sz="600" dirty="0"/>
          </a:p>
        </p:txBody>
      </p:sp>
      <p:pic>
        <p:nvPicPr>
          <p:cNvPr id="28" name="Picture 27">
            <a:extLst>
              <a:ext uri="{FF2B5EF4-FFF2-40B4-BE49-F238E27FC236}">
                <a16:creationId xmlns:a16="http://schemas.microsoft.com/office/drawing/2014/main" id="{A3648802-892B-8F1D-2E3E-F3B1496705D7}"/>
              </a:ext>
            </a:extLst>
          </p:cNvPr>
          <p:cNvPicPr>
            <a:picLocks noChangeAspect="1"/>
          </p:cNvPicPr>
          <p:nvPr/>
        </p:nvPicPr>
        <p:blipFill>
          <a:blip r:embed="rId3"/>
          <a:stretch>
            <a:fillRect/>
          </a:stretch>
        </p:blipFill>
        <p:spPr>
          <a:xfrm>
            <a:off x="400050" y="1479983"/>
            <a:ext cx="4857750" cy="22786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4332"/>
          </a:solidFill>
          <a:ln/>
        </p:spPr>
        <p:txBody>
          <a:bodyPr wrap="square" rtlCol="0" anchor="ctr"/>
          <a:lstStyle/>
          <a:p>
            <a:pPr marL="0" indent="0">
              <a:buNone/>
            </a:pPr>
            <a:endParaRPr lang="en-US" dirty="0"/>
          </a:p>
        </p:txBody>
      </p:sp>
      <p:sp>
        <p:nvSpPr>
          <p:cNvPr id="3" name="Shape 1"/>
          <p:cNvSpPr/>
          <p:nvPr/>
        </p:nvSpPr>
        <p:spPr>
          <a:xfrm>
            <a:off x="400050" y="489347"/>
            <a:ext cx="8343900" cy="0"/>
          </a:xfrm>
          <a:prstGeom prst="line">
            <a:avLst/>
          </a:prstGeom>
          <a:noFill/>
          <a:ln w="7144">
            <a:solidFill>
              <a:srgbClr val="F4F1DE"/>
            </a:solidFill>
            <a:prstDash val="solid"/>
          </a:ln>
        </p:spPr>
      </p:sp>
      <p:sp>
        <p:nvSpPr>
          <p:cNvPr id="4" name="Text 2"/>
          <p:cNvSpPr/>
          <p:nvPr/>
        </p:nvSpPr>
        <p:spPr>
          <a:xfrm>
            <a:off x="400050" y="257175"/>
            <a:ext cx="128588" cy="128588"/>
          </a:xfrm>
          <a:prstGeom prst="rect">
            <a:avLst/>
          </a:prstGeom>
          <a:noFill/>
          <a:ln/>
        </p:spPr>
        <p:txBody>
          <a:bodyPr wrap="none" lIns="0" tIns="0" rIns="0" bIns="0" rtlCol="0" anchor="ctr"/>
          <a:lstStyle/>
          <a:p>
            <a:pPr marL="0" indent="0" algn="ctr">
              <a:buNone/>
            </a:pPr>
            <a:r>
              <a:rPr lang="en-US" sz="1266" dirty="0">
                <a:solidFill>
                  <a:srgbClr val="FFF100"/>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600075" y="262533"/>
            <a:ext cx="2612295" cy="123230"/>
          </a:xfrm>
          <a:prstGeom prst="rect">
            <a:avLst/>
          </a:prstGeom>
          <a:noFill/>
          <a:ln/>
        </p:spPr>
        <p:txBody>
          <a:bodyPr wrap="square" lIns="0" tIns="0" rIns="0" bIns="0" rtlCol="0" anchor="t"/>
          <a:lstStyle/>
          <a:p>
            <a:pPr marL="0" indent="0" algn="l">
              <a:lnSpc>
                <a:spcPts val="928"/>
              </a:lnSpc>
              <a:buNone/>
            </a:pPr>
            <a:r>
              <a:rPr lang="en-US" sz="800" kern="0" spc="173" dirty="0">
                <a:solidFill>
                  <a:srgbClr val="F4F1DE">
                    <a:alpha val="55000"/>
                  </a:srgbClr>
                </a:solidFill>
                <a:latin typeface="Carlito" pitchFamily="34" charset="0"/>
                <a:ea typeface="Carlito" pitchFamily="34" charset="-122"/>
                <a:cs typeface="Carlito" pitchFamily="34" charset="-120"/>
              </a:rPr>
              <a:t>Player Profiles &amp; Fan Behavior</a:t>
            </a:r>
          </a:p>
        </p:txBody>
      </p:sp>
      <p:sp>
        <p:nvSpPr>
          <p:cNvPr id="6" name="Text 4"/>
          <p:cNvSpPr/>
          <p:nvPr/>
        </p:nvSpPr>
        <p:spPr>
          <a:xfrm>
            <a:off x="7710562" y="262533"/>
            <a:ext cx="1033388" cy="12323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OP2 · SECTION 01</a:t>
            </a:r>
            <a:endParaRPr lang="en-US" sz="800" dirty="0"/>
          </a:p>
        </p:txBody>
      </p:sp>
      <p:sp>
        <p:nvSpPr>
          <p:cNvPr id="7" name="Text 5"/>
          <p:cNvSpPr/>
          <p:nvPr/>
        </p:nvSpPr>
        <p:spPr>
          <a:xfrm>
            <a:off x="400050" y="635794"/>
            <a:ext cx="4857750" cy="3893344"/>
          </a:xfrm>
          <a:prstGeom prst="roundRect">
            <a:avLst>
              <a:gd name="adj" fmla="val 1957"/>
            </a:avLst>
          </a:prstGeom>
          <a:solidFill>
            <a:srgbClr val="FFFFFF"/>
          </a:solidFill>
          <a:ln/>
          <a:effectLst>
            <a:outerShdw blurRad="342900" dist="114300" dir="5400000" algn="bl" rotWithShape="0">
              <a:srgbClr val="000000">
                <a:alpha val="32000"/>
              </a:srgbClr>
            </a:outerShdw>
          </a:effectLst>
        </p:spPr>
        <p:txBody>
          <a:bodyPr wrap="square" rtlCol="0" anchor="ctr"/>
          <a:lstStyle/>
          <a:p>
            <a:pPr marL="0" indent="0">
              <a:buNone/>
            </a:pPr>
            <a:endParaRPr lang="en-US" dirty="0"/>
          </a:p>
        </p:txBody>
      </p:sp>
      <p:sp>
        <p:nvSpPr>
          <p:cNvPr id="8" name="Text 6"/>
          <p:cNvSpPr/>
          <p:nvPr/>
        </p:nvSpPr>
        <p:spPr>
          <a:xfrm>
            <a:off x="528638" y="707231"/>
            <a:ext cx="4600575"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9CA3A2"/>
                </a:solidFill>
                <a:latin typeface="Liberation Sans Narrow" pitchFamily="34" charset="0"/>
                <a:ea typeface="Liberation Sans Narrow" pitchFamily="34" charset="-122"/>
                <a:cs typeface="Liberation Sans Narrow" pitchFamily="34" charset="-120"/>
              </a:rPr>
              <a:t>FIG. 8 · FAN VS MARKET ACCURACY</a:t>
            </a:r>
            <a:endParaRPr lang="en-US" sz="800" dirty="0"/>
          </a:p>
        </p:txBody>
      </p:sp>
      <p:sp>
        <p:nvSpPr>
          <p:cNvPr id="10" name="Text 7"/>
          <p:cNvSpPr/>
          <p:nvPr/>
        </p:nvSpPr>
        <p:spPr>
          <a:xfrm>
            <a:off x="5457825" y="635794"/>
            <a:ext cx="3286125" cy="413971"/>
          </a:xfrm>
          <a:prstGeom prst="rect">
            <a:avLst/>
          </a:prstGeom>
          <a:noFill/>
          <a:ln/>
        </p:spPr>
        <p:txBody>
          <a:bodyPr wrap="square" lIns="0" tIns="0" rIns="0" bIns="0" rtlCol="0" anchor="t"/>
          <a:lstStyle/>
          <a:p>
            <a:pPr marL="0" indent="0" algn="l">
              <a:lnSpc>
                <a:spcPts val="1510"/>
              </a:lnSpc>
              <a:buNone/>
            </a:pPr>
            <a:r>
              <a:rPr lang="en-US" sz="1238" kern="0" spc="-6" dirty="0">
                <a:solidFill>
                  <a:srgbClr val="F4F1DE"/>
                </a:solidFill>
                <a:latin typeface="Tinos" pitchFamily="34" charset="0"/>
                <a:ea typeface="Tinos" pitchFamily="34" charset="-122"/>
                <a:cs typeface="Tinos" pitchFamily="34" charset="-120"/>
              </a:rPr>
              <a:t>Fan Votes vs. Betting Market — Which Predicts the Winner More Accurately?</a:t>
            </a:r>
            <a:endParaRPr lang="en-US" sz="1238" dirty="0"/>
          </a:p>
        </p:txBody>
      </p:sp>
      <p:sp>
        <p:nvSpPr>
          <p:cNvPr id="11" name="Text 8"/>
          <p:cNvSpPr/>
          <p:nvPr/>
        </p:nvSpPr>
        <p:spPr>
          <a:xfrm>
            <a:off x="5457825" y="1090538"/>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457825" y="1197694"/>
            <a:ext cx="3286125" cy="908399"/>
          </a:xfrm>
          <a:prstGeom prst="rect">
            <a:avLst/>
          </a:prstGeom>
          <a:noFill/>
          <a:ln/>
        </p:spPr>
        <p:txBody>
          <a:bodyPr wrap="square" lIns="0" tIns="0" rIns="0" bIns="0" rtlCol="0" anchor="t">
            <a:noAutofit/>
          </a:bodyPr>
          <a:lstStyle/>
          <a:p>
            <a:pPr marL="0" indent="0" algn="l">
              <a:lnSpc>
                <a:spcPts val="1097"/>
              </a:lnSpc>
              <a:buNone/>
            </a:pPr>
            <a:r>
              <a:rPr lang="en-US" sz="900" dirty="0">
                <a:solidFill>
                  <a:srgbClr val="F4F1DE">
                    <a:alpha val="92000"/>
                  </a:srgbClr>
                </a:solidFill>
                <a:latin typeface="Candara" panose="020E0502030303020204" pitchFamily="34" charset="0"/>
                <a:ea typeface="Carlito" pitchFamily="34" charset="-122"/>
                <a:cs typeface="Carlito" pitchFamily="34" charset="-120"/>
              </a:rPr>
              <a:t>Both sources performed ~18 percentage points above the 50% random-guessing baseline, and the gap between them is only 0.9 percentage points — likely within statistical noise. This is counter-intuitive: betting markets are usually assumed to outperform crowd opinion because real money is at stake. A plausible explanation is that this dataset is dominated by lower-tier (ITF/Challenger) tournaments where neither side has deeper analysis.</a:t>
            </a:r>
            <a:endParaRPr lang="en-US" sz="900" dirty="0">
              <a:latin typeface="Candara" panose="020E0502030303020204" pitchFamily="34" charset="0"/>
            </a:endParaRPr>
          </a:p>
        </p:txBody>
      </p:sp>
      <p:sp>
        <p:nvSpPr>
          <p:cNvPr id="13" name="Shape 10"/>
          <p:cNvSpPr/>
          <p:nvPr/>
        </p:nvSpPr>
        <p:spPr>
          <a:xfrm>
            <a:off x="5458056" y="2525316"/>
            <a:ext cx="0" cy="391790"/>
          </a:xfrm>
          <a:prstGeom prst="line">
            <a:avLst/>
          </a:prstGeom>
          <a:noFill/>
          <a:ln w="21431">
            <a:solidFill>
              <a:srgbClr val="FFF100"/>
            </a:solidFill>
            <a:prstDash val="solid"/>
          </a:ln>
        </p:spPr>
      </p:sp>
      <p:sp>
        <p:nvSpPr>
          <p:cNvPr id="14" name="Text 11"/>
          <p:cNvSpPr/>
          <p:nvPr/>
        </p:nvSpPr>
        <p:spPr>
          <a:xfrm>
            <a:off x="5508677" y="2554320"/>
            <a:ext cx="1485900" cy="258318"/>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68.6%</a:t>
            </a:r>
            <a:endParaRPr lang="en-US" sz="1913" dirty="0"/>
          </a:p>
        </p:txBody>
      </p:sp>
      <p:sp>
        <p:nvSpPr>
          <p:cNvPr id="15" name="Text 12"/>
          <p:cNvSpPr/>
          <p:nvPr/>
        </p:nvSpPr>
        <p:spPr>
          <a:xfrm>
            <a:off x="5514975" y="2816619"/>
            <a:ext cx="1485900" cy="106040"/>
          </a:xfrm>
          <a:prstGeom prst="rect">
            <a:avLst/>
          </a:prstGeom>
          <a:noFill/>
          <a:ln/>
        </p:spPr>
        <p:txBody>
          <a:bodyPr wrap="none" lIns="0" tIns="0" rIns="0" bIns="0" rtlCol="0" anchor="t"/>
          <a:lstStyle/>
          <a:p>
            <a:pPr marL="0" indent="0" algn="l">
              <a:lnSpc>
                <a:spcPts val="835"/>
              </a:lnSpc>
              <a:buNone/>
            </a:pPr>
            <a:r>
              <a:rPr lang="en-US" sz="800" kern="0" spc="31" dirty="0">
                <a:solidFill>
                  <a:srgbClr val="F4F1DE">
                    <a:alpha val="70000"/>
                  </a:srgbClr>
                </a:solidFill>
                <a:latin typeface="Liberation Sans Narrow" pitchFamily="34" charset="0"/>
                <a:ea typeface="Liberation Sans Narrow" pitchFamily="34" charset="-122"/>
                <a:cs typeface="Liberation Sans Narrow" pitchFamily="34" charset="-120"/>
              </a:rPr>
              <a:t>Fan accuracy (n = 9,381)</a:t>
            </a:r>
            <a:endParaRPr lang="en-US" sz="800" dirty="0"/>
          </a:p>
        </p:txBody>
      </p:sp>
      <p:sp>
        <p:nvSpPr>
          <p:cNvPr id="16" name="Shape 13"/>
          <p:cNvSpPr/>
          <p:nvPr/>
        </p:nvSpPr>
        <p:spPr>
          <a:xfrm>
            <a:off x="7132802" y="2502369"/>
            <a:ext cx="0" cy="391790"/>
          </a:xfrm>
          <a:prstGeom prst="line">
            <a:avLst/>
          </a:prstGeom>
          <a:noFill/>
          <a:ln w="21431">
            <a:solidFill>
              <a:srgbClr val="FFF100"/>
            </a:solidFill>
            <a:prstDash val="solid"/>
          </a:ln>
        </p:spPr>
      </p:sp>
      <p:sp>
        <p:nvSpPr>
          <p:cNvPr id="17" name="Text 14"/>
          <p:cNvSpPr/>
          <p:nvPr/>
        </p:nvSpPr>
        <p:spPr>
          <a:xfrm>
            <a:off x="7197789" y="2559902"/>
            <a:ext cx="1485900" cy="258318"/>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67.7%</a:t>
            </a:r>
            <a:endParaRPr lang="en-US" sz="1913" dirty="0"/>
          </a:p>
        </p:txBody>
      </p:sp>
      <p:sp>
        <p:nvSpPr>
          <p:cNvPr id="18" name="Text 15"/>
          <p:cNvSpPr/>
          <p:nvPr/>
        </p:nvSpPr>
        <p:spPr>
          <a:xfrm>
            <a:off x="7197789" y="2817581"/>
            <a:ext cx="1604772" cy="106040"/>
          </a:xfrm>
          <a:prstGeom prst="rect">
            <a:avLst/>
          </a:prstGeom>
          <a:noFill/>
          <a:ln/>
        </p:spPr>
        <p:txBody>
          <a:bodyPr wrap="square" lIns="0" tIns="0" rIns="0" bIns="0" rtlCol="0" anchor="t"/>
          <a:lstStyle/>
          <a:p>
            <a:pPr marL="0" indent="0" algn="l">
              <a:lnSpc>
                <a:spcPts val="835"/>
              </a:lnSpc>
              <a:buNone/>
            </a:pPr>
            <a:r>
              <a:rPr lang="en-US" sz="619" kern="0" spc="31" dirty="0">
                <a:solidFill>
                  <a:srgbClr val="F4F1DE">
                    <a:alpha val="70000"/>
                  </a:srgbClr>
                </a:solidFill>
                <a:latin typeface="Liberation Sans Narrow" pitchFamily="34" charset="0"/>
                <a:ea typeface="Liberation Sans Narrow" pitchFamily="34" charset="-122"/>
                <a:cs typeface="Liberation Sans Narrow" pitchFamily="34" charset="-120"/>
              </a:rPr>
              <a:t>Betting market accuracy (n = 9,381)</a:t>
            </a:r>
            <a:endParaRPr lang="en-US" sz="619" dirty="0"/>
          </a:p>
        </p:txBody>
      </p:sp>
      <p:sp>
        <p:nvSpPr>
          <p:cNvPr id="19" name="Text 16"/>
          <p:cNvSpPr/>
          <p:nvPr/>
        </p:nvSpPr>
        <p:spPr>
          <a:xfrm>
            <a:off x="5477297" y="2983841"/>
            <a:ext cx="3278981" cy="242888"/>
          </a:xfrm>
          <a:prstGeom prst="roundRect">
            <a:avLst>
              <a:gd name="adj" fmla="val 15686"/>
            </a:avLst>
          </a:prstGeom>
          <a:solidFill>
            <a:srgbClr val="FFF100">
              <a:alpha val="10000"/>
            </a:srgbClr>
          </a:solidFill>
          <a:ln w="7144">
            <a:solidFill>
              <a:srgbClr val="FFF100"/>
            </a:solidFill>
            <a:prstDash val="solid"/>
          </a:ln>
        </p:spPr>
        <p:txBody>
          <a:bodyPr wrap="square" rtlCol="0" anchor="ctr"/>
          <a:lstStyle/>
          <a:p>
            <a:pPr marL="0" indent="0">
              <a:buNone/>
            </a:pPr>
            <a:endParaRPr lang="en-US" dirty="0"/>
          </a:p>
        </p:txBody>
      </p:sp>
      <p:sp>
        <p:nvSpPr>
          <p:cNvPr id="20" name="Text 17"/>
          <p:cNvSpPr/>
          <p:nvPr/>
        </p:nvSpPr>
        <p:spPr>
          <a:xfrm>
            <a:off x="5531412" y="2991803"/>
            <a:ext cx="538625" cy="150019"/>
          </a:xfrm>
          <a:prstGeom prst="rect">
            <a:avLst/>
          </a:prstGeom>
          <a:noFill/>
          <a:ln/>
        </p:spPr>
        <p:txBody>
          <a:bodyPr wrap="none" lIns="0" tIns="0" rIns="0" bIns="0" rtlCol="0" anchor="t"/>
          <a:lstStyle/>
          <a:p>
            <a:pPr marL="0" indent="0" algn="l">
              <a:lnSpc>
                <a:spcPts val="1181"/>
              </a:lnSpc>
              <a:buNone/>
            </a:pPr>
            <a:r>
              <a:rPr lang="en-US" sz="800" b="1" kern="0" spc="25" dirty="0">
                <a:solidFill>
                  <a:srgbClr val="FFF100"/>
                </a:solidFill>
                <a:latin typeface="Liberation Sans Narrow" pitchFamily="34" charset="0"/>
                <a:ea typeface="Liberation Sans Narrow" pitchFamily="34" charset="-122"/>
                <a:cs typeface="Liberation Sans Narrow" pitchFamily="34" charset="-120"/>
              </a:rPr>
              <a:t>Δ 0.9 pp</a:t>
            </a:r>
            <a:endParaRPr lang="en-US" sz="800" dirty="0"/>
          </a:p>
        </p:txBody>
      </p:sp>
      <p:sp>
        <p:nvSpPr>
          <p:cNvPr id="21" name="Text 18"/>
          <p:cNvSpPr/>
          <p:nvPr/>
        </p:nvSpPr>
        <p:spPr>
          <a:xfrm>
            <a:off x="5976528" y="3038312"/>
            <a:ext cx="2681697" cy="133945"/>
          </a:xfrm>
          <a:prstGeom prst="rect">
            <a:avLst/>
          </a:prstGeom>
          <a:noFill/>
          <a:ln/>
        </p:spPr>
        <p:txBody>
          <a:bodyPr wrap="square" lIns="0" tIns="0" rIns="0" bIns="0" rtlCol="0" anchor="t"/>
          <a:lstStyle/>
          <a:p>
            <a:pPr marL="0" indent="0" algn="l">
              <a:lnSpc>
                <a:spcPts val="928"/>
              </a:lnSpc>
              <a:buNone/>
            </a:pPr>
            <a:r>
              <a:rPr lang="en-US" sz="800" kern="0" spc="25" dirty="0">
                <a:solidFill>
                  <a:srgbClr val="FFF8B5"/>
                </a:solidFill>
                <a:latin typeface="Carlito" pitchFamily="34" charset="0"/>
                <a:ea typeface="Carlito" pitchFamily="34" charset="-122"/>
                <a:cs typeface="Carlito" pitchFamily="34" charset="-120"/>
              </a:rPr>
              <a:t>likely within statistical noise</a:t>
            </a:r>
            <a:endParaRPr lang="en-US" sz="800" dirty="0"/>
          </a:p>
        </p:txBody>
      </p:sp>
      <p:sp>
        <p:nvSpPr>
          <p:cNvPr id="22" name="Shape 19"/>
          <p:cNvSpPr/>
          <p:nvPr/>
        </p:nvSpPr>
        <p:spPr>
          <a:xfrm>
            <a:off x="5457825" y="4102298"/>
            <a:ext cx="3286125" cy="0"/>
          </a:xfrm>
          <a:prstGeom prst="line">
            <a:avLst/>
          </a:prstGeom>
          <a:noFill/>
          <a:ln w="7144">
            <a:solidFill>
              <a:srgbClr val="F4F1DE"/>
            </a:solidFill>
            <a:prstDash val="dash"/>
          </a:ln>
        </p:spPr>
      </p:sp>
      <p:sp>
        <p:nvSpPr>
          <p:cNvPr id="23" name="Text 20"/>
          <p:cNvSpPr/>
          <p:nvPr/>
        </p:nvSpPr>
        <p:spPr>
          <a:xfrm>
            <a:off x="5457825" y="4098727"/>
            <a:ext cx="3286125" cy="629630"/>
          </a:xfrm>
          <a:prstGeom prst="rect">
            <a:avLst/>
          </a:prstGeom>
          <a:noFill/>
          <a:ln/>
        </p:spPr>
        <p:txBody>
          <a:bodyPr wrap="square" lIns="0" tIns="85725" rIns="0" bIns="0" rtlCol="0" anchor="t"/>
          <a:lstStyle/>
          <a:p>
            <a:pPr marL="0" indent="0" algn="l">
              <a:lnSpc>
                <a:spcPts val="886"/>
              </a:lnSpc>
              <a:buNone/>
            </a:pPr>
            <a:r>
              <a:rPr lang="en-US" sz="800" kern="0" spc="101" dirty="0">
                <a:solidFill>
                  <a:srgbClr val="FFF100">
                    <a:alpha val="55000"/>
                  </a:srgbClr>
                </a:solidFill>
                <a:latin typeface="Carlito" pitchFamily="34" charset="0"/>
                <a:ea typeface="Carlito" pitchFamily="34" charset="-122"/>
                <a:cs typeface="Carlito" pitchFamily="34" charset="-120"/>
              </a:rPr>
              <a:t>METHODOLOGY</a:t>
            </a:r>
            <a:r>
              <a:rPr lang="en-US" sz="800" dirty="0">
                <a:solidFill>
                  <a:srgbClr val="F4F1DE">
                    <a:alpha val="55000"/>
                  </a:srgbClr>
                </a:solidFill>
                <a:latin typeface="Dubai Light" panose="020B0303030403030204" pitchFamily="34" charset="-78"/>
                <a:ea typeface="Carlito" pitchFamily="34" charset="-122"/>
                <a:cs typeface="Dubai Light" panose="020B0303030403030204" pitchFamily="34" charset="-78"/>
              </a:rPr>
              <a:t> Fair head-to-head on the same 9,381 matches where both sources had data. Full samples: fan 68.3% (n=13,475), market 67.6% (n=9,477). Tied/missing predictions excluded from accuracy calculations.</a:t>
            </a:r>
            <a:endParaRPr lang="en-US" sz="800" dirty="0">
              <a:latin typeface="Dubai Light" panose="020B0303030403030204" pitchFamily="34" charset="-78"/>
              <a:cs typeface="Dubai Light" panose="020B0303030403030204" pitchFamily="34" charset="-78"/>
            </a:endParaRPr>
          </a:p>
        </p:txBody>
      </p:sp>
      <p:sp>
        <p:nvSpPr>
          <p:cNvPr id="24" name="Shape 21"/>
          <p:cNvSpPr/>
          <p:nvPr/>
        </p:nvSpPr>
        <p:spPr>
          <a:xfrm>
            <a:off x="400050" y="4618434"/>
            <a:ext cx="8343900" cy="0"/>
          </a:xfrm>
          <a:prstGeom prst="line">
            <a:avLst/>
          </a:prstGeom>
          <a:noFill/>
          <a:ln w="7144">
            <a:solidFill>
              <a:srgbClr val="F4F1DE"/>
            </a:solidFill>
            <a:prstDash val="solid"/>
          </a:ln>
        </p:spPr>
      </p:sp>
      <p:sp>
        <p:nvSpPr>
          <p:cNvPr id="25" name="Text 22"/>
          <p:cNvSpPr/>
          <p:nvPr/>
        </p:nvSpPr>
        <p:spPr>
          <a:xfrm>
            <a:off x="400050" y="4693444"/>
            <a:ext cx="7680313" cy="107156"/>
          </a:xfrm>
          <a:prstGeom prst="rect">
            <a:avLst/>
          </a:prstGeom>
          <a:noFill/>
          <a:ln/>
        </p:spPr>
        <p:txBody>
          <a:bodyPr wrap="square" lIns="0" tIns="0" rIns="0" bIns="0" rtlCol="0" anchor="t"/>
          <a:lstStyle/>
          <a:p>
            <a:pPr marL="0" indent="0" algn="l">
              <a:lnSpc>
                <a:spcPts val="844"/>
              </a:lnSpc>
              <a:buNone/>
            </a:pPr>
            <a:r>
              <a:rPr lang="en-US" sz="800" kern="0" spc="124" dirty="0">
                <a:solidFill>
                  <a:srgbClr val="F4F1DE">
                    <a:alpha val="45000"/>
                  </a:srgbClr>
                </a:solidFill>
                <a:latin typeface="Carlito" pitchFamily="34" charset="0"/>
                <a:ea typeface="Carlito" pitchFamily="34" charset="-122"/>
                <a:cs typeface="Carlito" pitchFamily="34" charset="-120"/>
              </a:rPr>
              <a:t>PRESENTED BY MEHRNOOSH YAGHUBI</a:t>
            </a:r>
            <a:endParaRPr lang="en-US" sz="800" dirty="0"/>
          </a:p>
        </p:txBody>
      </p:sp>
      <p:sp>
        <p:nvSpPr>
          <p:cNvPr id="26" name="Text 23"/>
          <p:cNvSpPr/>
          <p:nvPr/>
        </p:nvSpPr>
        <p:spPr>
          <a:xfrm>
            <a:off x="8094650" y="4693444"/>
            <a:ext cx="649300" cy="107156"/>
          </a:xfrm>
          <a:prstGeom prst="rect">
            <a:avLst/>
          </a:prstGeom>
          <a:noFill/>
          <a:ln/>
        </p:spPr>
        <p:txBody>
          <a:bodyPr wrap="none" lIns="0" tIns="0" rIns="0" bIns="0" rtlCol="0" anchor="t"/>
          <a:lstStyle/>
          <a:p>
            <a:pPr marL="0" indent="0" algn="l">
              <a:lnSpc>
                <a:spcPts val="844"/>
              </a:lnSpc>
              <a:buNone/>
            </a:pPr>
            <a:r>
              <a:rPr lang="en-US" sz="600" kern="0" spc="124" dirty="0">
                <a:solidFill>
                  <a:srgbClr val="F4F1DE">
                    <a:alpha val="45000"/>
                  </a:srgbClr>
                </a:solidFill>
                <a:latin typeface="Carlito" pitchFamily="34" charset="0"/>
                <a:ea typeface="Carlito" pitchFamily="34" charset="-122"/>
                <a:cs typeface="Carlito" pitchFamily="34" charset="-120"/>
              </a:rPr>
              <a:t>SLIDE </a:t>
            </a:r>
            <a:r>
              <a:rPr lang="en-US" sz="600" kern="0" spc="124" dirty="0">
                <a:solidFill>
                  <a:srgbClr val="FFF100">
                    <a:alpha val="45000"/>
                  </a:srgbClr>
                </a:solidFill>
                <a:latin typeface="Liberation Sans Narrow" pitchFamily="34" charset="0"/>
                <a:ea typeface="Liberation Sans Narrow" pitchFamily="34" charset="-122"/>
                <a:cs typeface="Carlito" pitchFamily="34" charset="-120"/>
              </a:rPr>
              <a:t>10</a:t>
            </a:r>
            <a:r>
              <a:rPr lang="en-US" sz="600" kern="0" spc="124" dirty="0">
                <a:solidFill>
                  <a:srgbClr val="F4F1DE">
                    <a:alpha val="45000"/>
                  </a:srgbClr>
                </a:solidFill>
                <a:latin typeface="Liberation Sans Narrow" pitchFamily="34" charset="0"/>
                <a:ea typeface="Liberation Sans Narrow" pitchFamily="34" charset="-122"/>
                <a:cs typeface="Liberation Sans Narrow" pitchFamily="34" charset="-120"/>
              </a:rPr>
              <a:t> / 30</a:t>
            </a:r>
            <a:endParaRPr lang="en-US" sz="600" dirty="0"/>
          </a:p>
        </p:txBody>
      </p:sp>
      <p:pic>
        <p:nvPicPr>
          <p:cNvPr id="28" name="Picture 27">
            <a:extLst>
              <a:ext uri="{FF2B5EF4-FFF2-40B4-BE49-F238E27FC236}">
                <a16:creationId xmlns:a16="http://schemas.microsoft.com/office/drawing/2014/main" id="{7FF47312-4978-4AC8-339C-E7E4680B969C}"/>
              </a:ext>
            </a:extLst>
          </p:cNvPr>
          <p:cNvPicPr>
            <a:picLocks noChangeAspect="1"/>
          </p:cNvPicPr>
          <p:nvPr/>
        </p:nvPicPr>
        <p:blipFill>
          <a:blip r:embed="rId3"/>
          <a:stretch>
            <a:fillRect/>
          </a:stretch>
        </p:blipFill>
        <p:spPr>
          <a:xfrm>
            <a:off x="411824" y="1327864"/>
            <a:ext cx="4789884" cy="24877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7917" y="0"/>
            <a:ext cx="9144000" cy="5143500"/>
          </a:xfrm>
          <a:prstGeom prst="rect">
            <a:avLst/>
          </a:prstGeom>
          <a:solidFill>
            <a:srgbClr val="1B4332"/>
          </a:solidFill>
          <a:ln/>
        </p:spPr>
        <p:txBody>
          <a:bodyPr wrap="square" rtlCol="0" anchor="ctr"/>
          <a:lstStyle/>
          <a:p>
            <a:pPr marL="0" indent="0">
              <a:buNone/>
            </a:pPr>
            <a:endParaRPr lang="en-US" dirty="0"/>
          </a:p>
        </p:txBody>
      </p:sp>
      <p:pic>
        <p:nvPicPr>
          <p:cNvPr id="31" name="Picture 30">
            <a:extLst>
              <a:ext uri="{FF2B5EF4-FFF2-40B4-BE49-F238E27FC236}">
                <a16:creationId xmlns:a16="http://schemas.microsoft.com/office/drawing/2014/main" id="{5A09FD68-5AEC-B340-3F74-8B7B21A4304B}"/>
              </a:ext>
            </a:extLst>
          </p:cNvPr>
          <p:cNvPicPr>
            <a:picLocks noChangeAspect="1"/>
          </p:cNvPicPr>
          <p:nvPr/>
        </p:nvPicPr>
        <p:blipFill rotWithShape="1">
          <a:blip r:embed="rId3"/>
          <a:srcRect t="1994" r="-813" b="-1994"/>
          <a:stretch>
            <a:fillRect/>
          </a:stretch>
        </p:blipFill>
        <p:spPr>
          <a:xfrm>
            <a:off x="28550" y="48141"/>
            <a:ext cx="9144000" cy="5143500"/>
          </a:xfrm>
          <a:prstGeom prst="rect">
            <a:avLst/>
          </a:prstGeom>
        </p:spPr>
      </p:pic>
      <p:pic>
        <p:nvPicPr>
          <p:cNvPr id="4" name="Image 1" descr="preencoded.png"/>
          <p:cNvPicPr>
            <a:picLocks noChangeAspect="1"/>
          </p:cNvPicPr>
          <p:nvPr/>
        </p:nvPicPr>
        <p:blipFill>
          <a:blip r:embed="rId4">
            <a:alphaModFix amt="50000"/>
          </a:blip>
          <a:stretch>
            <a:fillRect/>
          </a:stretch>
        </p:blipFill>
        <p:spPr>
          <a:xfrm>
            <a:off x="-7917" y="24071"/>
            <a:ext cx="9144000" cy="5143500"/>
          </a:xfrm>
          <a:prstGeom prst="rect">
            <a:avLst/>
          </a:prstGeom>
        </p:spPr>
      </p:pic>
      <p:sp>
        <p:nvSpPr>
          <p:cNvPr id="7" name="Text 2"/>
          <p:cNvSpPr/>
          <p:nvPr/>
        </p:nvSpPr>
        <p:spPr>
          <a:xfrm>
            <a:off x="0" y="857250"/>
            <a:ext cx="9144000" cy="7144"/>
          </a:xfrm>
          <a:prstGeom prst="rect">
            <a:avLst/>
          </a:prstGeom>
          <a:solidFill>
            <a:srgbClr val="FFF100">
              <a:alpha val="12000"/>
            </a:srgbClr>
          </a:solidFill>
          <a:ln/>
        </p:spPr>
        <p:txBody>
          <a:bodyPr wrap="square" rtlCol="0" anchor="ctr"/>
          <a:lstStyle/>
          <a:p>
            <a:pPr marL="0" indent="0">
              <a:buNone/>
            </a:pPr>
            <a:endParaRPr lang="en-US" dirty="0"/>
          </a:p>
        </p:txBody>
      </p:sp>
      <p:sp>
        <p:nvSpPr>
          <p:cNvPr id="8" name="Text 3"/>
          <p:cNvSpPr/>
          <p:nvPr/>
        </p:nvSpPr>
        <p:spPr>
          <a:xfrm>
            <a:off x="0" y="4286250"/>
            <a:ext cx="9144000" cy="7144"/>
          </a:xfrm>
          <a:prstGeom prst="rect">
            <a:avLst/>
          </a:prstGeom>
          <a:solidFill>
            <a:srgbClr val="FFF100">
              <a:alpha val="12000"/>
            </a:srgbClr>
          </a:solidFill>
          <a:ln/>
        </p:spPr>
        <p:txBody>
          <a:bodyPr wrap="square" rtlCol="0" anchor="ctr"/>
          <a:lstStyle/>
          <a:p>
            <a:pPr marL="0" indent="0">
              <a:buNone/>
            </a:pPr>
            <a:endParaRPr lang="en-US" dirty="0"/>
          </a:p>
        </p:txBody>
      </p:sp>
      <p:sp>
        <p:nvSpPr>
          <p:cNvPr id="9" name="Text 4"/>
          <p:cNvSpPr/>
          <p:nvPr/>
        </p:nvSpPr>
        <p:spPr>
          <a:xfrm>
            <a:off x="6308659" y="300038"/>
            <a:ext cx="1781861" cy="126609"/>
          </a:xfrm>
          <a:prstGeom prst="rect">
            <a:avLst/>
          </a:prstGeom>
          <a:noFill/>
          <a:ln/>
        </p:spPr>
        <p:txBody>
          <a:bodyPr wrap="square" lIns="0" tIns="0" rIns="0" bIns="0" rtlCol="0" anchor="t"/>
          <a:lstStyle/>
          <a:p>
            <a:pPr marL="0" indent="0" algn="r">
              <a:lnSpc>
                <a:spcPts val="1097"/>
              </a:lnSpc>
              <a:buNone/>
            </a:pPr>
            <a:r>
              <a:rPr lang="en-US" sz="731" i="1" kern="0" spc="29" dirty="0">
                <a:solidFill>
                  <a:srgbClr val="95D5B2"/>
                </a:solidFill>
                <a:latin typeface="Tinos" pitchFamily="34" charset="0"/>
                <a:ea typeface="Tinos" pitchFamily="34" charset="-122"/>
                <a:cs typeface="Tinos" pitchFamily="34" charset="-120"/>
              </a:rPr>
              <a:t>TENNIS MATCHES ANALYSIS REPORT</a:t>
            </a:r>
            <a:endParaRPr lang="en-US" sz="731" dirty="0"/>
          </a:p>
        </p:txBody>
      </p:sp>
      <p:sp>
        <p:nvSpPr>
          <p:cNvPr id="10" name="Text 5"/>
          <p:cNvSpPr/>
          <p:nvPr/>
        </p:nvSpPr>
        <p:spPr>
          <a:xfrm>
            <a:off x="8193100" y="343570"/>
            <a:ext cx="42863" cy="42863"/>
          </a:xfrm>
          <a:prstGeom prst="ellipse">
            <a:avLst/>
          </a:prstGeom>
          <a:solidFill>
            <a:srgbClr val="FFF100"/>
          </a:solidFill>
          <a:ln/>
        </p:spPr>
        <p:txBody>
          <a:bodyPr wrap="square" rtlCol="0" anchor="ctr"/>
          <a:lstStyle/>
          <a:p>
            <a:pPr marL="0" indent="0">
              <a:buNone/>
            </a:pPr>
            <a:endParaRPr lang="en-US" dirty="0"/>
          </a:p>
        </p:txBody>
      </p:sp>
      <p:sp>
        <p:nvSpPr>
          <p:cNvPr id="11" name="Text 6"/>
          <p:cNvSpPr/>
          <p:nvPr/>
        </p:nvSpPr>
        <p:spPr>
          <a:xfrm>
            <a:off x="8103406" y="314325"/>
            <a:ext cx="640544" cy="119703"/>
          </a:xfrm>
          <a:prstGeom prst="rect">
            <a:avLst/>
          </a:prstGeom>
          <a:noFill/>
          <a:ln/>
        </p:spPr>
        <p:txBody>
          <a:bodyPr wrap="none" lIns="0" tIns="0" rIns="0" bIns="0" rtlCol="0" anchor="t"/>
          <a:lstStyle/>
          <a:p>
            <a:pPr marL="0" indent="0" algn="r">
              <a:lnSpc>
                <a:spcPts val="928"/>
              </a:lnSpc>
              <a:buNone/>
            </a:pPr>
            <a:r>
              <a:rPr lang="en-US" sz="800" kern="0" spc="186" dirty="0">
                <a:solidFill>
                  <a:srgbClr val="95D5B2"/>
                </a:solidFill>
                <a:latin typeface="Liberation Sans Narrow" pitchFamily="34" charset="0"/>
                <a:ea typeface="Liberation Sans Narrow" pitchFamily="34" charset="-122"/>
                <a:cs typeface="Liberation Sans Narrow" pitchFamily="34" charset="-120"/>
              </a:rPr>
              <a:t>02 / 03</a:t>
            </a:r>
            <a:endParaRPr lang="en-US" sz="800" dirty="0"/>
          </a:p>
        </p:txBody>
      </p:sp>
      <p:sp>
        <p:nvSpPr>
          <p:cNvPr id="12" name="Text 7"/>
          <p:cNvSpPr/>
          <p:nvPr/>
        </p:nvSpPr>
        <p:spPr>
          <a:xfrm>
            <a:off x="417073" y="1695190"/>
            <a:ext cx="2020675" cy="1083149"/>
          </a:xfrm>
          <a:prstGeom prst="rect">
            <a:avLst/>
          </a:prstGeom>
          <a:noFill/>
          <a:ln/>
        </p:spPr>
        <p:txBody>
          <a:bodyPr wrap="none" lIns="0" tIns="0" rIns="0" bIns="0" rtlCol="0" anchor="t"/>
          <a:lstStyle/>
          <a:p>
            <a:pPr marL="0" indent="0" algn="l">
              <a:lnSpc>
                <a:spcPts val="7898"/>
              </a:lnSpc>
              <a:buNone/>
            </a:pPr>
            <a:r>
              <a:rPr lang="en-US" sz="8775" b="1" i="1" kern="0" spc="-175" dirty="0">
                <a:solidFill>
                  <a:srgbClr val="FFF100"/>
                </a:solidFill>
                <a:latin typeface="Liberation Sans Narrow" pitchFamily="34" charset="0"/>
                <a:ea typeface="Liberation Sans Narrow" pitchFamily="34" charset="-122"/>
                <a:cs typeface="Liberation Sans Narrow" pitchFamily="34" charset="-120"/>
              </a:rPr>
              <a:t>02</a:t>
            </a:r>
            <a:endParaRPr lang="en-US" sz="8775" dirty="0"/>
          </a:p>
        </p:txBody>
      </p:sp>
      <p:sp>
        <p:nvSpPr>
          <p:cNvPr id="13" name="Text 8"/>
          <p:cNvSpPr/>
          <p:nvPr/>
        </p:nvSpPr>
        <p:spPr>
          <a:xfrm>
            <a:off x="1927138" y="928688"/>
            <a:ext cx="457200" cy="21431"/>
          </a:xfrm>
          <a:prstGeom prst="rect">
            <a:avLst/>
          </a:prstGeom>
          <a:solidFill>
            <a:srgbClr val="FFF100"/>
          </a:solidFill>
          <a:ln/>
        </p:spPr>
        <p:txBody>
          <a:bodyPr wrap="square" rtlCol="0" anchor="ctr"/>
          <a:lstStyle/>
          <a:p>
            <a:pPr marL="0" indent="0">
              <a:buNone/>
            </a:pPr>
            <a:endParaRPr lang="en-US" dirty="0"/>
          </a:p>
        </p:txBody>
      </p:sp>
      <p:sp>
        <p:nvSpPr>
          <p:cNvPr id="14" name="Text 9"/>
          <p:cNvSpPr/>
          <p:nvPr/>
        </p:nvSpPr>
        <p:spPr>
          <a:xfrm>
            <a:off x="1927138" y="1064419"/>
            <a:ext cx="4323042" cy="164592"/>
          </a:xfrm>
          <a:prstGeom prst="rect">
            <a:avLst/>
          </a:prstGeom>
          <a:noFill/>
          <a:ln/>
        </p:spPr>
        <p:txBody>
          <a:bodyPr wrap="none" lIns="0" tIns="0" rIns="0" bIns="0" rtlCol="0" anchor="t"/>
          <a:lstStyle/>
          <a:p>
            <a:pPr marL="0" indent="0" algn="l">
              <a:lnSpc>
                <a:spcPts val="1097"/>
              </a:lnSpc>
              <a:buNone/>
            </a:pPr>
            <a:r>
              <a:rPr lang="en-US" sz="800" kern="0" spc="234" dirty="0">
                <a:solidFill>
                  <a:srgbClr val="FFF100"/>
                </a:solidFill>
                <a:latin typeface="Carlito" pitchFamily="34" charset="0"/>
                <a:ea typeface="Carlito" pitchFamily="34" charset="-122"/>
                <a:cs typeface="Carlito" pitchFamily="34" charset="-120"/>
              </a:rPr>
              <a:t>SECTION TWO / THREE</a:t>
            </a:r>
            <a:endParaRPr lang="en-US" sz="800" dirty="0"/>
          </a:p>
        </p:txBody>
      </p:sp>
      <p:sp>
        <p:nvSpPr>
          <p:cNvPr id="15" name="Text 10"/>
          <p:cNvSpPr/>
          <p:nvPr/>
        </p:nvSpPr>
        <p:spPr>
          <a:xfrm>
            <a:off x="1927138" y="1289447"/>
            <a:ext cx="3416197" cy="950422"/>
          </a:xfrm>
          <a:prstGeom prst="rect">
            <a:avLst/>
          </a:prstGeom>
          <a:noFill/>
          <a:ln/>
        </p:spPr>
        <p:txBody>
          <a:bodyPr wrap="square" lIns="0" tIns="0" rIns="0" bIns="0" rtlCol="0" anchor="t"/>
          <a:lstStyle/>
          <a:p>
            <a:pPr marL="0" indent="0" algn="l">
              <a:lnSpc>
                <a:spcPts val="3465"/>
              </a:lnSpc>
              <a:buNone/>
            </a:pPr>
            <a:r>
              <a:rPr lang="en-US" sz="3150" kern="0" spc="-32" dirty="0">
                <a:solidFill>
                  <a:schemeClr val="bg1"/>
                </a:solidFill>
                <a:latin typeface="Tinos" pitchFamily="34" charset="0"/>
                <a:ea typeface="Tinos" pitchFamily="34" charset="-122"/>
                <a:cs typeface="Tinos" pitchFamily="34" charset="-120"/>
              </a:rPr>
              <a:t>Match Statistics &amp;</a:t>
            </a:r>
            <a:endParaRPr lang="en-US" sz="3150" dirty="0">
              <a:solidFill>
                <a:schemeClr val="bg1"/>
              </a:solidFill>
            </a:endParaRPr>
          </a:p>
          <a:p>
            <a:pPr marL="0" indent="0" algn="l">
              <a:lnSpc>
                <a:spcPts val="3465"/>
              </a:lnSpc>
              <a:buNone/>
            </a:pPr>
            <a:r>
              <a:rPr lang="en-US" sz="3150" kern="0" spc="-32" dirty="0">
                <a:solidFill>
                  <a:schemeClr val="bg1"/>
                </a:solidFill>
                <a:latin typeface="Tinos" pitchFamily="34" charset="0"/>
                <a:ea typeface="Tinos" pitchFamily="34" charset="-122"/>
                <a:cs typeface="Tinos" pitchFamily="34" charset="-120"/>
              </a:rPr>
              <a:t>Performance</a:t>
            </a:r>
            <a:endParaRPr lang="en-US" sz="3150" dirty="0">
              <a:solidFill>
                <a:schemeClr val="bg1"/>
              </a:solidFill>
            </a:endParaRPr>
          </a:p>
        </p:txBody>
      </p:sp>
      <p:sp>
        <p:nvSpPr>
          <p:cNvPr id="16" name="Text 11"/>
          <p:cNvSpPr/>
          <p:nvPr/>
        </p:nvSpPr>
        <p:spPr>
          <a:xfrm>
            <a:off x="1927138" y="2312343"/>
            <a:ext cx="3354084" cy="231458"/>
          </a:xfrm>
          <a:prstGeom prst="rect">
            <a:avLst/>
          </a:prstGeom>
          <a:noFill/>
          <a:ln/>
        </p:spPr>
        <p:txBody>
          <a:bodyPr wrap="square" lIns="0" tIns="0" rIns="0" bIns="0" rtlCol="0" anchor="t"/>
          <a:lstStyle/>
          <a:p>
            <a:pPr marL="0" indent="0" algn="l">
              <a:lnSpc>
                <a:spcPts val="1688"/>
              </a:lnSpc>
              <a:buNone/>
            </a:pPr>
            <a:r>
              <a:rPr lang="en-US" sz="1200" kern="0" spc="122" dirty="0">
                <a:solidFill>
                  <a:schemeClr val="bg1"/>
                </a:solidFill>
                <a:latin typeface="Carlito" pitchFamily="34" charset="0"/>
                <a:ea typeface="Carlito" pitchFamily="34" charset="-122"/>
                <a:cs typeface="Carlito" pitchFamily="34" charset="-120"/>
              </a:rPr>
              <a:t>PRESENTED BY </a:t>
            </a:r>
            <a:r>
              <a:rPr lang="en-US" sz="1200" kern="0" spc="45" dirty="0">
                <a:solidFill>
                  <a:srgbClr val="FFFF00"/>
                </a:solidFill>
                <a:latin typeface="Carlito" pitchFamily="34" charset="0"/>
                <a:ea typeface="Carlito" pitchFamily="34" charset="-122"/>
                <a:cs typeface="Carlito" pitchFamily="34" charset="-120"/>
              </a:rPr>
              <a:t>Keyvan Hajizade</a:t>
            </a:r>
            <a:endParaRPr lang="en-US" sz="1200" dirty="0">
              <a:solidFill>
                <a:srgbClr val="FFFF00"/>
              </a:solidFill>
            </a:endParaRPr>
          </a:p>
        </p:txBody>
      </p:sp>
      <p:sp>
        <p:nvSpPr>
          <p:cNvPr id="17" name="Shape 12"/>
          <p:cNvSpPr/>
          <p:nvPr/>
        </p:nvSpPr>
        <p:spPr>
          <a:xfrm>
            <a:off x="632222" y="2983855"/>
            <a:ext cx="0" cy="1044327"/>
          </a:xfrm>
          <a:prstGeom prst="line">
            <a:avLst/>
          </a:prstGeom>
          <a:noFill/>
          <a:ln w="7144">
            <a:solidFill>
              <a:srgbClr val="FFF100"/>
            </a:solidFill>
            <a:prstDash val="solid"/>
          </a:ln>
        </p:spPr>
      </p:sp>
      <p:sp>
        <p:nvSpPr>
          <p:cNvPr id="18" name="Text 13"/>
          <p:cNvSpPr/>
          <p:nvPr/>
        </p:nvSpPr>
        <p:spPr>
          <a:xfrm>
            <a:off x="835819" y="2983855"/>
            <a:ext cx="6793706" cy="164592"/>
          </a:xfrm>
          <a:prstGeom prst="rect">
            <a:avLst/>
          </a:prstGeom>
          <a:noFill/>
          <a:ln/>
        </p:spPr>
        <p:txBody>
          <a:bodyPr wrap="none" lIns="0" tIns="0" rIns="0" bIns="0" rtlCol="0" anchor="t"/>
          <a:lstStyle/>
          <a:p>
            <a:pPr marL="0" indent="0" algn="l">
              <a:lnSpc>
                <a:spcPts val="1097"/>
              </a:lnSpc>
              <a:buNone/>
            </a:pPr>
            <a:r>
              <a:rPr lang="en-US" sz="1000" kern="0" spc="234" dirty="0">
                <a:solidFill>
                  <a:schemeClr val="bg1"/>
                </a:solidFill>
                <a:latin typeface="Carlito" pitchFamily="34" charset="0"/>
                <a:ea typeface="Carlito" pitchFamily="34" charset="-122"/>
                <a:cs typeface="Carlito" pitchFamily="34" charset="-120"/>
              </a:rPr>
              <a:t>QUESTIONS IN THIS SECTION</a:t>
            </a:r>
            <a:endParaRPr lang="en-US" sz="1000" dirty="0">
              <a:solidFill>
                <a:schemeClr val="bg1"/>
              </a:solidFill>
            </a:endParaRPr>
          </a:p>
        </p:txBody>
      </p:sp>
      <p:sp>
        <p:nvSpPr>
          <p:cNvPr id="19" name="Text 14"/>
          <p:cNvSpPr/>
          <p:nvPr/>
        </p:nvSpPr>
        <p:spPr>
          <a:xfrm>
            <a:off x="835819" y="3237458"/>
            <a:ext cx="3386673" cy="224917"/>
          </a:xfrm>
          <a:prstGeom prst="rect">
            <a:avLst/>
          </a:prstGeom>
          <a:noFill/>
          <a:ln/>
        </p:spPr>
        <p:txBody>
          <a:bodyPr wrap="none" lIns="0" tIns="0" rIns="0" bIns="0" rtlCol="0" anchor="t"/>
          <a:lstStyle/>
          <a:p>
            <a:pPr marL="0" indent="0" algn="l">
              <a:lnSpc>
                <a:spcPts val="1557"/>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Q7    </a:t>
            </a:r>
            <a:r>
              <a:rPr lang="en-US" sz="1000" kern="0" spc="11" dirty="0">
                <a:solidFill>
                  <a:srgbClr val="FFFF00"/>
                </a:solidFill>
                <a:latin typeface="Carlito" pitchFamily="34" charset="0"/>
                <a:ea typeface="Carlito" pitchFamily="34" charset="-122"/>
                <a:cs typeface="Carlito" pitchFamily="34" charset="-120"/>
              </a:rPr>
              <a:t>Average aces per match</a:t>
            </a:r>
            <a:endParaRPr lang="en-US" sz="1000" dirty="0">
              <a:solidFill>
                <a:srgbClr val="FFFF00"/>
              </a:solidFill>
            </a:endParaRPr>
          </a:p>
        </p:txBody>
      </p:sp>
      <p:sp>
        <p:nvSpPr>
          <p:cNvPr id="20" name="Text 15"/>
          <p:cNvSpPr/>
          <p:nvPr/>
        </p:nvSpPr>
        <p:spPr>
          <a:xfrm>
            <a:off x="4404122" y="3237458"/>
            <a:ext cx="3225403" cy="224917"/>
          </a:xfrm>
          <a:prstGeom prst="rect">
            <a:avLst/>
          </a:prstGeom>
          <a:noFill/>
          <a:ln/>
        </p:spPr>
        <p:txBody>
          <a:bodyPr wrap="none" lIns="0" tIns="0" rIns="0" bIns="0" rtlCol="0" anchor="t"/>
          <a:lstStyle/>
          <a:p>
            <a:pPr marL="0" indent="0" algn="l">
              <a:lnSpc>
                <a:spcPts val="1557"/>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Q8</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Carlito" pitchFamily="34" charset="0"/>
                <a:ea typeface="Carlito" pitchFamily="34" charset="-122"/>
                <a:cs typeface="Carlito" pitchFamily="34" charset="-120"/>
              </a:rPr>
              <a:t>Double faults by gender</a:t>
            </a:r>
            <a:endParaRPr lang="en-US" sz="1000" dirty="0">
              <a:solidFill>
                <a:srgbClr val="FFFF00"/>
              </a:solidFill>
            </a:endParaRPr>
          </a:p>
        </p:txBody>
      </p:sp>
      <p:sp>
        <p:nvSpPr>
          <p:cNvPr id="21" name="Text 16"/>
          <p:cNvSpPr/>
          <p:nvPr/>
        </p:nvSpPr>
        <p:spPr>
          <a:xfrm>
            <a:off x="835819" y="3435139"/>
            <a:ext cx="3483435" cy="224917"/>
          </a:xfrm>
          <a:prstGeom prst="rect">
            <a:avLst/>
          </a:prstGeom>
          <a:noFill/>
          <a:ln/>
        </p:spPr>
        <p:txBody>
          <a:bodyPr wrap="square" lIns="0" tIns="0" rIns="0" bIns="0" rtlCol="0" anchor="t"/>
          <a:lstStyle/>
          <a:p>
            <a:pPr marL="0" indent="0" algn="l">
              <a:lnSpc>
                <a:spcPts val="1557"/>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Q12  </a:t>
            </a:r>
            <a:r>
              <a:rPr lang="en-US" sz="1000" kern="0" spc="11" dirty="0">
                <a:solidFill>
                  <a:srgbClr val="FFFF00"/>
                </a:solidFill>
                <a:latin typeface="Carlito" pitchFamily="34" charset="0"/>
                <a:ea typeface="Carlito" pitchFamily="34" charset="-122"/>
                <a:cs typeface="Carlito" pitchFamily="34" charset="-120"/>
              </a:rPr>
              <a:t>Games per set: men vs women</a:t>
            </a:r>
            <a:endParaRPr lang="en-US" sz="1000" dirty="0">
              <a:solidFill>
                <a:srgbClr val="FFFF00"/>
              </a:solidFill>
            </a:endParaRPr>
          </a:p>
        </p:txBody>
      </p:sp>
      <p:sp>
        <p:nvSpPr>
          <p:cNvPr id="22" name="Text 17"/>
          <p:cNvSpPr/>
          <p:nvPr/>
        </p:nvSpPr>
        <p:spPr>
          <a:xfrm>
            <a:off x="4404122" y="3435139"/>
            <a:ext cx="3335131" cy="224917"/>
          </a:xfrm>
          <a:prstGeom prst="rect">
            <a:avLst/>
          </a:prstGeom>
          <a:noFill/>
          <a:ln/>
        </p:spPr>
        <p:txBody>
          <a:bodyPr wrap="square" lIns="0" tIns="0" rIns="0" bIns="0" rtlCol="0" anchor="t"/>
          <a:lstStyle/>
          <a:p>
            <a:pPr marL="0" indent="0" algn="l">
              <a:lnSpc>
                <a:spcPts val="1557"/>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Q16</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Liberation Sans Narrow" pitchFamily="34" charset="0"/>
                <a:ea typeface="Liberation Sans Narrow" pitchFamily="34" charset="-122"/>
                <a:cs typeface="Liberation Sans Narrow" pitchFamily="34" charset="-120"/>
              </a:rPr>
              <a:t>Win rate vs top-10 opponents</a:t>
            </a:r>
            <a:endParaRPr lang="en-US" sz="1000" dirty="0">
              <a:solidFill>
                <a:srgbClr val="FFFF00"/>
              </a:solidFill>
            </a:endParaRPr>
          </a:p>
        </p:txBody>
      </p:sp>
      <p:sp>
        <p:nvSpPr>
          <p:cNvPr id="23" name="Text 18"/>
          <p:cNvSpPr/>
          <p:nvPr/>
        </p:nvSpPr>
        <p:spPr>
          <a:xfrm>
            <a:off x="835819" y="3632820"/>
            <a:ext cx="3483435" cy="224917"/>
          </a:xfrm>
          <a:prstGeom prst="rect">
            <a:avLst/>
          </a:prstGeom>
          <a:noFill/>
          <a:ln/>
        </p:spPr>
        <p:txBody>
          <a:bodyPr wrap="square" lIns="0" tIns="0" rIns="0" bIns="0" rtlCol="0" anchor="t"/>
          <a:lstStyle/>
          <a:p>
            <a:pPr marL="0" indent="0" algn="l">
              <a:lnSpc>
                <a:spcPts val="1557"/>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Q17  </a:t>
            </a:r>
            <a:r>
              <a:rPr lang="en-US" sz="1000" kern="0" spc="11" dirty="0">
                <a:solidFill>
                  <a:srgbClr val="FFFF00"/>
                </a:solidFill>
                <a:latin typeface="Carlito" pitchFamily="34" charset="0"/>
                <a:ea typeface="Carlito" pitchFamily="34" charset="-122"/>
                <a:cs typeface="Carlito" pitchFamily="34" charset="-120"/>
              </a:rPr>
              <a:t>Average breaks of serve per match</a:t>
            </a:r>
            <a:endParaRPr lang="en-US" sz="1000" dirty="0">
              <a:solidFill>
                <a:srgbClr val="FFFF00"/>
              </a:solidFill>
            </a:endParaRPr>
          </a:p>
        </p:txBody>
      </p:sp>
      <p:sp>
        <p:nvSpPr>
          <p:cNvPr id="24" name="Text 19"/>
          <p:cNvSpPr/>
          <p:nvPr/>
        </p:nvSpPr>
        <p:spPr>
          <a:xfrm>
            <a:off x="4394810" y="3700559"/>
            <a:ext cx="411480" cy="224885"/>
          </a:xfrm>
          <a:prstGeom prst="rect">
            <a:avLst/>
          </a:prstGeom>
          <a:noFill/>
          <a:ln/>
        </p:spPr>
        <p:txBody>
          <a:bodyPr wrap="none" lIns="0" tIns="0" rIns="0" bIns="0" rtlCol="0" anchor="t"/>
          <a:lstStyle/>
          <a:p>
            <a:pPr marL="0" indent="0" algn="l">
              <a:lnSpc>
                <a:spcPts val="1384"/>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OP1</a:t>
            </a:r>
            <a:endParaRPr lang="en-US" sz="1000" dirty="0">
              <a:solidFill>
                <a:schemeClr val="bg1"/>
              </a:solidFill>
            </a:endParaRPr>
          </a:p>
        </p:txBody>
      </p:sp>
      <p:sp>
        <p:nvSpPr>
          <p:cNvPr id="25" name="Text 20"/>
          <p:cNvSpPr/>
          <p:nvPr/>
        </p:nvSpPr>
        <p:spPr>
          <a:xfrm>
            <a:off x="4661297" y="3675682"/>
            <a:ext cx="1295731" cy="296639"/>
          </a:xfrm>
          <a:prstGeom prst="rect">
            <a:avLst/>
          </a:prstGeom>
          <a:noFill/>
          <a:ln/>
        </p:spPr>
        <p:txBody>
          <a:bodyPr wrap="none" lIns="0" tIns="0" rIns="0" bIns="0" rtlCol="0" anchor="t"/>
          <a:lstStyle/>
          <a:p>
            <a:pPr marL="0" indent="0" algn="l">
              <a:lnSpc>
                <a:spcPts val="1557"/>
              </a:lnSpc>
              <a:buNone/>
            </a:pPr>
            <a:r>
              <a:rPr lang="en-US" sz="1000" kern="0" spc="11" dirty="0">
                <a:solidFill>
                  <a:srgbClr val="FFFF00"/>
                </a:solidFill>
                <a:latin typeface="Carlito" pitchFamily="34" charset="0"/>
                <a:ea typeface="Carlito" pitchFamily="34" charset="-122"/>
                <a:cs typeface="Carlito" pitchFamily="34" charset="-120"/>
              </a:rPr>
              <a:t>  Do winners hit more aces?</a:t>
            </a:r>
            <a:endParaRPr lang="en-US" sz="1000" dirty="0">
              <a:solidFill>
                <a:srgbClr val="FFFF00"/>
              </a:solidFill>
            </a:endParaRPr>
          </a:p>
        </p:txBody>
      </p:sp>
      <p:sp>
        <p:nvSpPr>
          <p:cNvPr id="26" name="Text 21"/>
          <p:cNvSpPr/>
          <p:nvPr/>
        </p:nvSpPr>
        <p:spPr>
          <a:xfrm>
            <a:off x="835819" y="3903587"/>
            <a:ext cx="411480" cy="183393"/>
          </a:xfrm>
          <a:prstGeom prst="rect">
            <a:avLst/>
          </a:prstGeom>
          <a:noFill/>
          <a:ln/>
        </p:spPr>
        <p:txBody>
          <a:bodyPr wrap="none" lIns="0" tIns="0" rIns="0" bIns="0" rtlCol="0" anchor="t"/>
          <a:lstStyle/>
          <a:p>
            <a:pPr marL="0" indent="0" algn="l">
              <a:lnSpc>
                <a:spcPts val="1384"/>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OP2</a:t>
            </a:r>
            <a:endParaRPr lang="en-US" sz="1000" dirty="0">
              <a:solidFill>
                <a:schemeClr val="bg1"/>
              </a:solidFill>
            </a:endParaRPr>
          </a:p>
        </p:txBody>
      </p:sp>
      <p:sp>
        <p:nvSpPr>
          <p:cNvPr id="27" name="Text 22"/>
          <p:cNvSpPr/>
          <p:nvPr/>
        </p:nvSpPr>
        <p:spPr>
          <a:xfrm>
            <a:off x="1164715" y="3857737"/>
            <a:ext cx="1982045" cy="275339"/>
          </a:xfrm>
          <a:prstGeom prst="rect">
            <a:avLst/>
          </a:prstGeom>
          <a:noFill/>
          <a:ln/>
        </p:spPr>
        <p:txBody>
          <a:bodyPr wrap="square" lIns="0" tIns="0" rIns="0" bIns="0" rtlCol="0" anchor="t"/>
          <a:lstStyle/>
          <a:p>
            <a:pPr marL="0" indent="0" algn="l">
              <a:lnSpc>
                <a:spcPts val="1557"/>
              </a:lnSpc>
              <a:buNone/>
            </a:pPr>
            <a:r>
              <a:rPr lang="en-US" sz="1000" kern="0" spc="11" dirty="0">
                <a:solidFill>
                  <a:srgbClr val="FFFF00"/>
                </a:solidFill>
                <a:latin typeface="Carlito" pitchFamily="34" charset="0"/>
                <a:ea typeface="Carlito" pitchFamily="34" charset="-122"/>
                <a:cs typeface="Carlito" pitchFamily="34" charset="-120"/>
              </a:rPr>
              <a:t> Court surface effect on aces</a:t>
            </a:r>
            <a:endParaRPr lang="en-US" sz="1000" dirty="0">
              <a:solidFill>
                <a:srgbClr val="FFFF00"/>
              </a:solidFill>
            </a:endParaRPr>
          </a:p>
        </p:txBody>
      </p:sp>
      <p:sp>
        <p:nvSpPr>
          <p:cNvPr id="28" name="Text 23"/>
          <p:cNvSpPr/>
          <p:nvPr/>
        </p:nvSpPr>
        <p:spPr>
          <a:xfrm>
            <a:off x="457200" y="4868466"/>
            <a:ext cx="7875984"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6EF44E"/>
                </a:solidFill>
                <a:latin typeface="Carlito" pitchFamily="34" charset="0"/>
                <a:ea typeface="Carlito" pitchFamily="34" charset="-122"/>
                <a:cs typeface="Carlito" pitchFamily="34" charset="-120"/>
              </a:rPr>
              <a:t>KEYVAN HAJIZADE · MATCH STATISTICS &amp; PERFORMANCE</a:t>
            </a:r>
            <a:endParaRPr lang="en-US" sz="800" dirty="0">
              <a:solidFill>
                <a:srgbClr val="6EF44E"/>
              </a:solidFill>
            </a:endParaRPr>
          </a:p>
        </p:txBody>
      </p:sp>
      <p:sp>
        <p:nvSpPr>
          <p:cNvPr id="29" name="Text 24"/>
          <p:cNvSpPr/>
          <p:nvPr/>
        </p:nvSpPr>
        <p:spPr>
          <a:xfrm>
            <a:off x="8347472" y="4868466"/>
            <a:ext cx="508727"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95D5B2"/>
                </a:solidFill>
                <a:latin typeface="Liberation Sans Narrow" pitchFamily="34" charset="0"/>
                <a:ea typeface="Liberation Sans Narrow" pitchFamily="34" charset="-122"/>
                <a:cs typeface="Liberation Sans Narrow" pitchFamily="34" charset="-120"/>
              </a:rPr>
              <a:t>11 / 30</a:t>
            </a:r>
            <a:endParaRPr lang="en-US" sz="800" dirty="0"/>
          </a:p>
        </p:txBody>
      </p:sp>
      <p:sp>
        <p:nvSpPr>
          <p:cNvPr id="37" name="Shape 9">
            <a:extLst>
              <a:ext uri="{FF2B5EF4-FFF2-40B4-BE49-F238E27FC236}">
                <a16:creationId xmlns:a16="http://schemas.microsoft.com/office/drawing/2014/main" id="{411098FF-3399-2CAD-36A5-89E57474E7F4}"/>
              </a:ext>
            </a:extLst>
          </p:cNvPr>
          <p:cNvSpPr/>
          <p:nvPr/>
        </p:nvSpPr>
        <p:spPr>
          <a:xfrm>
            <a:off x="693751" y="3439211"/>
            <a:ext cx="2600325" cy="0"/>
          </a:xfrm>
          <a:prstGeom prst="line">
            <a:avLst/>
          </a:prstGeom>
          <a:noFill/>
          <a:ln w="7144">
            <a:solidFill>
              <a:srgbClr val="F4F1DE"/>
            </a:solidFill>
            <a:prstDash val="solid"/>
          </a:ln>
        </p:spPr>
      </p:sp>
      <p:sp>
        <p:nvSpPr>
          <p:cNvPr id="39" name="Shape 9">
            <a:extLst>
              <a:ext uri="{FF2B5EF4-FFF2-40B4-BE49-F238E27FC236}">
                <a16:creationId xmlns:a16="http://schemas.microsoft.com/office/drawing/2014/main" id="{BD3FEA27-71BD-949F-A339-BFB40AC279EA}"/>
              </a:ext>
            </a:extLst>
          </p:cNvPr>
          <p:cNvSpPr/>
          <p:nvPr/>
        </p:nvSpPr>
        <p:spPr>
          <a:xfrm>
            <a:off x="693751" y="3664128"/>
            <a:ext cx="2600325" cy="0"/>
          </a:xfrm>
          <a:prstGeom prst="line">
            <a:avLst/>
          </a:prstGeom>
          <a:noFill/>
          <a:ln w="7144">
            <a:solidFill>
              <a:srgbClr val="F4F1DE"/>
            </a:solidFill>
            <a:prstDash val="solid"/>
          </a:ln>
        </p:spPr>
      </p:sp>
      <p:sp>
        <p:nvSpPr>
          <p:cNvPr id="41" name="Shape 9">
            <a:extLst>
              <a:ext uri="{FF2B5EF4-FFF2-40B4-BE49-F238E27FC236}">
                <a16:creationId xmlns:a16="http://schemas.microsoft.com/office/drawing/2014/main" id="{9E9B6787-FEDD-684B-3412-1D162389A68C}"/>
              </a:ext>
            </a:extLst>
          </p:cNvPr>
          <p:cNvSpPr/>
          <p:nvPr/>
        </p:nvSpPr>
        <p:spPr>
          <a:xfrm>
            <a:off x="693751" y="3876558"/>
            <a:ext cx="2600325" cy="0"/>
          </a:xfrm>
          <a:prstGeom prst="line">
            <a:avLst/>
          </a:prstGeom>
          <a:noFill/>
          <a:ln w="7144">
            <a:solidFill>
              <a:srgbClr val="F4F1DE"/>
            </a:solidFill>
            <a:prstDash val="solid"/>
          </a:ln>
        </p:spPr>
      </p:sp>
      <p:sp>
        <p:nvSpPr>
          <p:cNvPr id="43" name="Shape 9">
            <a:extLst>
              <a:ext uri="{FF2B5EF4-FFF2-40B4-BE49-F238E27FC236}">
                <a16:creationId xmlns:a16="http://schemas.microsoft.com/office/drawing/2014/main" id="{52F7F2A8-CD3E-32FD-150E-9EB24238B573}"/>
              </a:ext>
            </a:extLst>
          </p:cNvPr>
          <p:cNvSpPr/>
          <p:nvPr/>
        </p:nvSpPr>
        <p:spPr>
          <a:xfrm>
            <a:off x="4222492" y="3462375"/>
            <a:ext cx="2600325" cy="0"/>
          </a:xfrm>
          <a:prstGeom prst="line">
            <a:avLst/>
          </a:prstGeom>
          <a:noFill/>
          <a:ln w="7144">
            <a:solidFill>
              <a:srgbClr val="F4F1DE"/>
            </a:solidFill>
            <a:prstDash val="solid"/>
          </a:ln>
        </p:spPr>
      </p:sp>
      <p:sp>
        <p:nvSpPr>
          <p:cNvPr id="45" name="Shape 9">
            <a:extLst>
              <a:ext uri="{FF2B5EF4-FFF2-40B4-BE49-F238E27FC236}">
                <a16:creationId xmlns:a16="http://schemas.microsoft.com/office/drawing/2014/main" id="{7FDBB8AC-84B7-D978-8E57-4942DDB40C4E}"/>
              </a:ext>
            </a:extLst>
          </p:cNvPr>
          <p:cNvSpPr/>
          <p:nvPr/>
        </p:nvSpPr>
        <p:spPr>
          <a:xfrm>
            <a:off x="4222492" y="3675682"/>
            <a:ext cx="2600325" cy="0"/>
          </a:xfrm>
          <a:prstGeom prst="line">
            <a:avLst/>
          </a:prstGeom>
          <a:noFill/>
          <a:ln w="7144">
            <a:solidFill>
              <a:srgbClr val="F4F1DE"/>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400050" y="617934"/>
            <a:ext cx="8343900" cy="0"/>
          </a:xfrm>
          <a:prstGeom prst="line">
            <a:avLst/>
          </a:prstGeom>
          <a:noFill/>
          <a:ln w="7144">
            <a:solidFill>
              <a:srgbClr val="FFF100"/>
            </a:solidFill>
            <a:prstDash val="solid"/>
          </a:ln>
        </p:spPr>
      </p:sp>
      <p:sp>
        <p:nvSpPr>
          <p:cNvPr id="3" name="Text 1"/>
          <p:cNvSpPr/>
          <p:nvPr/>
        </p:nvSpPr>
        <p:spPr>
          <a:xfrm>
            <a:off x="400050" y="257175"/>
            <a:ext cx="335399" cy="257175"/>
          </a:xfrm>
          <a:prstGeom prst="rect">
            <a:avLst/>
          </a:prstGeom>
          <a:noFill/>
          <a:ln/>
        </p:spPr>
        <p:txBody>
          <a:bodyPr wrap="none" lIns="0" tIns="0" rIns="0" bIns="0" rtlCol="0" anchor="t"/>
          <a:lstStyle/>
          <a:p>
            <a:pPr marL="0" indent="0" algn="l">
              <a:lnSpc>
                <a:spcPts val="2025"/>
              </a:lnSpc>
              <a:buNone/>
            </a:pPr>
            <a:r>
              <a:rPr lang="en-US" sz="1350" b="1" i="1" dirty="0">
                <a:solidFill>
                  <a:srgbClr val="FFF100"/>
                </a:solidFill>
                <a:latin typeface="Liberation Sans Narrow" pitchFamily="34" charset="0"/>
                <a:ea typeface="Liberation Sans Narrow" pitchFamily="34" charset="-122"/>
                <a:cs typeface="Liberation Sans Narrow" pitchFamily="34" charset="-120"/>
              </a:rPr>
              <a:t>Q7</a:t>
            </a:r>
            <a:endParaRPr lang="en-US" sz="1350" dirty="0"/>
          </a:p>
        </p:txBody>
      </p:sp>
      <p:sp>
        <p:nvSpPr>
          <p:cNvPr id="7" name="Text 5"/>
          <p:cNvSpPr/>
          <p:nvPr/>
        </p:nvSpPr>
        <p:spPr>
          <a:xfrm>
            <a:off x="400050" y="778669"/>
            <a:ext cx="5006318" cy="3964781"/>
          </a:xfrm>
          <a:prstGeom prst="roundRect">
            <a:avLst>
              <a:gd name="adj" fmla="val 1922"/>
            </a:avLst>
          </a:prstGeom>
          <a:solidFill>
            <a:srgbClr val="FFFFFF"/>
          </a:solidFill>
          <a:ln/>
          <a:effectLst>
            <a:outerShdw blurRad="342900" dist="114300" dir="5400000" algn="bl" rotWithShape="0">
              <a:srgbClr val="000000">
                <a:alpha val="30000"/>
              </a:srgbClr>
            </a:outerShdw>
          </a:effectLst>
        </p:spPr>
        <p:txBody>
          <a:bodyPr wrap="square" rtlCol="0" anchor="ctr"/>
          <a:lstStyle/>
          <a:p>
            <a:pPr marL="0" indent="0">
              <a:buNone/>
            </a:pPr>
            <a:endParaRPr lang="en-US" dirty="0"/>
          </a:p>
        </p:txBody>
      </p:sp>
      <p:pic>
        <p:nvPicPr>
          <p:cNvPr id="8" name="Image 0" descr="/tmp/h2p-fit-1789550276013-b8hf5u.png"/>
          <p:cNvPicPr>
            <a:picLocks noChangeAspect="1"/>
          </p:cNvPicPr>
          <p:nvPr/>
        </p:nvPicPr>
        <p:blipFill>
          <a:blip r:embed="rId3"/>
          <a:stretch>
            <a:fillRect/>
          </a:stretch>
        </p:blipFill>
        <p:spPr>
          <a:xfrm>
            <a:off x="528638" y="1307641"/>
            <a:ext cx="4749143" cy="2722773"/>
          </a:xfrm>
          <a:prstGeom prst="rect">
            <a:avLst/>
          </a:prstGeom>
        </p:spPr>
      </p:pic>
      <p:sp>
        <p:nvSpPr>
          <p:cNvPr id="9" name="Text 6"/>
          <p:cNvSpPr/>
          <p:nvPr/>
        </p:nvSpPr>
        <p:spPr>
          <a:xfrm>
            <a:off x="528638" y="4502348"/>
            <a:ext cx="4749143" cy="112514"/>
          </a:xfrm>
          <a:prstGeom prst="rect">
            <a:avLst/>
          </a:prstGeom>
          <a:noFill/>
          <a:ln/>
        </p:spPr>
        <p:txBody>
          <a:bodyPr wrap="square" lIns="0" tIns="0" rIns="0" bIns="0" rtlCol="0" anchor="t"/>
          <a:lstStyle/>
          <a:p>
            <a:pPr marL="0" indent="0" algn="ctr">
              <a:lnSpc>
                <a:spcPts val="886"/>
              </a:lnSpc>
              <a:buNone/>
            </a:pPr>
            <a:r>
              <a:rPr lang="en-US" sz="800" kern="0" spc="71" dirty="0">
                <a:solidFill>
                  <a:srgbClr val="6FA68A"/>
                </a:solidFill>
                <a:latin typeface="Carlito" pitchFamily="34" charset="0"/>
                <a:ea typeface="Carlito" pitchFamily="34" charset="-122"/>
                <a:cs typeface="Carlito" pitchFamily="34" charset="-120"/>
              </a:rPr>
              <a:t>FIG.9  — DISTRIBUTION OF TOTAL ACES PER MATCH (N = FULL MATCH SAMPLE)</a:t>
            </a:r>
            <a:endParaRPr lang="en-US" sz="800" dirty="0"/>
          </a:p>
        </p:txBody>
      </p:sp>
      <p:sp>
        <p:nvSpPr>
          <p:cNvPr id="10" name="Text 7"/>
          <p:cNvSpPr/>
          <p:nvPr/>
        </p:nvSpPr>
        <p:spPr>
          <a:xfrm>
            <a:off x="5606393" y="778669"/>
            <a:ext cx="3137557" cy="481239"/>
          </a:xfrm>
          <a:prstGeom prst="rect">
            <a:avLst/>
          </a:prstGeom>
          <a:noFill/>
          <a:ln/>
        </p:spPr>
        <p:txBody>
          <a:bodyPr wrap="square" lIns="0" tIns="0" rIns="0" bIns="0" rtlCol="0" anchor="t"/>
          <a:lstStyle/>
          <a:p>
            <a:pPr marL="0" indent="0" algn="l">
              <a:lnSpc>
                <a:spcPts val="1755"/>
              </a:lnSpc>
              <a:buNone/>
            </a:pPr>
            <a:r>
              <a:rPr lang="en-US" sz="1463" kern="0" spc="-7" dirty="0">
                <a:solidFill>
                  <a:srgbClr val="F4F1DE"/>
                </a:solidFill>
                <a:latin typeface="Tinos" pitchFamily="34" charset="0"/>
                <a:ea typeface="Tinos" pitchFamily="34" charset="-122"/>
                <a:cs typeface="Tinos" pitchFamily="34" charset="-120"/>
              </a:rPr>
              <a:t>What Is the Average Number of Aces per Match?</a:t>
            </a:r>
            <a:endParaRPr lang="en-US" sz="1463" dirty="0"/>
          </a:p>
        </p:txBody>
      </p:sp>
      <p:sp>
        <p:nvSpPr>
          <p:cNvPr id="11" name="Text 8"/>
          <p:cNvSpPr/>
          <p:nvPr/>
        </p:nvSpPr>
        <p:spPr>
          <a:xfrm>
            <a:off x="5606393" y="1324273"/>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606393" y="1460004"/>
            <a:ext cx="3137557" cy="969344"/>
          </a:xfrm>
          <a:prstGeom prst="rect">
            <a:avLst/>
          </a:prstGeom>
          <a:noFill/>
          <a:ln/>
        </p:spPr>
        <p:txBody>
          <a:bodyPr wrap="square" lIns="0" tIns="0" rIns="0" bIns="0" rtlCol="0" anchor="t">
            <a:normAutofit/>
          </a:bodyPr>
          <a:lstStyle/>
          <a:p>
            <a:pPr marL="0" indent="0" algn="l">
              <a:lnSpc>
                <a:spcPts val="1177"/>
              </a:lnSpc>
              <a:buNone/>
            </a:pPr>
            <a:r>
              <a:rPr lang="en-US" sz="900" dirty="0">
                <a:solidFill>
                  <a:srgbClr val="F4F1DE"/>
                </a:solidFill>
                <a:latin typeface="Candara" panose="020E0502030303020204" pitchFamily="34" charset="0"/>
                <a:ea typeface="Carlito" pitchFamily="34" charset="-122"/>
                <a:cs typeface="Carlito" pitchFamily="34" charset="-120"/>
              </a:rPr>
              <a:t>The mean total aces per match is </a:t>
            </a:r>
            <a:r>
              <a:rPr lang="en-US" sz="900" dirty="0">
                <a:solidFill>
                  <a:srgbClr val="FFF8B5"/>
                </a:solidFill>
                <a:latin typeface="Candara" panose="020E0502030303020204" pitchFamily="34" charset="0"/>
                <a:ea typeface="Liberation Sans Narrow" pitchFamily="34" charset="-122"/>
                <a:cs typeface="Liberation Sans Narrow" pitchFamily="34" charset="-120"/>
              </a:rPr>
              <a:t>5.34</a:t>
            </a:r>
            <a:r>
              <a:rPr lang="en-US" sz="900" dirty="0">
                <a:solidFill>
                  <a:srgbClr val="F4F1DE"/>
                </a:solidFill>
                <a:latin typeface="Candara" panose="020E0502030303020204" pitchFamily="34" charset="0"/>
                <a:ea typeface="Carlito" pitchFamily="34" charset="-122"/>
                <a:cs typeface="Carlito" pitchFamily="34" charset="-120"/>
              </a:rPr>
              <a:t> while the median is </a:t>
            </a:r>
            <a:r>
              <a:rPr lang="en-US" sz="900" dirty="0">
                <a:solidFill>
                  <a:srgbClr val="FFF8B5"/>
                </a:solidFill>
                <a:latin typeface="Candara" panose="020E0502030303020204" pitchFamily="34" charset="0"/>
                <a:ea typeface="Liberation Sans Narrow" pitchFamily="34" charset="-122"/>
                <a:cs typeface="Liberation Sans Narrow" pitchFamily="34" charset="-120"/>
              </a:rPr>
              <a:t>4</a:t>
            </a:r>
            <a:r>
              <a:rPr lang="en-US" sz="900" dirty="0">
                <a:solidFill>
                  <a:srgbClr val="F4F1DE"/>
                </a:solidFill>
                <a:latin typeface="Candara" panose="020E0502030303020204" pitchFamily="34" charset="0"/>
                <a:ea typeface="Carlito" pitchFamily="34" charset="-122"/>
                <a:cs typeface="Carlito" pitchFamily="34" charset="-120"/>
              </a:rPr>
              <a:t> — this discrepancy indicates a right-skewed distribution, clearly visible in the chart. Approximately 50% of matches feature between 0 and 6 aces, suggesting that most matches are not serve-dominated. Outliers on the right side are genuine data points from long five-set matches and were retained.</a:t>
            </a:r>
            <a:endParaRPr lang="en-US" sz="900" dirty="0">
              <a:latin typeface="Candara" panose="020E0502030303020204" pitchFamily="34" charset="0"/>
            </a:endParaRPr>
          </a:p>
        </p:txBody>
      </p:sp>
      <p:pic>
        <p:nvPicPr>
          <p:cNvPr id="13" name="Image 1" descr="preencoded.png"/>
          <p:cNvPicPr>
            <a:picLocks noChangeAspect="1"/>
          </p:cNvPicPr>
          <p:nvPr/>
        </p:nvPicPr>
        <p:blipFill>
          <a:blip r:embed="rId4"/>
          <a:stretch>
            <a:fillRect/>
          </a:stretch>
        </p:blipFill>
        <p:spPr>
          <a:xfrm>
            <a:off x="5606393" y="2456780"/>
            <a:ext cx="3137557" cy="581434"/>
          </a:xfrm>
          <a:prstGeom prst="rect">
            <a:avLst/>
          </a:prstGeom>
        </p:spPr>
      </p:pic>
      <p:sp>
        <p:nvSpPr>
          <p:cNvPr id="14" name="Shape 10"/>
          <p:cNvSpPr/>
          <p:nvPr/>
        </p:nvSpPr>
        <p:spPr>
          <a:xfrm>
            <a:off x="5617108" y="2456780"/>
            <a:ext cx="0" cy="581434"/>
          </a:xfrm>
          <a:prstGeom prst="line">
            <a:avLst/>
          </a:prstGeom>
          <a:noFill/>
          <a:ln w="21431">
            <a:solidFill>
              <a:srgbClr val="FFF100"/>
            </a:solidFill>
            <a:prstDash val="solid"/>
          </a:ln>
        </p:spPr>
      </p:sp>
      <p:sp>
        <p:nvSpPr>
          <p:cNvPr id="15" name="Text 11"/>
          <p:cNvSpPr/>
          <p:nvPr/>
        </p:nvSpPr>
        <p:spPr>
          <a:xfrm>
            <a:off x="5727836" y="2513930"/>
            <a:ext cx="3016114" cy="329756"/>
          </a:xfrm>
          <a:prstGeom prst="rect">
            <a:avLst/>
          </a:prstGeom>
          <a:noFill/>
          <a:ln/>
        </p:spPr>
        <p:txBody>
          <a:bodyPr wrap="none" lIns="0" tIns="0" rIns="0" bIns="0" rtlCol="0" anchor="t">
            <a:normAutofit/>
          </a:bodyPr>
          <a:lstStyle/>
          <a:p>
            <a:pPr marL="0" indent="0" algn="l">
              <a:lnSpc>
                <a:spcPts val="2475"/>
              </a:lnSpc>
              <a:buNone/>
            </a:pPr>
            <a:r>
              <a:rPr lang="en-US" sz="2475" b="1" kern="0" spc="-25" dirty="0">
                <a:solidFill>
                  <a:srgbClr val="FFF100"/>
                </a:solidFill>
                <a:latin typeface="Liberation Sans Narrow" pitchFamily="34" charset="0"/>
                <a:ea typeface="Liberation Sans Narrow" pitchFamily="34" charset="-122"/>
                <a:cs typeface="Liberation Sans Narrow" pitchFamily="34" charset="-120"/>
              </a:rPr>
              <a:t>5.34</a:t>
            </a:r>
            <a:endParaRPr lang="en-US" sz="2475" dirty="0"/>
          </a:p>
        </p:txBody>
      </p:sp>
      <p:sp>
        <p:nvSpPr>
          <p:cNvPr id="16" name="Text 12"/>
          <p:cNvSpPr/>
          <p:nvPr/>
        </p:nvSpPr>
        <p:spPr>
          <a:xfrm>
            <a:off x="5727836" y="2871118"/>
            <a:ext cx="3125842" cy="109947"/>
          </a:xfrm>
          <a:prstGeom prst="rect">
            <a:avLst/>
          </a:prstGeom>
          <a:noFill/>
          <a:ln/>
        </p:spPr>
        <p:txBody>
          <a:bodyPr wrap="square" lIns="0" tIns="0" rIns="0" bIns="0" rtlCol="0" anchor="t"/>
          <a:lstStyle/>
          <a:p>
            <a:pPr marL="0" indent="0" algn="l">
              <a:lnSpc>
                <a:spcPts val="866"/>
              </a:lnSpc>
              <a:buNone/>
            </a:pPr>
            <a:r>
              <a:rPr lang="en-US" sz="800" kern="0" spc="37" dirty="0">
                <a:solidFill>
                  <a:srgbClr val="95D5B2"/>
                </a:solidFill>
                <a:latin typeface="Liberation Sans Narrow" pitchFamily="34" charset="0"/>
                <a:ea typeface="Liberation Sans Narrow" pitchFamily="34" charset="-122"/>
                <a:cs typeface="Liberation Sans Narrow" pitchFamily="34" charset="-120"/>
              </a:rPr>
              <a:t>Mean aces per match · Median: 4</a:t>
            </a:r>
            <a:endParaRPr lang="en-US" sz="800" dirty="0"/>
          </a:p>
        </p:txBody>
      </p:sp>
      <p:sp>
        <p:nvSpPr>
          <p:cNvPr id="17" name="Shape 13"/>
          <p:cNvSpPr/>
          <p:nvPr/>
        </p:nvSpPr>
        <p:spPr>
          <a:xfrm>
            <a:off x="5606393" y="4300538"/>
            <a:ext cx="3137557" cy="0"/>
          </a:xfrm>
          <a:prstGeom prst="line">
            <a:avLst/>
          </a:prstGeom>
          <a:noFill/>
          <a:ln w="7144">
            <a:solidFill>
              <a:srgbClr val="FFF100"/>
            </a:solidFill>
            <a:prstDash val="dash"/>
          </a:ln>
        </p:spPr>
      </p:sp>
      <p:sp>
        <p:nvSpPr>
          <p:cNvPr id="18" name="Text 14"/>
          <p:cNvSpPr/>
          <p:nvPr/>
        </p:nvSpPr>
        <p:spPr>
          <a:xfrm>
            <a:off x="5606393" y="4396978"/>
            <a:ext cx="100013" cy="100013"/>
          </a:xfrm>
          <a:prstGeom prst="rect">
            <a:avLst/>
          </a:prstGeom>
          <a:noFill/>
          <a:ln/>
        </p:spPr>
        <p:txBody>
          <a:bodyPr wrap="none" lIns="0" tIns="0" rIns="0" bIns="0" rtlCol="0" anchor="ctr"/>
          <a:lstStyle/>
          <a:p>
            <a:pPr marL="0" indent="0" algn="ctr">
              <a:buNone/>
            </a:pPr>
            <a:endParaRPr lang="en-US" sz="984" dirty="0"/>
          </a:p>
        </p:txBody>
      </p:sp>
      <p:sp>
        <p:nvSpPr>
          <p:cNvPr id="19" name="Text 15"/>
          <p:cNvSpPr/>
          <p:nvPr/>
        </p:nvSpPr>
        <p:spPr>
          <a:xfrm>
            <a:off x="5763555" y="4389834"/>
            <a:ext cx="2980395" cy="353616"/>
          </a:xfrm>
          <a:prstGeom prst="rect">
            <a:avLst/>
          </a:prstGeom>
          <a:noFill/>
          <a:ln/>
        </p:spPr>
        <p:txBody>
          <a:bodyPr wrap="square" lIns="0" tIns="0" rIns="0" bIns="0" rtlCol="0" anchor="t"/>
          <a:lstStyle/>
          <a:p>
            <a:pPr marL="0" indent="0" algn="l">
              <a:lnSpc>
                <a:spcPts val="92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Right skew caused by long five-set matches with elevated ace counts. Outliers were retained as genuine data rather than removed. The mean–median gap confirms the distribution is not normally distributed.</a:t>
            </a:r>
            <a:endParaRPr lang="en-US" sz="800" dirty="0">
              <a:latin typeface="Dubai Light" panose="020B0303030403030204" pitchFamily="34" charset="-78"/>
              <a:cs typeface="Dubai Light" panose="020B0303030403030204" pitchFamily="34" charset="-78"/>
            </a:endParaRPr>
          </a:p>
        </p:txBody>
      </p:sp>
      <p:sp>
        <p:nvSpPr>
          <p:cNvPr id="20" name="Text 16"/>
          <p:cNvSpPr/>
          <p:nvPr/>
        </p:nvSpPr>
        <p:spPr>
          <a:xfrm>
            <a:off x="1342020" y="4957539"/>
            <a:ext cx="35719" cy="35719"/>
          </a:xfrm>
          <a:prstGeom prst="roundRect">
            <a:avLst>
              <a:gd name="adj" fmla="val 66666"/>
            </a:avLst>
          </a:prstGeom>
          <a:solidFill>
            <a:srgbClr val="FFF100"/>
          </a:solidFill>
          <a:ln/>
        </p:spPr>
        <p:txBody>
          <a:bodyPr wrap="square" rtlCol="0" anchor="ctr"/>
          <a:lstStyle/>
          <a:p>
            <a:pPr marL="0" indent="0">
              <a:buNone/>
            </a:pPr>
            <a:endParaRPr lang="en-US" dirty="0"/>
          </a:p>
        </p:txBody>
      </p:sp>
      <p:sp>
        <p:nvSpPr>
          <p:cNvPr id="21" name="Text 17"/>
          <p:cNvSpPr/>
          <p:nvPr/>
        </p:nvSpPr>
        <p:spPr>
          <a:xfrm>
            <a:off x="348431" y="4912812"/>
            <a:ext cx="8005688" cy="194953"/>
          </a:xfrm>
          <a:prstGeom prst="rect">
            <a:avLst/>
          </a:prstGeom>
          <a:noFill/>
          <a:ln/>
        </p:spPr>
        <p:txBody>
          <a:bodyPr wrap="square" lIns="0" tIns="0" rIns="0" bIns="0" rtlCol="0" anchor="t"/>
          <a:lstStyle/>
          <a:p>
            <a:pPr marL="0" indent="0" algn="l">
              <a:lnSpc>
                <a:spcPts val="886"/>
              </a:lnSpc>
              <a:buNone/>
            </a:pPr>
            <a:r>
              <a:rPr lang="en-US" sz="800" kern="0" spc="106" dirty="0">
                <a:solidFill>
                  <a:srgbClr val="6FA68A"/>
                </a:solidFill>
                <a:latin typeface="Carlito" pitchFamily="34" charset="0"/>
                <a:ea typeface="Carlito" pitchFamily="34" charset="-122"/>
                <a:cs typeface="Carlito" pitchFamily="34" charset="-120"/>
              </a:rPr>
              <a:t>KEYVAN HAJIZADE    MATCH STATISTICS &amp; PERFORMANCE</a:t>
            </a:r>
            <a:endParaRPr lang="en-US" sz="800" dirty="0"/>
          </a:p>
        </p:txBody>
      </p:sp>
      <p:sp>
        <p:nvSpPr>
          <p:cNvPr id="22" name="Text 18"/>
          <p:cNvSpPr/>
          <p:nvPr/>
        </p:nvSpPr>
        <p:spPr>
          <a:xfrm>
            <a:off x="8434774" y="4916686"/>
            <a:ext cx="483584" cy="164592"/>
          </a:xfrm>
          <a:prstGeom prst="rect">
            <a:avLst/>
          </a:prstGeom>
          <a:noFill/>
          <a:ln/>
        </p:spPr>
        <p:txBody>
          <a:bodyPr wrap="none" lIns="0" tIns="0" rIns="0" bIns="0" rtlCol="0" anchor="t"/>
          <a:lstStyle/>
          <a:p>
            <a:pPr marL="0" indent="0" algn="l">
              <a:lnSpc>
                <a:spcPts val="886"/>
              </a:lnSpc>
              <a:buNone/>
            </a:pPr>
            <a:r>
              <a:rPr lang="en-US" sz="800" kern="0" spc="106" dirty="0">
                <a:solidFill>
                  <a:srgbClr val="95D5B2"/>
                </a:solidFill>
                <a:latin typeface="Liberation Sans Narrow" pitchFamily="34" charset="0"/>
                <a:ea typeface="Liberation Sans Narrow" pitchFamily="34" charset="-122"/>
                <a:cs typeface="Liberation Sans Narrow" pitchFamily="34" charset="-120"/>
              </a:rPr>
              <a:t>12 / 30</a:t>
            </a:r>
            <a:endParaRPr lang="en-US" sz="800" dirty="0"/>
          </a:p>
        </p:txBody>
      </p:sp>
      <p:sp>
        <p:nvSpPr>
          <p:cNvPr id="26" name="Text 4">
            <a:extLst>
              <a:ext uri="{FF2B5EF4-FFF2-40B4-BE49-F238E27FC236}">
                <a16:creationId xmlns:a16="http://schemas.microsoft.com/office/drawing/2014/main" id="{6E983924-01E1-2630-9EFD-B180898AC0BB}"/>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SECTION 02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400050" y="617934"/>
            <a:ext cx="8343900" cy="0"/>
          </a:xfrm>
          <a:prstGeom prst="line">
            <a:avLst/>
          </a:prstGeom>
          <a:noFill/>
          <a:ln w="7144">
            <a:solidFill>
              <a:srgbClr val="FFF100"/>
            </a:solidFill>
            <a:prstDash val="solid"/>
          </a:ln>
        </p:spPr>
      </p:sp>
      <p:sp>
        <p:nvSpPr>
          <p:cNvPr id="3" name="Text 1"/>
          <p:cNvSpPr/>
          <p:nvPr/>
        </p:nvSpPr>
        <p:spPr>
          <a:xfrm>
            <a:off x="400050" y="257175"/>
            <a:ext cx="335399" cy="257175"/>
          </a:xfrm>
          <a:prstGeom prst="rect">
            <a:avLst/>
          </a:prstGeom>
          <a:noFill/>
          <a:ln/>
        </p:spPr>
        <p:txBody>
          <a:bodyPr wrap="none" lIns="0" tIns="0" rIns="0" bIns="0" rtlCol="0" anchor="t"/>
          <a:lstStyle/>
          <a:p>
            <a:pPr marL="0" indent="0" algn="l">
              <a:lnSpc>
                <a:spcPts val="2025"/>
              </a:lnSpc>
              <a:buNone/>
            </a:pPr>
            <a:r>
              <a:rPr lang="en-US" sz="1350" b="1" i="1" dirty="0">
                <a:solidFill>
                  <a:srgbClr val="FFF100"/>
                </a:solidFill>
                <a:latin typeface="Liberation Sans Narrow" pitchFamily="34" charset="0"/>
                <a:ea typeface="Liberation Sans Narrow" pitchFamily="34" charset="-122"/>
                <a:cs typeface="Liberation Sans Narrow" pitchFamily="34" charset="-120"/>
              </a:rPr>
              <a:t>Q8</a:t>
            </a:r>
            <a:endParaRPr lang="en-US" sz="1350" dirty="0"/>
          </a:p>
        </p:txBody>
      </p:sp>
      <p:sp>
        <p:nvSpPr>
          <p:cNvPr id="7" name="Text 5"/>
          <p:cNvSpPr/>
          <p:nvPr/>
        </p:nvSpPr>
        <p:spPr>
          <a:xfrm>
            <a:off x="400050" y="778669"/>
            <a:ext cx="5006318" cy="3964781"/>
          </a:xfrm>
          <a:prstGeom prst="roundRect">
            <a:avLst>
              <a:gd name="adj" fmla="val 1922"/>
            </a:avLst>
          </a:prstGeom>
          <a:solidFill>
            <a:srgbClr val="FFFFFF"/>
          </a:solidFill>
          <a:ln/>
          <a:effectLst>
            <a:outerShdw blurRad="342900" dist="114300" dir="5400000" algn="bl" rotWithShape="0">
              <a:srgbClr val="000000">
                <a:alpha val="30000"/>
              </a:srgbClr>
            </a:outerShdw>
          </a:effectLst>
        </p:spPr>
        <p:txBody>
          <a:bodyPr wrap="square" rtlCol="0" anchor="ctr"/>
          <a:lstStyle/>
          <a:p>
            <a:pPr marL="0" indent="0">
              <a:buNone/>
            </a:pPr>
            <a:endParaRPr lang="en-US" dirty="0"/>
          </a:p>
        </p:txBody>
      </p:sp>
      <p:pic>
        <p:nvPicPr>
          <p:cNvPr id="8" name="Image 0" descr="/tmp/h2p-fit-1789550276131-8dl138.png"/>
          <p:cNvPicPr>
            <a:picLocks noChangeAspect="1"/>
          </p:cNvPicPr>
          <p:nvPr/>
        </p:nvPicPr>
        <p:blipFill>
          <a:blip r:embed="rId3"/>
          <a:stretch>
            <a:fillRect/>
          </a:stretch>
        </p:blipFill>
        <p:spPr>
          <a:xfrm>
            <a:off x="528638" y="1307641"/>
            <a:ext cx="4749143" cy="2722773"/>
          </a:xfrm>
          <a:prstGeom prst="rect">
            <a:avLst/>
          </a:prstGeom>
        </p:spPr>
      </p:pic>
      <p:sp>
        <p:nvSpPr>
          <p:cNvPr id="9" name="Text 6"/>
          <p:cNvSpPr/>
          <p:nvPr/>
        </p:nvSpPr>
        <p:spPr>
          <a:xfrm>
            <a:off x="528638" y="4502348"/>
            <a:ext cx="4858871" cy="112514"/>
          </a:xfrm>
          <a:prstGeom prst="rect">
            <a:avLst/>
          </a:prstGeom>
          <a:noFill/>
          <a:ln/>
        </p:spPr>
        <p:txBody>
          <a:bodyPr wrap="square" lIns="0" tIns="0" rIns="0" bIns="0" rtlCol="0" anchor="t"/>
          <a:lstStyle/>
          <a:p>
            <a:pPr marL="0" indent="0" algn="ctr">
              <a:lnSpc>
                <a:spcPts val="886"/>
              </a:lnSpc>
              <a:buNone/>
            </a:pPr>
            <a:r>
              <a:rPr lang="en-US" sz="800" kern="0" spc="71" dirty="0">
                <a:solidFill>
                  <a:srgbClr val="6FA68A"/>
                </a:solidFill>
                <a:latin typeface="Carlito" pitchFamily="34" charset="0"/>
                <a:ea typeface="Carlito" pitchFamily="34" charset="-122"/>
                <a:cs typeface="Carlito" pitchFamily="34" charset="-120"/>
              </a:rPr>
              <a:t>FIG. 10 — DOUBLE FAULTS PER MATCH, BY PLAYER GENDER</a:t>
            </a:r>
            <a:endParaRPr lang="en-US" sz="800" dirty="0"/>
          </a:p>
        </p:txBody>
      </p:sp>
      <p:sp>
        <p:nvSpPr>
          <p:cNvPr id="10" name="Text 7"/>
          <p:cNvSpPr/>
          <p:nvPr/>
        </p:nvSpPr>
        <p:spPr>
          <a:xfrm>
            <a:off x="5606393" y="778669"/>
            <a:ext cx="3137557" cy="444350"/>
          </a:xfrm>
          <a:prstGeom prst="rect">
            <a:avLst/>
          </a:prstGeom>
          <a:noFill/>
          <a:ln/>
        </p:spPr>
        <p:txBody>
          <a:bodyPr wrap="square" lIns="0" tIns="0" rIns="0" bIns="0" rtlCol="0" anchor="t"/>
          <a:lstStyle/>
          <a:p>
            <a:pPr marL="0" indent="0" algn="l">
              <a:lnSpc>
                <a:spcPts val="1620"/>
              </a:lnSpc>
              <a:buNone/>
            </a:pPr>
            <a:r>
              <a:rPr lang="en-US" sz="1350" kern="0" spc="-7" dirty="0">
                <a:solidFill>
                  <a:srgbClr val="F4F1DE"/>
                </a:solidFill>
                <a:latin typeface="Tinos" pitchFamily="34" charset="0"/>
                <a:ea typeface="Tinos" pitchFamily="34" charset="-122"/>
                <a:cs typeface="Tinos" pitchFamily="34" charset="-120"/>
              </a:rPr>
              <a:t>Is There a Difference in Double Faults Based on Gender?</a:t>
            </a:r>
            <a:endParaRPr lang="en-US" sz="1350" dirty="0"/>
          </a:p>
        </p:txBody>
      </p:sp>
      <p:sp>
        <p:nvSpPr>
          <p:cNvPr id="11" name="Text 8"/>
          <p:cNvSpPr/>
          <p:nvPr/>
        </p:nvSpPr>
        <p:spPr>
          <a:xfrm>
            <a:off x="5606393" y="1290117"/>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606393" y="1425848"/>
            <a:ext cx="3137557" cy="819884"/>
          </a:xfrm>
          <a:prstGeom prst="rect">
            <a:avLst/>
          </a:prstGeom>
          <a:noFill/>
          <a:ln/>
        </p:spPr>
        <p:txBody>
          <a:bodyPr wrap="square" lIns="0" tIns="0" rIns="0" bIns="0" rtlCol="0" anchor="t">
            <a:noAutofit/>
          </a:bodyPr>
          <a:lstStyle/>
          <a:p>
            <a:pPr marL="0" indent="0" algn="l">
              <a:lnSpc>
                <a:spcPts val="1177"/>
              </a:lnSpc>
              <a:buNone/>
            </a:pPr>
            <a:r>
              <a:rPr lang="en-US" sz="900" dirty="0">
                <a:solidFill>
                  <a:srgbClr val="F4F1DE"/>
                </a:solidFill>
                <a:latin typeface="Candara" panose="020E0502030303020204" pitchFamily="34" charset="0"/>
                <a:ea typeface="Carlito" pitchFamily="34" charset="-122"/>
                <a:cs typeface="Carlito" pitchFamily="34" charset="-120"/>
              </a:rPr>
              <a:t>Female players average </a:t>
            </a:r>
            <a:r>
              <a:rPr lang="en-US" sz="900" dirty="0">
                <a:solidFill>
                  <a:srgbClr val="FFF8B5"/>
                </a:solidFill>
                <a:latin typeface="Candara" panose="020E0502030303020204" pitchFamily="34" charset="0"/>
                <a:ea typeface="Liberation Sans Narrow" pitchFamily="34" charset="-122"/>
                <a:cs typeface="Liberation Sans Narrow" pitchFamily="34" charset="-120"/>
              </a:rPr>
              <a:t>3.49</a:t>
            </a:r>
            <a:r>
              <a:rPr lang="en-US" sz="900" dirty="0">
                <a:solidFill>
                  <a:srgbClr val="F4F1DE"/>
                </a:solidFill>
                <a:latin typeface="Candara" panose="020E0502030303020204" pitchFamily="34" charset="0"/>
                <a:ea typeface="Carlito" pitchFamily="34" charset="-122"/>
                <a:cs typeface="Carlito" pitchFamily="34" charset="-120"/>
              </a:rPr>
              <a:t> double faults per match, noticeably higher than the </a:t>
            </a:r>
            <a:r>
              <a:rPr lang="en-US" sz="900" dirty="0">
                <a:solidFill>
                  <a:srgbClr val="FFF8B5"/>
                </a:solidFill>
                <a:latin typeface="Candara" panose="020E0502030303020204" pitchFamily="34" charset="0"/>
                <a:ea typeface="Liberation Sans Narrow" pitchFamily="34" charset="-122"/>
                <a:cs typeface="Liberation Sans Narrow" pitchFamily="34" charset="-120"/>
              </a:rPr>
              <a:t>2.66</a:t>
            </a:r>
            <a:r>
              <a:rPr lang="en-US" sz="900" dirty="0">
                <a:solidFill>
                  <a:srgbClr val="F4F1DE"/>
                </a:solidFill>
                <a:latin typeface="Candara" panose="020E0502030303020204" pitchFamily="34" charset="0"/>
                <a:ea typeface="Carlito" pitchFamily="34" charset="-122"/>
                <a:cs typeface="Carlito" pitchFamily="34" charset="-120"/>
              </a:rPr>
              <a:t> recorded for men. The median values (3 vs 2) reflect the same pattern. The women's box plot shows a larger interquartile range, indicating greater dispersion in double fault counts among female players. Given the large sample size, the results are reliable.</a:t>
            </a:r>
            <a:endParaRPr lang="en-US" sz="900" dirty="0">
              <a:latin typeface="Candara" panose="020E0502030303020204" pitchFamily="34" charset="0"/>
            </a:endParaRPr>
          </a:p>
        </p:txBody>
      </p:sp>
      <p:pic>
        <p:nvPicPr>
          <p:cNvPr id="13" name="Image 1" descr="preencoded.png"/>
          <p:cNvPicPr>
            <a:picLocks noChangeAspect="1"/>
          </p:cNvPicPr>
          <p:nvPr/>
        </p:nvPicPr>
        <p:blipFill>
          <a:blip r:embed="rId4"/>
          <a:stretch>
            <a:fillRect/>
          </a:stretch>
        </p:blipFill>
        <p:spPr>
          <a:xfrm>
            <a:off x="5606393" y="2634499"/>
            <a:ext cx="1518717" cy="538572"/>
          </a:xfrm>
          <a:prstGeom prst="rect">
            <a:avLst/>
          </a:prstGeom>
        </p:spPr>
      </p:pic>
      <p:sp>
        <p:nvSpPr>
          <p:cNvPr id="14" name="Shape 10"/>
          <p:cNvSpPr/>
          <p:nvPr/>
        </p:nvSpPr>
        <p:spPr>
          <a:xfrm>
            <a:off x="5617108" y="2634499"/>
            <a:ext cx="0" cy="538572"/>
          </a:xfrm>
          <a:prstGeom prst="line">
            <a:avLst/>
          </a:prstGeom>
          <a:noFill/>
          <a:ln w="21431">
            <a:solidFill>
              <a:srgbClr val="FFF100"/>
            </a:solidFill>
            <a:prstDash val="solid"/>
          </a:ln>
        </p:spPr>
      </p:sp>
      <p:sp>
        <p:nvSpPr>
          <p:cNvPr id="15" name="Text 11"/>
          <p:cNvSpPr/>
          <p:nvPr/>
        </p:nvSpPr>
        <p:spPr>
          <a:xfrm>
            <a:off x="5727836" y="2691649"/>
            <a:ext cx="1397273" cy="286893"/>
          </a:xfrm>
          <a:prstGeom prst="rect">
            <a:avLst/>
          </a:prstGeom>
          <a:noFill/>
          <a:ln/>
        </p:spPr>
        <p:txBody>
          <a:bodyPr wrap="none" lIns="0" tIns="0" rIns="0" bIns="0" rtlCol="0" anchor="t">
            <a:normAutofit/>
          </a:bodyPr>
          <a:lstStyle/>
          <a:p>
            <a:pPr marL="0" indent="0" algn="l">
              <a:lnSpc>
                <a:spcPts val="2138"/>
              </a:lnSpc>
              <a:buNone/>
            </a:pPr>
            <a:r>
              <a:rPr lang="en-US" sz="2138" b="1" kern="0" spc="-21" dirty="0">
                <a:solidFill>
                  <a:srgbClr val="FFF100"/>
                </a:solidFill>
                <a:latin typeface="Liberation Sans Narrow" pitchFamily="34" charset="0"/>
                <a:ea typeface="Liberation Sans Narrow" pitchFamily="34" charset="-122"/>
                <a:cs typeface="Liberation Sans Narrow" pitchFamily="34" charset="-120"/>
              </a:rPr>
              <a:t>3.49</a:t>
            </a:r>
            <a:endParaRPr lang="en-US" sz="2138" dirty="0"/>
          </a:p>
        </p:txBody>
      </p:sp>
      <p:sp>
        <p:nvSpPr>
          <p:cNvPr id="16" name="Text 12"/>
          <p:cNvSpPr/>
          <p:nvPr/>
        </p:nvSpPr>
        <p:spPr>
          <a:xfrm>
            <a:off x="5727836" y="3005974"/>
            <a:ext cx="1397273" cy="109947"/>
          </a:xfrm>
          <a:prstGeom prst="rect">
            <a:avLst/>
          </a:prstGeom>
          <a:noFill/>
          <a:ln/>
        </p:spPr>
        <p:txBody>
          <a:bodyPr wrap="none" lIns="0" tIns="0" rIns="0" bIns="0" rtlCol="0" anchor="t"/>
          <a:lstStyle/>
          <a:p>
            <a:pPr marL="0" indent="0" algn="l">
              <a:lnSpc>
                <a:spcPts val="866"/>
              </a:lnSpc>
              <a:buNone/>
            </a:pPr>
            <a:r>
              <a:rPr lang="en-US" sz="800" kern="0" spc="37" dirty="0">
                <a:solidFill>
                  <a:srgbClr val="95D5B2"/>
                </a:solidFill>
                <a:latin typeface="Carlito" pitchFamily="34" charset="0"/>
                <a:ea typeface="Carlito" pitchFamily="34" charset="-122"/>
                <a:cs typeface="Carlito" pitchFamily="34" charset="-120"/>
              </a:rPr>
              <a:t>Women · mean</a:t>
            </a:r>
            <a:endParaRPr lang="en-US" sz="800" dirty="0"/>
          </a:p>
        </p:txBody>
      </p:sp>
      <p:pic>
        <p:nvPicPr>
          <p:cNvPr id="17" name="Image 2" descr="preencoded.png"/>
          <p:cNvPicPr>
            <a:picLocks noChangeAspect="1"/>
          </p:cNvPicPr>
          <p:nvPr/>
        </p:nvPicPr>
        <p:blipFill>
          <a:blip r:embed="rId4"/>
          <a:stretch>
            <a:fillRect/>
          </a:stretch>
        </p:blipFill>
        <p:spPr>
          <a:xfrm>
            <a:off x="7225122" y="2634499"/>
            <a:ext cx="1518828" cy="538572"/>
          </a:xfrm>
          <a:prstGeom prst="rect">
            <a:avLst/>
          </a:prstGeom>
        </p:spPr>
      </p:pic>
      <p:sp>
        <p:nvSpPr>
          <p:cNvPr id="18" name="Shape 13"/>
          <p:cNvSpPr/>
          <p:nvPr/>
        </p:nvSpPr>
        <p:spPr>
          <a:xfrm>
            <a:off x="7235837" y="2634499"/>
            <a:ext cx="0" cy="538572"/>
          </a:xfrm>
          <a:prstGeom prst="line">
            <a:avLst/>
          </a:prstGeom>
          <a:noFill/>
          <a:ln w="21431">
            <a:solidFill>
              <a:srgbClr val="FFF100"/>
            </a:solidFill>
            <a:prstDash val="solid"/>
          </a:ln>
        </p:spPr>
      </p:sp>
      <p:sp>
        <p:nvSpPr>
          <p:cNvPr id="19" name="Text 14"/>
          <p:cNvSpPr/>
          <p:nvPr/>
        </p:nvSpPr>
        <p:spPr>
          <a:xfrm>
            <a:off x="7346566" y="2691649"/>
            <a:ext cx="1397384" cy="286893"/>
          </a:xfrm>
          <a:prstGeom prst="rect">
            <a:avLst/>
          </a:prstGeom>
          <a:noFill/>
          <a:ln/>
        </p:spPr>
        <p:txBody>
          <a:bodyPr wrap="none" lIns="0" tIns="0" rIns="0" bIns="0" rtlCol="0" anchor="t">
            <a:normAutofit/>
          </a:bodyPr>
          <a:lstStyle/>
          <a:p>
            <a:pPr marL="0" indent="0" algn="l">
              <a:lnSpc>
                <a:spcPts val="2138"/>
              </a:lnSpc>
              <a:buNone/>
            </a:pPr>
            <a:r>
              <a:rPr lang="en-US" sz="2138" b="1" kern="0" spc="-21" dirty="0">
                <a:solidFill>
                  <a:srgbClr val="FFF100"/>
                </a:solidFill>
                <a:latin typeface="Liberation Sans Narrow" pitchFamily="34" charset="0"/>
                <a:ea typeface="Liberation Sans Narrow" pitchFamily="34" charset="-122"/>
                <a:cs typeface="Liberation Sans Narrow" pitchFamily="34" charset="-120"/>
              </a:rPr>
              <a:t>2.66</a:t>
            </a:r>
            <a:endParaRPr lang="en-US" sz="2138" dirty="0"/>
          </a:p>
        </p:txBody>
      </p:sp>
      <p:sp>
        <p:nvSpPr>
          <p:cNvPr id="20" name="Text 15"/>
          <p:cNvSpPr/>
          <p:nvPr/>
        </p:nvSpPr>
        <p:spPr>
          <a:xfrm>
            <a:off x="7346566" y="3005974"/>
            <a:ext cx="1397384" cy="109947"/>
          </a:xfrm>
          <a:prstGeom prst="rect">
            <a:avLst/>
          </a:prstGeom>
          <a:noFill/>
          <a:ln/>
        </p:spPr>
        <p:txBody>
          <a:bodyPr wrap="none" lIns="0" tIns="0" rIns="0" bIns="0" rtlCol="0" anchor="t"/>
          <a:lstStyle/>
          <a:p>
            <a:pPr marL="0" indent="0" algn="l">
              <a:lnSpc>
                <a:spcPts val="866"/>
              </a:lnSpc>
              <a:buNone/>
            </a:pPr>
            <a:r>
              <a:rPr lang="en-US" sz="800" kern="0" spc="37" dirty="0">
                <a:solidFill>
                  <a:srgbClr val="95D5B2"/>
                </a:solidFill>
                <a:latin typeface="Carlito" pitchFamily="34" charset="0"/>
                <a:ea typeface="Carlito" pitchFamily="34" charset="-122"/>
                <a:cs typeface="Carlito" pitchFamily="34" charset="-120"/>
              </a:rPr>
              <a:t>Men · mean</a:t>
            </a:r>
            <a:endParaRPr lang="en-US" sz="800" dirty="0"/>
          </a:p>
        </p:txBody>
      </p:sp>
      <p:sp>
        <p:nvSpPr>
          <p:cNvPr id="21" name="Shape 16"/>
          <p:cNvSpPr/>
          <p:nvPr/>
        </p:nvSpPr>
        <p:spPr>
          <a:xfrm>
            <a:off x="5606393" y="4418409"/>
            <a:ext cx="3137557" cy="0"/>
          </a:xfrm>
          <a:prstGeom prst="line">
            <a:avLst/>
          </a:prstGeom>
          <a:noFill/>
          <a:ln w="7144">
            <a:solidFill>
              <a:srgbClr val="FFF100"/>
            </a:solidFill>
            <a:prstDash val="dash"/>
          </a:ln>
        </p:spPr>
      </p:sp>
      <p:sp>
        <p:nvSpPr>
          <p:cNvPr id="22" name="Text 17"/>
          <p:cNvSpPr/>
          <p:nvPr/>
        </p:nvSpPr>
        <p:spPr>
          <a:xfrm>
            <a:off x="5606393" y="4514850"/>
            <a:ext cx="100013" cy="100013"/>
          </a:xfrm>
          <a:prstGeom prst="rect">
            <a:avLst/>
          </a:prstGeom>
          <a:noFill/>
          <a:ln/>
        </p:spPr>
        <p:txBody>
          <a:bodyPr wrap="none" lIns="0" tIns="0" rIns="0" bIns="0" rtlCol="0" anchor="ctr"/>
          <a:lstStyle/>
          <a:p>
            <a:pPr marL="0" indent="0" algn="ctr">
              <a:buNone/>
            </a:pPr>
            <a:endParaRPr lang="en-US" sz="984" dirty="0"/>
          </a:p>
        </p:txBody>
      </p:sp>
      <p:sp>
        <p:nvSpPr>
          <p:cNvPr id="23" name="Text 18"/>
          <p:cNvSpPr/>
          <p:nvPr/>
        </p:nvSpPr>
        <p:spPr>
          <a:xfrm>
            <a:off x="5763555" y="4507706"/>
            <a:ext cx="2980395" cy="235744"/>
          </a:xfrm>
          <a:prstGeom prst="rect">
            <a:avLst/>
          </a:prstGeom>
          <a:noFill/>
          <a:ln/>
        </p:spPr>
        <p:txBody>
          <a:bodyPr wrap="square" lIns="0" tIns="0" rIns="0" bIns="0" rtlCol="0" anchor="t"/>
          <a:lstStyle/>
          <a:p>
            <a:pPr marL="0" indent="0" algn="l">
              <a:lnSpc>
                <a:spcPts val="92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Outliers excluded from the plot for readability. Larger IQR for women indicates greater variability. The gender gap is statistically significant given the sample size.</a:t>
            </a:r>
            <a:endParaRPr lang="en-US" sz="800" dirty="0">
              <a:latin typeface="Dubai Light" panose="020B0303030403030204" pitchFamily="34" charset="-78"/>
              <a:cs typeface="Dubai Light" panose="020B0303030403030204" pitchFamily="34" charset="-78"/>
            </a:endParaRPr>
          </a:p>
        </p:txBody>
      </p:sp>
      <p:sp>
        <p:nvSpPr>
          <p:cNvPr id="24" name="Text 19"/>
          <p:cNvSpPr/>
          <p:nvPr/>
        </p:nvSpPr>
        <p:spPr>
          <a:xfrm>
            <a:off x="1342020" y="4957539"/>
            <a:ext cx="35719" cy="35719"/>
          </a:xfrm>
          <a:prstGeom prst="roundRect">
            <a:avLst>
              <a:gd name="adj" fmla="val 66666"/>
            </a:avLst>
          </a:prstGeom>
          <a:solidFill>
            <a:srgbClr val="FFF100"/>
          </a:solidFill>
          <a:ln/>
        </p:spPr>
        <p:txBody>
          <a:bodyPr wrap="square" rtlCol="0" anchor="ctr"/>
          <a:lstStyle/>
          <a:p>
            <a:pPr marL="0" indent="0">
              <a:buNone/>
            </a:pPr>
            <a:endParaRPr lang="en-US" dirty="0"/>
          </a:p>
        </p:txBody>
      </p:sp>
      <p:sp>
        <p:nvSpPr>
          <p:cNvPr id="25" name="Text 20"/>
          <p:cNvSpPr/>
          <p:nvPr/>
        </p:nvSpPr>
        <p:spPr>
          <a:xfrm>
            <a:off x="333767" y="4910962"/>
            <a:ext cx="8005688" cy="164592"/>
          </a:xfrm>
          <a:prstGeom prst="rect">
            <a:avLst/>
          </a:prstGeom>
          <a:noFill/>
          <a:ln/>
        </p:spPr>
        <p:txBody>
          <a:bodyPr wrap="square" lIns="0" tIns="0" rIns="0" bIns="0" rtlCol="0" anchor="t"/>
          <a:lstStyle/>
          <a:p>
            <a:pPr marL="0" indent="0" algn="l">
              <a:lnSpc>
                <a:spcPts val="886"/>
              </a:lnSpc>
              <a:buNone/>
            </a:pPr>
            <a:r>
              <a:rPr lang="en-US" sz="800" kern="0" spc="106" dirty="0">
                <a:solidFill>
                  <a:srgbClr val="6FA68A"/>
                </a:solidFill>
                <a:latin typeface="Carlito" pitchFamily="34" charset="0"/>
                <a:ea typeface="Carlito" pitchFamily="34" charset="-122"/>
                <a:cs typeface="Carlito" pitchFamily="34" charset="-120"/>
              </a:rPr>
              <a:t>KEYVAN HAJIZADE    MATCH STATISTICS &amp; PERFORMANCE</a:t>
            </a:r>
            <a:endParaRPr lang="en-US" sz="800" dirty="0"/>
          </a:p>
        </p:txBody>
      </p:sp>
      <p:sp>
        <p:nvSpPr>
          <p:cNvPr id="26" name="Text 21"/>
          <p:cNvSpPr/>
          <p:nvPr/>
        </p:nvSpPr>
        <p:spPr>
          <a:xfrm>
            <a:off x="8420026" y="4916686"/>
            <a:ext cx="483584" cy="164592"/>
          </a:xfrm>
          <a:prstGeom prst="rect">
            <a:avLst/>
          </a:prstGeom>
          <a:noFill/>
          <a:ln/>
        </p:spPr>
        <p:txBody>
          <a:bodyPr wrap="none" lIns="0" tIns="0" rIns="0" bIns="0" rtlCol="0" anchor="t"/>
          <a:lstStyle/>
          <a:p>
            <a:pPr marL="0" indent="0" algn="l">
              <a:lnSpc>
                <a:spcPts val="886"/>
              </a:lnSpc>
              <a:buNone/>
            </a:pPr>
            <a:r>
              <a:rPr lang="en-US" sz="800" kern="0" spc="106" dirty="0">
                <a:solidFill>
                  <a:srgbClr val="95D5B2"/>
                </a:solidFill>
                <a:latin typeface="Liberation Sans Narrow" pitchFamily="34" charset="0"/>
                <a:ea typeface="Liberation Sans Narrow" pitchFamily="34" charset="-122"/>
                <a:cs typeface="Liberation Sans Narrow" pitchFamily="34" charset="-120"/>
              </a:rPr>
              <a:t>13 / 30</a:t>
            </a:r>
            <a:endParaRPr lang="en-US" sz="800" dirty="0"/>
          </a:p>
        </p:txBody>
      </p:sp>
      <p:sp>
        <p:nvSpPr>
          <p:cNvPr id="28" name="Text 4">
            <a:extLst>
              <a:ext uri="{FF2B5EF4-FFF2-40B4-BE49-F238E27FC236}">
                <a16:creationId xmlns:a16="http://schemas.microsoft.com/office/drawing/2014/main" id="{0E7061F8-9384-3BD0-2969-306BFA7976AA}"/>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SECTION 02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400050" y="617934"/>
            <a:ext cx="8343900" cy="0"/>
          </a:xfrm>
          <a:prstGeom prst="line">
            <a:avLst/>
          </a:prstGeom>
          <a:noFill/>
          <a:ln w="7144">
            <a:solidFill>
              <a:srgbClr val="FFF100"/>
            </a:solidFill>
            <a:prstDash val="solid"/>
          </a:ln>
        </p:spPr>
      </p:sp>
      <p:sp>
        <p:nvSpPr>
          <p:cNvPr id="3" name="Text 1"/>
          <p:cNvSpPr/>
          <p:nvPr/>
        </p:nvSpPr>
        <p:spPr>
          <a:xfrm>
            <a:off x="400050" y="257175"/>
            <a:ext cx="472559" cy="257175"/>
          </a:xfrm>
          <a:prstGeom prst="rect">
            <a:avLst/>
          </a:prstGeom>
          <a:noFill/>
          <a:ln/>
        </p:spPr>
        <p:txBody>
          <a:bodyPr wrap="none" lIns="0" tIns="0" rIns="0" bIns="0" rtlCol="0" anchor="t"/>
          <a:lstStyle/>
          <a:p>
            <a:pPr marL="0" indent="0" algn="l">
              <a:lnSpc>
                <a:spcPts val="2025"/>
              </a:lnSpc>
              <a:buNone/>
            </a:pPr>
            <a:r>
              <a:rPr lang="en-US" sz="1350" b="1" i="1" dirty="0">
                <a:solidFill>
                  <a:srgbClr val="FFF100"/>
                </a:solidFill>
                <a:latin typeface="Liberation Sans Narrow" pitchFamily="34" charset="0"/>
                <a:ea typeface="Liberation Sans Narrow" pitchFamily="34" charset="-122"/>
                <a:cs typeface="Liberation Sans Narrow" pitchFamily="34" charset="-120"/>
              </a:rPr>
              <a:t>Q12</a:t>
            </a:r>
            <a:endParaRPr lang="en-US" sz="1350" dirty="0"/>
          </a:p>
        </p:txBody>
      </p:sp>
      <p:sp>
        <p:nvSpPr>
          <p:cNvPr id="7" name="Text 5"/>
          <p:cNvSpPr/>
          <p:nvPr/>
        </p:nvSpPr>
        <p:spPr>
          <a:xfrm>
            <a:off x="400050" y="778669"/>
            <a:ext cx="5006318" cy="3964781"/>
          </a:xfrm>
          <a:prstGeom prst="roundRect">
            <a:avLst>
              <a:gd name="adj" fmla="val 1922"/>
            </a:avLst>
          </a:prstGeom>
          <a:solidFill>
            <a:srgbClr val="FFFFFF"/>
          </a:solidFill>
          <a:ln/>
          <a:effectLst>
            <a:outerShdw blurRad="342900" dist="114300" dir="5400000" algn="bl" rotWithShape="0">
              <a:srgbClr val="000000">
                <a:alpha val="30000"/>
              </a:srgbClr>
            </a:outerShdw>
          </a:effectLst>
        </p:spPr>
        <p:txBody>
          <a:bodyPr wrap="square" rtlCol="0" anchor="ctr"/>
          <a:lstStyle/>
          <a:p>
            <a:pPr marL="0" indent="0">
              <a:buNone/>
            </a:pPr>
            <a:endParaRPr lang="en-US" dirty="0"/>
          </a:p>
        </p:txBody>
      </p:sp>
      <p:pic>
        <p:nvPicPr>
          <p:cNvPr id="8" name="Image 0" descr="/tmp/h2p-fit-1789550277330-mz5r7t.png"/>
          <p:cNvPicPr>
            <a:picLocks noChangeAspect="1"/>
          </p:cNvPicPr>
          <p:nvPr/>
        </p:nvPicPr>
        <p:blipFill>
          <a:blip r:embed="rId3"/>
          <a:stretch>
            <a:fillRect/>
          </a:stretch>
        </p:blipFill>
        <p:spPr>
          <a:xfrm>
            <a:off x="528638" y="1307641"/>
            <a:ext cx="4749143" cy="2722773"/>
          </a:xfrm>
          <a:prstGeom prst="rect">
            <a:avLst/>
          </a:prstGeom>
        </p:spPr>
      </p:pic>
      <p:sp>
        <p:nvSpPr>
          <p:cNvPr id="9" name="Text 6"/>
          <p:cNvSpPr/>
          <p:nvPr/>
        </p:nvSpPr>
        <p:spPr>
          <a:xfrm>
            <a:off x="528638" y="4502348"/>
            <a:ext cx="4749143" cy="112514"/>
          </a:xfrm>
          <a:prstGeom prst="rect">
            <a:avLst/>
          </a:prstGeom>
          <a:noFill/>
          <a:ln/>
        </p:spPr>
        <p:txBody>
          <a:bodyPr wrap="square" lIns="0" tIns="0" rIns="0" bIns="0" rtlCol="0" anchor="t"/>
          <a:lstStyle/>
          <a:p>
            <a:pPr marL="0" indent="0" algn="ctr">
              <a:lnSpc>
                <a:spcPts val="886"/>
              </a:lnSpc>
              <a:buNone/>
            </a:pPr>
            <a:r>
              <a:rPr lang="en-US" sz="800" kern="0" spc="71" dirty="0">
                <a:solidFill>
                  <a:srgbClr val="6FA68A"/>
                </a:solidFill>
                <a:latin typeface="Carlito" pitchFamily="34" charset="0"/>
                <a:ea typeface="Carlito" pitchFamily="34" charset="-122"/>
                <a:cs typeface="Carlito" pitchFamily="34" charset="-120"/>
              </a:rPr>
              <a:t>FIG. 11 — AVERAGE GAMES PER SET, MEN'S VS WOMEN'S MATCHES</a:t>
            </a:r>
            <a:endParaRPr lang="en-US" sz="800" dirty="0"/>
          </a:p>
        </p:txBody>
      </p:sp>
      <p:sp>
        <p:nvSpPr>
          <p:cNvPr id="10" name="Text 7"/>
          <p:cNvSpPr/>
          <p:nvPr/>
        </p:nvSpPr>
        <p:spPr>
          <a:xfrm>
            <a:off x="5606393" y="778669"/>
            <a:ext cx="3137557" cy="444350"/>
          </a:xfrm>
          <a:prstGeom prst="rect">
            <a:avLst/>
          </a:prstGeom>
          <a:noFill/>
          <a:ln/>
        </p:spPr>
        <p:txBody>
          <a:bodyPr wrap="square" lIns="0" tIns="0" rIns="0" bIns="0" rtlCol="0" anchor="t"/>
          <a:lstStyle/>
          <a:p>
            <a:pPr marL="0" indent="0" algn="l">
              <a:lnSpc>
                <a:spcPts val="1620"/>
              </a:lnSpc>
              <a:buNone/>
            </a:pPr>
            <a:r>
              <a:rPr lang="en-US" sz="1350" kern="0" spc="-7" dirty="0">
                <a:solidFill>
                  <a:srgbClr val="F4F1DE"/>
                </a:solidFill>
                <a:latin typeface="Tinos" pitchFamily="34" charset="0"/>
                <a:ea typeface="Tinos" pitchFamily="34" charset="-122"/>
                <a:cs typeface="Tinos" pitchFamily="34" charset="-120"/>
              </a:rPr>
              <a:t>Average Games per Set — Men's vs Women's Matches?</a:t>
            </a:r>
            <a:endParaRPr lang="en-US" sz="1350" dirty="0"/>
          </a:p>
        </p:txBody>
      </p:sp>
      <p:sp>
        <p:nvSpPr>
          <p:cNvPr id="11" name="Text 8"/>
          <p:cNvSpPr/>
          <p:nvPr/>
        </p:nvSpPr>
        <p:spPr>
          <a:xfrm>
            <a:off x="5606393" y="1290117"/>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606393" y="1425848"/>
            <a:ext cx="3137557" cy="969344"/>
          </a:xfrm>
          <a:prstGeom prst="rect">
            <a:avLst/>
          </a:prstGeom>
          <a:noFill/>
          <a:ln/>
        </p:spPr>
        <p:txBody>
          <a:bodyPr wrap="square" lIns="0" tIns="0" rIns="0" bIns="0" rtlCol="0" anchor="t">
            <a:normAutofit/>
          </a:bodyPr>
          <a:lstStyle/>
          <a:p>
            <a:pPr marL="0" indent="0" algn="l">
              <a:lnSpc>
                <a:spcPts val="1177"/>
              </a:lnSpc>
              <a:buNone/>
            </a:pPr>
            <a:r>
              <a:rPr lang="en-US" sz="900" dirty="0">
                <a:solidFill>
                  <a:srgbClr val="F4F1DE"/>
                </a:solidFill>
                <a:latin typeface="Candara" panose="020E0502030303020204" pitchFamily="34" charset="0"/>
                <a:ea typeface="Carlito" pitchFamily="34" charset="-122"/>
                <a:cs typeface="Carlito" pitchFamily="34" charset="-120"/>
              </a:rPr>
              <a:t>The average number of games per set is </a:t>
            </a:r>
            <a:r>
              <a:rPr lang="en-US" sz="900" dirty="0">
                <a:solidFill>
                  <a:srgbClr val="FFF8B5"/>
                </a:solidFill>
                <a:latin typeface="Candara" panose="020E0502030303020204" pitchFamily="34" charset="0"/>
                <a:ea typeface="Liberation Sans Narrow" pitchFamily="34" charset="-122"/>
                <a:cs typeface="Liberation Sans Narrow" pitchFamily="34" charset="-120"/>
              </a:rPr>
              <a:t>9.65</a:t>
            </a:r>
            <a:r>
              <a:rPr lang="en-US" sz="900" dirty="0">
                <a:solidFill>
                  <a:srgbClr val="F4F1DE"/>
                </a:solidFill>
                <a:latin typeface="Candara" panose="020E0502030303020204" pitchFamily="34" charset="0"/>
                <a:ea typeface="Carlito" pitchFamily="34" charset="-122"/>
                <a:cs typeface="Carlito" pitchFamily="34" charset="-120"/>
              </a:rPr>
              <a:t> for men and </a:t>
            </a:r>
            <a:r>
              <a:rPr lang="en-US" sz="900" dirty="0">
                <a:solidFill>
                  <a:srgbClr val="FFF8B5"/>
                </a:solidFill>
                <a:latin typeface="Candara" panose="020E0502030303020204" pitchFamily="34" charset="0"/>
                <a:ea typeface="Liberation Sans Narrow" pitchFamily="34" charset="-122"/>
                <a:cs typeface="Liberation Sans Narrow" pitchFamily="34" charset="-120"/>
              </a:rPr>
              <a:t>9.27</a:t>
            </a:r>
            <a:r>
              <a:rPr lang="en-US" sz="900" dirty="0">
                <a:solidFill>
                  <a:srgbClr val="F4F1DE"/>
                </a:solidFill>
                <a:latin typeface="Candara" panose="020E0502030303020204" pitchFamily="34" charset="0"/>
                <a:ea typeface="Carlito" pitchFamily="34" charset="-122"/>
                <a:cs typeface="Carlito" pitchFamily="34" charset="-120"/>
              </a:rPr>
              <a:t> for women — a difference of approximately half a game. The median is 9 for both groups, meaning the discrepancy lies in longer sets and tie-breaks. This slight difference may stem from women playing best-of-three while men play best-of-five, or from the differing scoring structures in five-set matches.</a:t>
            </a:r>
            <a:endParaRPr lang="en-US" sz="900" dirty="0">
              <a:latin typeface="Candara" panose="020E0502030303020204" pitchFamily="34" charset="0"/>
            </a:endParaRPr>
          </a:p>
        </p:txBody>
      </p:sp>
      <p:pic>
        <p:nvPicPr>
          <p:cNvPr id="13" name="Image 1" descr="preencoded.png"/>
          <p:cNvPicPr>
            <a:picLocks noChangeAspect="1"/>
          </p:cNvPicPr>
          <p:nvPr/>
        </p:nvPicPr>
        <p:blipFill>
          <a:blip r:embed="rId4"/>
          <a:stretch>
            <a:fillRect/>
          </a:stretch>
        </p:blipFill>
        <p:spPr>
          <a:xfrm>
            <a:off x="5606393" y="2422624"/>
            <a:ext cx="1518717" cy="538572"/>
          </a:xfrm>
          <a:prstGeom prst="rect">
            <a:avLst/>
          </a:prstGeom>
        </p:spPr>
      </p:pic>
      <p:sp>
        <p:nvSpPr>
          <p:cNvPr id="14" name="Shape 10"/>
          <p:cNvSpPr/>
          <p:nvPr/>
        </p:nvSpPr>
        <p:spPr>
          <a:xfrm>
            <a:off x="5617108" y="2422624"/>
            <a:ext cx="0" cy="538572"/>
          </a:xfrm>
          <a:prstGeom prst="line">
            <a:avLst/>
          </a:prstGeom>
          <a:noFill/>
          <a:ln w="21431">
            <a:solidFill>
              <a:srgbClr val="FFF100"/>
            </a:solidFill>
            <a:prstDash val="solid"/>
          </a:ln>
        </p:spPr>
      </p:sp>
      <p:sp>
        <p:nvSpPr>
          <p:cNvPr id="15" name="Text 11"/>
          <p:cNvSpPr/>
          <p:nvPr/>
        </p:nvSpPr>
        <p:spPr>
          <a:xfrm>
            <a:off x="5727836" y="2479774"/>
            <a:ext cx="1397273" cy="286893"/>
          </a:xfrm>
          <a:prstGeom prst="rect">
            <a:avLst/>
          </a:prstGeom>
          <a:noFill/>
          <a:ln/>
        </p:spPr>
        <p:txBody>
          <a:bodyPr wrap="none" lIns="0" tIns="0" rIns="0" bIns="0" rtlCol="0" anchor="t">
            <a:normAutofit/>
          </a:bodyPr>
          <a:lstStyle/>
          <a:p>
            <a:pPr marL="0" indent="0" algn="l">
              <a:lnSpc>
                <a:spcPts val="2138"/>
              </a:lnSpc>
              <a:buNone/>
            </a:pPr>
            <a:r>
              <a:rPr lang="en-US" sz="2138" b="1" kern="0" spc="-21" dirty="0">
                <a:solidFill>
                  <a:srgbClr val="FFF100"/>
                </a:solidFill>
                <a:latin typeface="Liberation Sans Narrow" pitchFamily="34" charset="0"/>
                <a:ea typeface="Liberation Sans Narrow" pitchFamily="34" charset="-122"/>
                <a:cs typeface="Liberation Sans Narrow" pitchFamily="34" charset="-120"/>
              </a:rPr>
              <a:t>9.65</a:t>
            </a:r>
            <a:endParaRPr lang="en-US" sz="2138" dirty="0"/>
          </a:p>
        </p:txBody>
      </p:sp>
      <p:sp>
        <p:nvSpPr>
          <p:cNvPr id="16" name="Text 12"/>
          <p:cNvSpPr/>
          <p:nvPr/>
        </p:nvSpPr>
        <p:spPr>
          <a:xfrm>
            <a:off x="5727836" y="2794099"/>
            <a:ext cx="1397273" cy="109947"/>
          </a:xfrm>
          <a:prstGeom prst="rect">
            <a:avLst/>
          </a:prstGeom>
          <a:noFill/>
          <a:ln/>
        </p:spPr>
        <p:txBody>
          <a:bodyPr wrap="none" lIns="0" tIns="0" rIns="0" bIns="0" rtlCol="0" anchor="t"/>
          <a:lstStyle/>
          <a:p>
            <a:pPr marL="0" indent="0" algn="l">
              <a:lnSpc>
                <a:spcPts val="866"/>
              </a:lnSpc>
              <a:buNone/>
            </a:pPr>
            <a:r>
              <a:rPr lang="en-US" sz="800" kern="0" spc="37" dirty="0">
                <a:solidFill>
                  <a:srgbClr val="95D5B2"/>
                </a:solidFill>
                <a:latin typeface="Carlito" pitchFamily="34" charset="0"/>
                <a:ea typeface="Carlito" pitchFamily="34" charset="-122"/>
                <a:cs typeface="Carlito" pitchFamily="34" charset="-120"/>
              </a:rPr>
              <a:t>Men · avg games / set</a:t>
            </a:r>
            <a:endParaRPr lang="en-US" sz="800" dirty="0"/>
          </a:p>
        </p:txBody>
      </p:sp>
      <p:pic>
        <p:nvPicPr>
          <p:cNvPr id="17" name="Image 2" descr="preencoded.png"/>
          <p:cNvPicPr>
            <a:picLocks noChangeAspect="1"/>
          </p:cNvPicPr>
          <p:nvPr/>
        </p:nvPicPr>
        <p:blipFill>
          <a:blip r:embed="rId4"/>
          <a:stretch>
            <a:fillRect/>
          </a:stretch>
        </p:blipFill>
        <p:spPr>
          <a:xfrm>
            <a:off x="7225122" y="2422624"/>
            <a:ext cx="1518828" cy="538572"/>
          </a:xfrm>
          <a:prstGeom prst="rect">
            <a:avLst/>
          </a:prstGeom>
        </p:spPr>
      </p:pic>
      <p:sp>
        <p:nvSpPr>
          <p:cNvPr id="18" name="Shape 13"/>
          <p:cNvSpPr/>
          <p:nvPr/>
        </p:nvSpPr>
        <p:spPr>
          <a:xfrm>
            <a:off x="7235837" y="2422624"/>
            <a:ext cx="0" cy="538572"/>
          </a:xfrm>
          <a:prstGeom prst="line">
            <a:avLst/>
          </a:prstGeom>
          <a:noFill/>
          <a:ln w="21431">
            <a:solidFill>
              <a:srgbClr val="FFF100"/>
            </a:solidFill>
            <a:prstDash val="solid"/>
          </a:ln>
        </p:spPr>
      </p:sp>
      <p:sp>
        <p:nvSpPr>
          <p:cNvPr id="19" name="Text 14"/>
          <p:cNvSpPr/>
          <p:nvPr/>
        </p:nvSpPr>
        <p:spPr>
          <a:xfrm>
            <a:off x="7346566" y="2479774"/>
            <a:ext cx="1397384" cy="286893"/>
          </a:xfrm>
          <a:prstGeom prst="rect">
            <a:avLst/>
          </a:prstGeom>
          <a:noFill/>
          <a:ln/>
        </p:spPr>
        <p:txBody>
          <a:bodyPr wrap="none" lIns="0" tIns="0" rIns="0" bIns="0" rtlCol="0" anchor="t">
            <a:normAutofit/>
          </a:bodyPr>
          <a:lstStyle/>
          <a:p>
            <a:pPr marL="0" indent="0" algn="l">
              <a:lnSpc>
                <a:spcPts val="2138"/>
              </a:lnSpc>
              <a:buNone/>
            </a:pPr>
            <a:r>
              <a:rPr lang="en-US" sz="2138" b="1" kern="0" spc="-21" dirty="0">
                <a:solidFill>
                  <a:srgbClr val="FFF100"/>
                </a:solidFill>
                <a:latin typeface="Liberation Sans Narrow" pitchFamily="34" charset="0"/>
                <a:ea typeface="Liberation Sans Narrow" pitchFamily="34" charset="-122"/>
                <a:cs typeface="Liberation Sans Narrow" pitchFamily="34" charset="-120"/>
              </a:rPr>
              <a:t>9.27</a:t>
            </a:r>
            <a:endParaRPr lang="en-US" sz="2138" dirty="0"/>
          </a:p>
        </p:txBody>
      </p:sp>
      <p:sp>
        <p:nvSpPr>
          <p:cNvPr id="20" name="Text 15"/>
          <p:cNvSpPr/>
          <p:nvPr/>
        </p:nvSpPr>
        <p:spPr>
          <a:xfrm>
            <a:off x="7346566" y="2794099"/>
            <a:ext cx="1397384" cy="109947"/>
          </a:xfrm>
          <a:prstGeom prst="rect">
            <a:avLst/>
          </a:prstGeom>
          <a:noFill/>
          <a:ln/>
        </p:spPr>
        <p:txBody>
          <a:bodyPr wrap="none" lIns="0" tIns="0" rIns="0" bIns="0" rtlCol="0" anchor="t"/>
          <a:lstStyle/>
          <a:p>
            <a:pPr marL="0" indent="0" algn="l">
              <a:lnSpc>
                <a:spcPts val="866"/>
              </a:lnSpc>
              <a:buNone/>
            </a:pPr>
            <a:r>
              <a:rPr lang="en-US" sz="800" kern="0" spc="37" dirty="0">
                <a:solidFill>
                  <a:srgbClr val="95D5B2"/>
                </a:solidFill>
                <a:latin typeface="Carlito" pitchFamily="34" charset="0"/>
                <a:ea typeface="Carlito" pitchFamily="34" charset="-122"/>
                <a:cs typeface="Carlito" pitchFamily="34" charset="-120"/>
              </a:rPr>
              <a:t>Women · avg games / set</a:t>
            </a:r>
            <a:endParaRPr lang="en-US" sz="800" dirty="0"/>
          </a:p>
        </p:txBody>
      </p:sp>
      <p:sp>
        <p:nvSpPr>
          <p:cNvPr id="21" name="Shape 16"/>
          <p:cNvSpPr/>
          <p:nvPr/>
        </p:nvSpPr>
        <p:spPr>
          <a:xfrm>
            <a:off x="5606393" y="4300538"/>
            <a:ext cx="3137557" cy="0"/>
          </a:xfrm>
          <a:prstGeom prst="line">
            <a:avLst/>
          </a:prstGeom>
          <a:noFill/>
          <a:ln w="7144">
            <a:solidFill>
              <a:srgbClr val="FFF100"/>
            </a:solidFill>
            <a:prstDash val="dash"/>
          </a:ln>
        </p:spPr>
      </p:sp>
      <p:sp>
        <p:nvSpPr>
          <p:cNvPr id="22" name="Text 17"/>
          <p:cNvSpPr/>
          <p:nvPr/>
        </p:nvSpPr>
        <p:spPr>
          <a:xfrm>
            <a:off x="5606393" y="4396978"/>
            <a:ext cx="100013" cy="100013"/>
          </a:xfrm>
          <a:prstGeom prst="rect">
            <a:avLst/>
          </a:prstGeom>
          <a:noFill/>
          <a:ln/>
        </p:spPr>
        <p:txBody>
          <a:bodyPr wrap="none" lIns="0" tIns="0" rIns="0" bIns="0" rtlCol="0" anchor="ctr"/>
          <a:lstStyle/>
          <a:p>
            <a:pPr marL="0" indent="0" algn="ctr">
              <a:buNone/>
            </a:pPr>
            <a:endParaRPr lang="en-US" sz="984" dirty="0"/>
          </a:p>
        </p:txBody>
      </p:sp>
      <p:sp>
        <p:nvSpPr>
          <p:cNvPr id="23" name="Text 18"/>
          <p:cNvSpPr/>
          <p:nvPr/>
        </p:nvSpPr>
        <p:spPr>
          <a:xfrm>
            <a:off x="5763555" y="4389834"/>
            <a:ext cx="2980395" cy="353616"/>
          </a:xfrm>
          <a:prstGeom prst="rect">
            <a:avLst/>
          </a:prstGeom>
          <a:noFill/>
          <a:ln/>
        </p:spPr>
        <p:txBody>
          <a:bodyPr wrap="square" lIns="0" tIns="0" rIns="0" bIns="0" rtlCol="0" anchor="t"/>
          <a:lstStyle/>
          <a:p>
            <a:pPr marL="0" indent="0" algn="l">
              <a:lnSpc>
                <a:spcPts val="92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617 incomplete sets (0-0 or 3-2 from retirements/walkovers) were excluded from the total of 20,461 sets to prevent artificial downward skew. Both groups have a median of 9 games per set.</a:t>
            </a:r>
            <a:endParaRPr lang="en-US" sz="800" dirty="0">
              <a:latin typeface="Dubai Light" panose="020B0303030403030204" pitchFamily="34" charset="-78"/>
              <a:cs typeface="Dubai Light" panose="020B0303030403030204" pitchFamily="34" charset="-78"/>
            </a:endParaRPr>
          </a:p>
        </p:txBody>
      </p:sp>
      <p:sp>
        <p:nvSpPr>
          <p:cNvPr id="24" name="Text 19"/>
          <p:cNvSpPr/>
          <p:nvPr/>
        </p:nvSpPr>
        <p:spPr>
          <a:xfrm>
            <a:off x="1342020" y="4957539"/>
            <a:ext cx="35719" cy="35719"/>
          </a:xfrm>
          <a:prstGeom prst="roundRect">
            <a:avLst>
              <a:gd name="adj" fmla="val 66666"/>
            </a:avLst>
          </a:prstGeom>
          <a:solidFill>
            <a:srgbClr val="FFF100"/>
          </a:solidFill>
          <a:ln/>
        </p:spPr>
        <p:txBody>
          <a:bodyPr wrap="square" rtlCol="0" anchor="ctr"/>
          <a:lstStyle/>
          <a:p>
            <a:pPr marL="0" indent="0">
              <a:buNone/>
            </a:pPr>
            <a:endParaRPr lang="en-US" dirty="0"/>
          </a:p>
        </p:txBody>
      </p:sp>
      <p:sp>
        <p:nvSpPr>
          <p:cNvPr id="25" name="Text 20"/>
          <p:cNvSpPr/>
          <p:nvPr/>
        </p:nvSpPr>
        <p:spPr>
          <a:xfrm>
            <a:off x="348431" y="4910962"/>
            <a:ext cx="8005688" cy="164592"/>
          </a:xfrm>
          <a:prstGeom prst="rect">
            <a:avLst/>
          </a:prstGeom>
          <a:noFill/>
          <a:ln/>
        </p:spPr>
        <p:txBody>
          <a:bodyPr wrap="square" lIns="0" tIns="0" rIns="0" bIns="0" rtlCol="0" anchor="t"/>
          <a:lstStyle/>
          <a:p>
            <a:pPr marL="0" indent="0" algn="l">
              <a:lnSpc>
                <a:spcPts val="886"/>
              </a:lnSpc>
              <a:buNone/>
            </a:pPr>
            <a:r>
              <a:rPr lang="en-US" sz="800" kern="0" spc="106" dirty="0">
                <a:solidFill>
                  <a:srgbClr val="6FA68A"/>
                </a:solidFill>
                <a:latin typeface="Carlito" pitchFamily="34" charset="0"/>
                <a:ea typeface="Carlito" pitchFamily="34" charset="-122"/>
                <a:cs typeface="Carlito" pitchFamily="34" charset="-120"/>
              </a:rPr>
              <a:t>KEYVAN HAJIZADE    MATCH STATISTICS &amp; PERFORMANCE</a:t>
            </a:r>
            <a:endParaRPr lang="en-US" sz="800" dirty="0"/>
          </a:p>
        </p:txBody>
      </p:sp>
      <p:sp>
        <p:nvSpPr>
          <p:cNvPr id="26" name="Text 21"/>
          <p:cNvSpPr/>
          <p:nvPr/>
        </p:nvSpPr>
        <p:spPr>
          <a:xfrm>
            <a:off x="8420026" y="4916686"/>
            <a:ext cx="483584" cy="164592"/>
          </a:xfrm>
          <a:prstGeom prst="rect">
            <a:avLst/>
          </a:prstGeom>
          <a:noFill/>
          <a:ln/>
        </p:spPr>
        <p:txBody>
          <a:bodyPr wrap="none" lIns="0" tIns="0" rIns="0" bIns="0" rtlCol="0" anchor="t"/>
          <a:lstStyle/>
          <a:p>
            <a:pPr marL="0" indent="0" algn="l">
              <a:lnSpc>
                <a:spcPts val="886"/>
              </a:lnSpc>
              <a:buNone/>
            </a:pPr>
            <a:r>
              <a:rPr lang="en-US" sz="800" kern="0" spc="106" dirty="0">
                <a:solidFill>
                  <a:srgbClr val="95D5B2"/>
                </a:solidFill>
                <a:latin typeface="Liberation Sans Narrow" pitchFamily="34" charset="0"/>
                <a:ea typeface="Liberation Sans Narrow" pitchFamily="34" charset="-122"/>
                <a:cs typeface="Liberation Sans Narrow" pitchFamily="34" charset="-120"/>
              </a:rPr>
              <a:t>14 / 30</a:t>
            </a:r>
            <a:endParaRPr lang="en-US" sz="800" dirty="0"/>
          </a:p>
        </p:txBody>
      </p:sp>
      <p:sp>
        <p:nvSpPr>
          <p:cNvPr id="28" name="Text 4">
            <a:extLst>
              <a:ext uri="{FF2B5EF4-FFF2-40B4-BE49-F238E27FC236}">
                <a16:creationId xmlns:a16="http://schemas.microsoft.com/office/drawing/2014/main" id="{2CF76C5D-0BF7-D0DD-AC26-F7E62E637B03}"/>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SECTION 02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400050" y="617934"/>
            <a:ext cx="8343900" cy="0"/>
          </a:xfrm>
          <a:prstGeom prst="line">
            <a:avLst/>
          </a:prstGeom>
          <a:noFill/>
          <a:ln w="7144">
            <a:solidFill>
              <a:srgbClr val="FFF100"/>
            </a:solidFill>
            <a:prstDash val="solid"/>
          </a:ln>
        </p:spPr>
      </p:sp>
      <p:sp>
        <p:nvSpPr>
          <p:cNvPr id="3" name="Text 1"/>
          <p:cNvSpPr/>
          <p:nvPr/>
        </p:nvSpPr>
        <p:spPr>
          <a:xfrm>
            <a:off x="400050" y="257175"/>
            <a:ext cx="472559" cy="257175"/>
          </a:xfrm>
          <a:prstGeom prst="rect">
            <a:avLst/>
          </a:prstGeom>
          <a:noFill/>
          <a:ln/>
        </p:spPr>
        <p:txBody>
          <a:bodyPr wrap="none" lIns="0" tIns="0" rIns="0" bIns="0" rtlCol="0" anchor="t"/>
          <a:lstStyle/>
          <a:p>
            <a:pPr marL="0" indent="0" algn="l">
              <a:lnSpc>
                <a:spcPts val="2025"/>
              </a:lnSpc>
              <a:buNone/>
            </a:pPr>
            <a:r>
              <a:rPr lang="en-US" sz="1350" b="1" i="1" dirty="0">
                <a:solidFill>
                  <a:srgbClr val="FFF100"/>
                </a:solidFill>
                <a:latin typeface="Liberation Sans Narrow" pitchFamily="34" charset="0"/>
                <a:ea typeface="Liberation Sans Narrow" pitchFamily="34" charset="-122"/>
                <a:cs typeface="Liberation Sans Narrow" pitchFamily="34" charset="-120"/>
              </a:rPr>
              <a:t>Q16</a:t>
            </a:r>
            <a:endParaRPr lang="en-US" sz="1350" dirty="0"/>
          </a:p>
        </p:txBody>
      </p:sp>
      <p:sp>
        <p:nvSpPr>
          <p:cNvPr id="7" name="Text 5"/>
          <p:cNvSpPr/>
          <p:nvPr/>
        </p:nvSpPr>
        <p:spPr>
          <a:xfrm>
            <a:off x="400050" y="778669"/>
            <a:ext cx="5006318" cy="3964781"/>
          </a:xfrm>
          <a:prstGeom prst="roundRect">
            <a:avLst>
              <a:gd name="adj" fmla="val 1922"/>
            </a:avLst>
          </a:prstGeom>
          <a:solidFill>
            <a:srgbClr val="FFFFFF"/>
          </a:solidFill>
          <a:ln/>
          <a:effectLst>
            <a:outerShdw blurRad="342900" dist="114300" dir="5400000" algn="bl" rotWithShape="0">
              <a:srgbClr val="000000">
                <a:alpha val="30000"/>
              </a:srgbClr>
            </a:outerShdw>
          </a:effectLst>
        </p:spPr>
        <p:txBody>
          <a:bodyPr wrap="square" rtlCol="0" anchor="ctr"/>
          <a:lstStyle/>
          <a:p>
            <a:pPr marL="0" indent="0">
              <a:buNone/>
            </a:pPr>
            <a:endParaRPr lang="en-US" dirty="0"/>
          </a:p>
        </p:txBody>
      </p:sp>
      <p:pic>
        <p:nvPicPr>
          <p:cNvPr id="8" name="Image 0" descr="/tmp/h2p-fit-1789550282256-jd8az4.png"/>
          <p:cNvPicPr>
            <a:picLocks noChangeAspect="1"/>
          </p:cNvPicPr>
          <p:nvPr/>
        </p:nvPicPr>
        <p:blipFill>
          <a:blip r:embed="rId3"/>
          <a:stretch>
            <a:fillRect/>
          </a:stretch>
        </p:blipFill>
        <p:spPr>
          <a:xfrm>
            <a:off x="528638" y="1212652"/>
            <a:ext cx="4749143" cy="2912752"/>
          </a:xfrm>
          <a:prstGeom prst="rect">
            <a:avLst/>
          </a:prstGeom>
        </p:spPr>
      </p:pic>
      <p:sp>
        <p:nvSpPr>
          <p:cNvPr id="9" name="Text 6"/>
          <p:cNvSpPr/>
          <p:nvPr/>
        </p:nvSpPr>
        <p:spPr>
          <a:xfrm>
            <a:off x="528638" y="4510385"/>
            <a:ext cx="4749143" cy="112514"/>
          </a:xfrm>
          <a:prstGeom prst="rect">
            <a:avLst/>
          </a:prstGeom>
          <a:noFill/>
          <a:ln/>
        </p:spPr>
        <p:txBody>
          <a:bodyPr wrap="square" lIns="0" tIns="0" rIns="0" bIns="0" rtlCol="0" anchor="t"/>
          <a:lstStyle/>
          <a:p>
            <a:pPr marL="0" indent="0" algn="ctr">
              <a:lnSpc>
                <a:spcPts val="886"/>
              </a:lnSpc>
              <a:buNone/>
            </a:pPr>
            <a:r>
              <a:rPr lang="en-US" sz="800" kern="0" spc="71" dirty="0">
                <a:solidFill>
                  <a:srgbClr val="6FA68A"/>
                </a:solidFill>
                <a:latin typeface="Carlito" pitchFamily="34" charset="0"/>
                <a:ea typeface="Carlito" pitchFamily="34" charset="-122"/>
                <a:cs typeface="Carlito" pitchFamily="34" charset="-120"/>
              </a:rPr>
              <a:t>FIG. 12 — WINNING PERCENTAGE AGAINST TOP-10 OPPONENTS</a:t>
            </a:r>
            <a:endParaRPr lang="en-US" sz="800" dirty="0"/>
          </a:p>
        </p:txBody>
      </p:sp>
      <p:sp>
        <p:nvSpPr>
          <p:cNvPr id="10" name="Text 7"/>
          <p:cNvSpPr/>
          <p:nvPr/>
        </p:nvSpPr>
        <p:spPr>
          <a:xfrm>
            <a:off x="5606393" y="778669"/>
            <a:ext cx="3137557" cy="413971"/>
          </a:xfrm>
          <a:prstGeom prst="rect">
            <a:avLst/>
          </a:prstGeom>
          <a:noFill/>
          <a:ln/>
        </p:spPr>
        <p:txBody>
          <a:bodyPr wrap="square" lIns="0" tIns="0" rIns="0" bIns="0" rtlCol="0" anchor="t"/>
          <a:lstStyle/>
          <a:p>
            <a:pPr marL="0" indent="0" algn="l">
              <a:lnSpc>
                <a:spcPts val="1510"/>
              </a:lnSpc>
              <a:buNone/>
            </a:pPr>
            <a:r>
              <a:rPr lang="en-US" sz="1238" kern="0" spc="-6" dirty="0">
                <a:solidFill>
                  <a:srgbClr val="F4F1DE"/>
                </a:solidFill>
                <a:latin typeface="Tinos" pitchFamily="34" charset="0"/>
                <a:ea typeface="Tinos" pitchFamily="34" charset="-122"/>
                <a:cs typeface="Tinos" pitchFamily="34" charset="-120"/>
              </a:rPr>
              <a:t>Which Player Has the Highest Winning Percentage Against Top-10 Opponents?</a:t>
            </a:r>
            <a:endParaRPr lang="en-US" sz="1238" dirty="0"/>
          </a:p>
        </p:txBody>
      </p:sp>
      <p:sp>
        <p:nvSpPr>
          <p:cNvPr id="11" name="Text 8"/>
          <p:cNvSpPr/>
          <p:nvPr/>
        </p:nvSpPr>
        <p:spPr>
          <a:xfrm>
            <a:off x="5606393" y="1247701"/>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606393" y="1369144"/>
            <a:ext cx="3137557" cy="1059646"/>
          </a:xfrm>
          <a:prstGeom prst="rect">
            <a:avLst/>
          </a:prstGeom>
          <a:noFill/>
          <a:ln/>
        </p:spPr>
        <p:txBody>
          <a:bodyPr wrap="square" lIns="0" tIns="0" rIns="0" bIns="0" rtlCol="0" anchor="t">
            <a:normAutofit/>
          </a:bodyPr>
          <a:lstStyle/>
          <a:p>
            <a:pPr marL="0" indent="0" algn="l">
              <a:lnSpc>
                <a:spcPts val="1177"/>
              </a:lnSpc>
              <a:buNone/>
            </a:pPr>
            <a:r>
              <a:rPr lang="en-US" sz="900" dirty="0">
                <a:solidFill>
                  <a:srgbClr val="F4F1DE"/>
                </a:solidFill>
                <a:latin typeface="Candara" panose="020E0502030303020204" pitchFamily="34" charset="0"/>
                <a:ea typeface="Carlito" pitchFamily="34" charset="-122"/>
                <a:cs typeface="Carlito" pitchFamily="34" charset="-120"/>
              </a:rPr>
              <a:t>The three players at the top of the table each played only three matches — too small a sample for statistical significance. The more reliable performances are </a:t>
            </a:r>
            <a:r>
              <a:rPr lang="en-US" sz="900" dirty="0">
                <a:solidFill>
                  <a:srgbClr val="FFF8B5"/>
                </a:solidFill>
                <a:latin typeface="Candara" panose="020E0502030303020204" pitchFamily="34" charset="0"/>
                <a:ea typeface="Carlito" pitchFamily="34" charset="-122"/>
                <a:cs typeface="Carlito" pitchFamily="34" charset="-120"/>
              </a:rPr>
              <a:t>Alcaraz (75% win rate over 4 matches)</a:t>
            </a:r>
            <a:r>
              <a:rPr lang="en-US" sz="900" dirty="0">
                <a:solidFill>
                  <a:srgbClr val="F4F1DE"/>
                </a:solidFill>
                <a:latin typeface="Candara" panose="020E0502030303020204" pitchFamily="34" charset="0"/>
                <a:ea typeface="Carlito" pitchFamily="34" charset="-122"/>
                <a:cs typeface="Carlito" pitchFamily="34" charset="-120"/>
              </a:rPr>
              <a:t> and </a:t>
            </a:r>
            <a:r>
              <a:rPr lang="en-US" sz="900" dirty="0">
                <a:solidFill>
                  <a:srgbClr val="FFF8B5"/>
                </a:solidFill>
                <a:latin typeface="Candara" panose="020E0502030303020204" pitchFamily="34" charset="0"/>
                <a:ea typeface="Liberation Sans Narrow" pitchFamily="34" charset="-122"/>
                <a:cs typeface="Liberation Sans Narrow" pitchFamily="34" charset="-120"/>
              </a:rPr>
              <a:t>Dimitrov (50% over 6 matches)</a:t>
            </a:r>
            <a:r>
              <a:rPr lang="en-US" sz="900" dirty="0">
                <a:solidFill>
                  <a:srgbClr val="F4F1DE"/>
                </a:solidFill>
                <a:latin typeface="Candara" panose="020E0502030303020204" pitchFamily="34" charset="0"/>
                <a:ea typeface="Carlito" pitchFamily="34" charset="-122"/>
                <a:cs typeface="Carlito" pitchFamily="34" charset="-120"/>
              </a:rPr>
              <a:t>. However, the analysis uses the current_rank column, meaning the opponent's current ranking is used rather than the ranking they held at the time of the match.</a:t>
            </a:r>
            <a:endParaRPr lang="en-US" sz="900" dirty="0">
              <a:latin typeface="Candara" panose="020E0502030303020204" pitchFamily="34" charset="0"/>
            </a:endParaRPr>
          </a:p>
        </p:txBody>
      </p:sp>
      <p:pic>
        <p:nvPicPr>
          <p:cNvPr id="13" name="Image 1" descr="preencoded.png"/>
          <p:cNvPicPr>
            <a:picLocks noChangeAspect="1"/>
          </p:cNvPicPr>
          <p:nvPr/>
        </p:nvPicPr>
        <p:blipFill>
          <a:blip r:embed="rId4"/>
          <a:stretch>
            <a:fillRect/>
          </a:stretch>
        </p:blipFill>
        <p:spPr>
          <a:xfrm>
            <a:off x="5606393" y="2558113"/>
            <a:ext cx="3137557" cy="581434"/>
          </a:xfrm>
          <a:prstGeom prst="rect">
            <a:avLst/>
          </a:prstGeom>
        </p:spPr>
      </p:pic>
      <p:sp>
        <p:nvSpPr>
          <p:cNvPr id="14" name="Shape 10"/>
          <p:cNvSpPr/>
          <p:nvPr/>
        </p:nvSpPr>
        <p:spPr>
          <a:xfrm>
            <a:off x="5617108" y="2558113"/>
            <a:ext cx="0" cy="581434"/>
          </a:xfrm>
          <a:prstGeom prst="line">
            <a:avLst/>
          </a:prstGeom>
          <a:noFill/>
          <a:ln w="21431">
            <a:solidFill>
              <a:srgbClr val="FFF100"/>
            </a:solidFill>
            <a:prstDash val="solid"/>
          </a:ln>
        </p:spPr>
      </p:sp>
      <p:sp>
        <p:nvSpPr>
          <p:cNvPr id="15" name="Text 11"/>
          <p:cNvSpPr/>
          <p:nvPr/>
        </p:nvSpPr>
        <p:spPr>
          <a:xfrm>
            <a:off x="5727836" y="2615263"/>
            <a:ext cx="3016114" cy="329756"/>
          </a:xfrm>
          <a:prstGeom prst="rect">
            <a:avLst/>
          </a:prstGeom>
          <a:noFill/>
          <a:ln/>
        </p:spPr>
        <p:txBody>
          <a:bodyPr wrap="none" lIns="0" tIns="0" rIns="0" bIns="0" rtlCol="0" anchor="t">
            <a:normAutofit/>
          </a:bodyPr>
          <a:lstStyle/>
          <a:p>
            <a:pPr marL="0" indent="0" algn="l">
              <a:lnSpc>
                <a:spcPts val="2475"/>
              </a:lnSpc>
              <a:buNone/>
            </a:pPr>
            <a:r>
              <a:rPr lang="en-US" sz="2475" b="1" kern="0" spc="-25" dirty="0">
                <a:solidFill>
                  <a:srgbClr val="FFF100"/>
                </a:solidFill>
                <a:latin typeface="Liberation Sans Narrow" pitchFamily="34" charset="0"/>
                <a:ea typeface="Liberation Sans Narrow" pitchFamily="34" charset="-122"/>
                <a:cs typeface="Liberation Sans Narrow" pitchFamily="34" charset="-120"/>
              </a:rPr>
              <a:t>75%</a:t>
            </a:r>
            <a:endParaRPr lang="en-US" sz="2475" dirty="0"/>
          </a:p>
        </p:txBody>
      </p:sp>
      <p:sp>
        <p:nvSpPr>
          <p:cNvPr id="16" name="Text 12"/>
          <p:cNvSpPr/>
          <p:nvPr/>
        </p:nvSpPr>
        <p:spPr>
          <a:xfrm>
            <a:off x="5727836" y="2972451"/>
            <a:ext cx="3125842" cy="109947"/>
          </a:xfrm>
          <a:prstGeom prst="rect">
            <a:avLst/>
          </a:prstGeom>
          <a:noFill/>
          <a:ln/>
        </p:spPr>
        <p:txBody>
          <a:bodyPr wrap="square" lIns="0" tIns="0" rIns="0" bIns="0" rtlCol="0" anchor="t"/>
          <a:lstStyle/>
          <a:p>
            <a:pPr marL="0" indent="0" algn="l">
              <a:lnSpc>
                <a:spcPts val="866"/>
              </a:lnSpc>
              <a:buNone/>
            </a:pPr>
            <a:r>
              <a:rPr lang="en-US" sz="800" kern="0" spc="37" dirty="0">
                <a:solidFill>
                  <a:srgbClr val="95D5B2"/>
                </a:solidFill>
                <a:latin typeface="Liberation Sans Narrow" pitchFamily="34" charset="0"/>
                <a:ea typeface="Liberation Sans Narrow" pitchFamily="34" charset="-122"/>
                <a:cs typeface="Liberation Sans Narrow" pitchFamily="34" charset="-120"/>
              </a:rPr>
              <a:t>Alcaraz · 4 matches vs top-10</a:t>
            </a:r>
            <a:endParaRPr lang="en-US" sz="800" dirty="0"/>
          </a:p>
        </p:txBody>
      </p:sp>
      <p:sp>
        <p:nvSpPr>
          <p:cNvPr id="17" name="Text 13"/>
          <p:cNvSpPr/>
          <p:nvPr/>
        </p:nvSpPr>
        <p:spPr>
          <a:xfrm>
            <a:off x="5606393" y="3225272"/>
            <a:ext cx="3137557" cy="488454"/>
          </a:xfrm>
          <a:prstGeom prst="rect">
            <a:avLst/>
          </a:prstGeom>
          <a:solidFill>
            <a:srgbClr val="FF8A00">
              <a:alpha val="10000"/>
            </a:srgbClr>
          </a:solidFill>
          <a:ln/>
        </p:spPr>
        <p:txBody>
          <a:bodyPr wrap="square" rtlCol="0" anchor="ctr"/>
          <a:lstStyle/>
          <a:p>
            <a:pPr marL="0" indent="0">
              <a:buNone/>
            </a:pPr>
            <a:endParaRPr lang="en-US" dirty="0"/>
          </a:p>
        </p:txBody>
      </p:sp>
      <p:sp>
        <p:nvSpPr>
          <p:cNvPr id="18" name="Shape 14"/>
          <p:cNvSpPr/>
          <p:nvPr/>
        </p:nvSpPr>
        <p:spPr>
          <a:xfrm>
            <a:off x="5617108" y="3225272"/>
            <a:ext cx="0" cy="488454"/>
          </a:xfrm>
          <a:prstGeom prst="line">
            <a:avLst/>
          </a:prstGeom>
          <a:noFill/>
          <a:ln w="21431">
            <a:solidFill>
              <a:srgbClr val="FF8A00"/>
            </a:solidFill>
            <a:prstDash val="solid"/>
          </a:ln>
        </p:spPr>
      </p:sp>
      <p:sp>
        <p:nvSpPr>
          <p:cNvPr id="19" name="Text 15"/>
          <p:cNvSpPr/>
          <p:nvPr/>
        </p:nvSpPr>
        <p:spPr>
          <a:xfrm>
            <a:off x="5713549" y="3303854"/>
            <a:ext cx="128588" cy="128588"/>
          </a:xfrm>
          <a:prstGeom prst="rect">
            <a:avLst/>
          </a:prstGeom>
          <a:noFill/>
          <a:ln/>
        </p:spPr>
        <p:txBody>
          <a:bodyPr wrap="none" lIns="0" tIns="0" rIns="0" bIns="0" rtlCol="0" anchor="ctr"/>
          <a:lstStyle/>
          <a:p>
            <a:pPr marL="0" indent="0" algn="ctr">
              <a:buNone/>
            </a:pPr>
            <a:r>
              <a:rPr lang="en-US" sz="1266" dirty="0">
                <a:solidFill>
                  <a:srgbClr val="FFB74D"/>
                </a:solidFill>
                <a:latin typeface="Segoe UI Symbol" pitchFamily="34" charset="0"/>
                <a:ea typeface="Segoe UI Symbol" pitchFamily="34" charset="-122"/>
                <a:cs typeface="Segoe UI Symbol" pitchFamily="34" charset="-120"/>
              </a:rPr>
              <a:t>⚠</a:t>
            </a:r>
            <a:endParaRPr lang="en-US" sz="1266" dirty="0"/>
          </a:p>
        </p:txBody>
      </p:sp>
      <p:sp>
        <p:nvSpPr>
          <p:cNvPr id="20" name="Text 16"/>
          <p:cNvSpPr/>
          <p:nvPr/>
        </p:nvSpPr>
        <p:spPr>
          <a:xfrm>
            <a:off x="5913574" y="3421726"/>
            <a:ext cx="2744651" cy="220563"/>
          </a:xfrm>
          <a:prstGeom prst="rect">
            <a:avLst/>
          </a:prstGeom>
          <a:noFill/>
          <a:ln/>
        </p:spPr>
        <p:txBody>
          <a:bodyPr wrap="square" lIns="0" tIns="0" rIns="0" bIns="0" rtlCol="0" anchor="t"/>
          <a:lstStyle/>
          <a:p>
            <a:pPr marL="0" indent="0" algn="l">
              <a:lnSpc>
                <a:spcPts val="897"/>
              </a:lnSpc>
              <a:buNone/>
            </a:pPr>
            <a:r>
              <a:rPr lang="en-US" sz="619" dirty="0">
                <a:solidFill>
                  <a:srgbClr val="F4F1DE"/>
                </a:solidFill>
                <a:latin typeface="Carlito" pitchFamily="34" charset="0"/>
                <a:ea typeface="Carlito" pitchFamily="34" charset="-122"/>
                <a:cs typeface="Carlito" pitchFamily="34" charset="-120"/>
              </a:rPr>
              <a:t>This analysis is NOT reliable. The current_rank column reflects today's ranking, not the ranking at match time.</a:t>
            </a:r>
            <a:endParaRPr lang="en-US" sz="619" dirty="0"/>
          </a:p>
        </p:txBody>
      </p:sp>
      <p:sp>
        <p:nvSpPr>
          <p:cNvPr id="21" name="Text 17"/>
          <p:cNvSpPr/>
          <p:nvPr/>
        </p:nvSpPr>
        <p:spPr>
          <a:xfrm>
            <a:off x="5913574" y="3296710"/>
            <a:ext cx="2744651" cy="159106"/>
          </a:xfrm>
          <a:prstGeom prst="rect">
            <a:avLst/>
          </a:prstGeom>
          <a:noFill/>
          <a:ln/>
        </p:spPr>
        <p:txBody>
          <a:bodyPr wrap="square" lIns="0" tIns="0" rIns="0" bIns="0" rtlCol="0" anchor="t"/>
          <a:lstStyle/>
          <a:p>
            <a:pPr marL="0" indent="0" algn="l">
              <a:lnSpc>
                <a:spcPts val="816"/>
              </a:lnSpc>
              <a:buNone/>
            </a:pPr>
            <a:r>
              <a:rPr lang="en-US" sz="600" kern="0" spc="23" dirty="0">
                <a:solidFill>
                  <a:srgbClr val="FFB74D"/>
                </a:solidFill>
                <a:latin typeface="Carlito" pitchFamily="34" charset="0"/>
                <a:ea typeface="Carlito" pitchFamily="34" charset="-122"/>
                <a:cs typeface="Carlito" pitchFamily="34" charset="-120"/>
              </a:rPr>
              <a:t>RELIABILITY FLAG · NOT STATISTICALLY SIGNIFICANT</a:t>
            </a:r>
            <a:endParaRPr lang="en-US" sz="600" dirty="0"/>
          </a:p>
        </p:txBody>
      </p:sp>
      <p:sp>
        <p:nvSpPr>
          <p:cNvPr id="22" name="Shape 18"/>
          <p:cNvSpPr/>
          <p:nvPr/>
        </p:nvSpPr>
        <p:spPr>
          <a:xfrm>
            <a:off x="5606393" y="4300538"/>
            <a:ext cx="3137557" cy="0"/>
          </a:xfrm>
          <a:prstGeom prst="line">
            <a:avLst/>
          </a:prstGeom>
          <a:noFill/>
          <a:ln w="7144">
            <a:solidFill>
              <a:srgbClr val="FFF100"/>
            </a:solidFill>
            <a:prstDash val="dash"/>
          </a:ln>
        </p:spPr>
      </p:sp>
      <p:sp>
        <p:nvSpPr>
          <p:cNvPr id="23" name="Text 19"/>
          <p:cNvSpPr/>
          <p:nvPr/>
        </p:nvSpPr>
        <p:spPr>
          <a:xfrm>
            <a:off x="5606393" y="4396978"/>
            <a:ext cx="100013" cy="100013"/>
          </a:xfrm>
          <a:prstGeom prst="rect">
            <a:avLst/>
          </a:prstGeom>
          <a:noFill/>
          <a:ln/>
        </p:spPr>
        <p:txBody>
          <a:bodyPr wrap="none" lIns="0" tIns="0" rIns="0" bIns="0" rtlCol="0" anchor="ctr"/>
          <a:lstStyle/>
          <a:p>
            <a:pPr marL="0" indent="0" algn="ctr">
              <a:buNone/>
            </a:pPr>
            <a:endParaRPr lang="en-US" sz="984" dirty="0"/>
          </a:p>
        </p:txBody>
      </p:sp>
      <p:sp>
        <p:nvSpPr>
          <p:cNvPr id="24" name="Text 20"/>
          <p:cNvSpPr/>
          <p:nvPr/>
        </p:nvSpPr>
        <p:spPr>
          <a:xfrm>
            <a:off x="5763555" y="4389834"/>
            <a:ext cx="2980395" cy="353616"/>
          </a:xfrm>
          <a:prstGeom prst="rect">
            <a:avLst/>
          </a:prstGeom>
          <a:noFill/>
          <a:ln/>
        </p:spPr>
        <p:txBody>
          <a:bodyPr wrap="square" lIns="0" tIns="0" rIns="0" bIns="0" rtlCol="0" anchor="t"/>
          <a:lstStyle/>
          <a:p>
            <a:pPr marL="0" indent="0" algn="l">
              <a:lnSpc>
                <a:spcPts val="92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 This analysis is NOT reliable. The current_rank column reflects today's ranking, not the ranking at match time. Three-match samples at the top are too small for statistical conclusions. The result should be treated as indicative only.</a:t>
            </a:r>
            <a:endParaRPr lang="en-US" sz="800" dirty="0">
              <a:latin typeface="Dubai Light" panose="020B0303030403030204" pitchFamily="34" charset="-78"/>
              <a:cs typeface="Dubai Light" panose="020B0303030403030204" pitchFamily="34" charset="-78"/>
            </a:endParaRPr>
          </a:p>
        </p:txBody>
      </p:sp>
      <p:sp>
        <p:nvSpPr>
          <p:cNvPr id="25" name="Text 21"/>
          <p:cNvSpPr/>
          <p:nvPr/>
        </p:nvSpPr>
        <p:spPr>
          <a:xfrm>
            <a:off x="1342020" y="4957539"/>
            <a:ext cx="35719" cy="35719"/>
          </a:xfrm>
          <a:prstGeom prst="roundRect">
            <a:avLst>
              <a:gd name="adj" fmla="val 66666"/>
            </a:avLst>
          </a:prstGeom>
          <a:solidFill>
            <a:srgbClr val="FFF100"/>
          </a:solidFill>
          <a:ln/>
        </p:spPr>
        <p:txBody>
          <a:bodyPr wrap="square" rtlCol="0" anchor="ctr"/>
          <a:lstStyle/>
          <a:p>
            <a:pPr marL="0" indent="0">
              <a:buNone/>
            </a:pPr>
            <a:endParaRPr lang="en-US" dirty="0"/>
          </a:p>
        </p:txBody>
      </p:sp>
      <p:sp>
        <p:nvSpPr>
          <p:cNvPr id="26" name="Text 22"/>
          <p:cNvSpPr/>
          <p:nvPr/>
        </p:nvSpPr>
        <p:spPr>
          <a:xfrm>
            <a:off x="333683" y="4901505"/>
            <a:ext cx="8005688" cy="194953"/>
          </a:xfrm>
          <a:prstGeom prst="rect">
            <a:avLst/>
          </a:prstGeom>
          <a:noFill/>
          <a:ln/>
        </p:spPr>
        <p:txBody>
          <a:bodyPr wrap="square" lIns="0" tIns="0" rIns="0" bIns="0" rtlCol="0" anchor="t"/>
          <a:lstStyle/>
          <a:p>
            <a:pPr marL="0" indent="0" algn="l">
              <a:lnSpc>
                <a:spcPts val="886"/>
              </a:lnSpc>
              <a:buNone/>
            </a:pPr>
            <a:r>
              <a:rPr lang="en-US" sz="800" kern="0" spc="106" dirty="0">
                <a:solidFill>
                  <a:srgbClr val="6FA68A"/>
                </a:solidFill>
                <a:latin typeface="Carlito" pitchFamily="34" charset="0"/>
                <a:ea typeface="Carlito" pitchFamily="34" charset="-122"/>
                <a:cs typeface="Carlito" pitchFamily="34" charset="-120"/>
              </a:rPr>
              <a:t>KEYVAN HAJIZADE    MATCH STATISTICS &amp; PERFORMANCE</a:t>
            </a:r>
            <a:endParaRPr lang="en-US" sz="800" dirty="0"/>
          </a:p>
        </p:txBody>
      </p:sp>
      <p:sp>
        <p:nvSpPr>
          <p:cNvPr id="27" name="Text 23"/>
          <p:cNvSpPr/>
          <p:nvPr/>
        </p:nvSpPr>
        <p:spPr>
          <a:xfrm>
            <a:off x="8420026" y="4916686"/>
            <a:ext cx="483584" cy="164592"/>
          </a:xfrm>
          <a:prstGeom prst="rect">
            <a:avLst/>
          </a:prstGeom>
          <a:noFill/>
          <a:ln/>
        </p:spPr>
        <p:txBody>
          <a:bodyPr wrap="none" lIns="0" tIns="0" rIns="0" bIns="0" rtlCol="0" anchor="t"/>
          <a:lstStyle/>
          <a:p>
            <a:pPr marL="0" indent="0" algn="l">
              <a:lnSpc>
                <a:spcPts val="886"/>
              </a:lnSpc>
              <a:buNone/>
            </a:pPr>
            <a:r>
              <a:rPr lang="en-US" sz="800" kern="0" spc="106" dirty="0">
                <a:solidFill>
                  <a:srgbClr val="95D5B2"/>
                </a:solidFill>
                <a:latin typeface="Liberation Sans Narrow" pitchFamily="34" charset="0"/>
                <a:ea typeface="Liberation Sans Narrow" pitchFamily="34" charset="-122"/>
                <a:cs typeface="Liberation Sans Narrow" pitchFamily="34" charset="-120"/>
              </a:rPr>
              <a:t>15 / 30</a:t>
            </a:r>
            <a:endParaRPr lang="en-US" sz="800" dirty="0"/>
          </a:p>
        </p:txBody>
      </p:sp>
      <p:sp>
        <p:nvSpPr>
          <p:cNvPr id="29" name="Text 4">
            <a:extLst>
              <a:ext uri="{FF2B5EF4-FFF2-40B4-BE49-F238E27FC236}">
                <a16:creationId xmlns:a16="http://schemas.microsoft.com/office/drawing/2014/main" id="{83C876B8-8AD6-0AA0-28A0-8C8AB2698C74}"/>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SECTION 02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400050" y="617934"/>
            <a:ext cx="8343900" cy="0"/>
          </a:xfrm>
          <a:prstGeom prst="line">
            <a:avLst/>
          </a:prstGeom>
          <a:noFill/>
          <a:ln w="7144">
            <a:solidFill>
              <a:srgbClr val="FFF100"/>
            </a:solidFill>
            <a:prstDash val="solid"/>
          </a:ln>
        </p:spPr>
      </p:sp>
      <p:sp>
        <p:nvSpPr>
          <p:cNvPr id="3" name="Text 1"/>
          <p:cNvSpPr/>
          <p:nvPr/>
        </p:nvSpPr>
        <p:spPr>
          <a:xfrm>
            <a:off x="400050" y="257175"/>
            <a:ext cx="472559" cy="257175"/>
          </a:xfrm>
          <a:prstGeom prst="rect">
            <a:avLst/>
          </a:prstGeom>
          <a:noFill/>
          <a:ln/>
        </p:spPr>
        <p:txBody>
          <a:bodyPr wrap="none" lIns="0" tIns="0" rIns="0" bIns="0" rtlCol="0" anchor="t"/>
          <a:lstStyle/>
          <a:p>
            <a:pPr marL="0" indent="0" algn="l">
              <a:lnSpc>
                <a:spcPts val="2025"/>
              </a:lnSpc>
              <a:buNone/>
            </a:pPr>
            <a:r>
              <a:rPr lang="en-US" sz="1350" b="1" i="1" dirty="0">
                <a:solidFill>
                  <a:srgbClr val="FFF100"/>
                </a:solidFill>
                <a:latin typeface="Liberation Sans Narrow" pitchFamily="34" charset="0"/>
                <a:ea typeface="Liberation Sans Narrow" pitchFamily="34" charset="-122"/>
                <a:cs typeface="Liberation Sans Narrow" pitchFamily="34" charset="-120"/>
              </a:rPr>
              <a:t>Q17</a:t>
            </a:r>
            <a:endParaRPr lang="en-US" sz="1350" dirty="0"/>
          </a:p>
        </p:txBody>
      </p:sp>
      <p:sp>
        <p:nvSpPr>
          <p:cNvPr id="7" name="Text 5"/>
          <p:cNvSpPr/>
          <p:nvPr/>
        </p:nvSpPr>
        <p:spPr>
          <a:xfrm>
            <a:off x="400050" y="778669"/>
            <a:ext cx="5006318" cy="3964781"/>
          </a:xfrm>
          <a:prstGeom prst="roundRect">
            <a:avLst>
              <a:gd name="adj" fmla="val 1922"/>
            </a:avLst>
          </a:prstGeom>
          <a:solidFill>
            <a:srgbClr val="FFFFFF"/>
          </a:solidFill>
          <a:ln/>
          <a:effectLst>
            <a:outerShdw blurRad="342900" dist="114300" dir="5400000" algn="bl" rotWithShape="0">
              <a:srgbClr val="000000">
                <a:alpha val="30000"/>
              </a:srgbClr>
            </a:outerShdw>
          </a:effectLst>
        </p:spPr>
        <p:txBody>
          <a:bodyPr wrap="square" rtlCol="0" anchor="ctr"/>
          <a:lstStyle/>
          <a:p>
            <a:pPr marL="0" indent="0">
              <a:buNone/>
            </a:pPr>
            <a:endParaRPr lang="en-US" dirty="0"/>
          </a:p>
        </p:txBody>
      </p:sp>
      <p:pic>
        <p:nvPicPr>
          <p:cNvPr id="8" name="Image 0" descr="/tmp/h2p-fit-1789550282458-kyg7y9.png"/>
          <p:cNvPicPr>
            <a:picLocks noChangeAspect="1"/>
          </p:cNvPicPr>
          <p:nvPr/>
        </p:nvPicPr>
        <p:blipFill>
          <a:blip r:embed="rId3"/>
          <a:stretch>
            <a:fillRect/>
          </a:stretch>
        </p:blipFill>
        <p:spPr>
          <a:xfrm>
            <a:off x="528638" y="1307641"/>
            <a:ext cx="4749143" cy="2722773"/>
          </a:xfrm>
          <a:prstGeom prst="rect">
            <a:avLst/>
          </a:prstGeom>
        </p:spPr>
      </p:pic>
      <p:sp>
        <p:nvSpPr>
          <p:cNvPr id="9" name="Text 6"/>
          <p:cNvSpPr/>
          <p:nvPr/>
        </p:nvSpPr>
        <p:spPr>
          <a:xfrm>
            <a:off x="528638" y="4502348"/>
            <a:ext cx="4858871" cy="112514"/>
          </a:xfrm>
          <a:prstGeom prst="rect">
            <a:avLst/>
          </a:prstGeom>
          <a:noFill/>
          <a:ln/>
        </p:spPr>
        <p:txBody>
          <a:bodyPr wrap="square" lIns="0" tIns="0" rIns="0" bIns="0" rtlCol="0" anchor="t"/>
          <a:lstStyle/>
          <a:p>
            <a:pPr marL="0" indent="0" algn="ctr">
              <a:lnSpc>
                <a:spcPts val="886"/>
              </a:lnSpc>
              <a:buNone/>
            </a:pPr>
            <a:r>
              <a:rPr lang="en-US" sz="800" kern="0" spc="71" dirty="0">
                <a:solidFill>
                  <a:srgbClr val="6FA68A"/>
                </a:solidFill>
                <a:latin typeface="Carlito" pitchFamily="34" charset="0"/>
                <a:ea typeface="Carlito" pitchFamily="34" charset="-122"/>
                <a:cs typeface="Carlito" pitchFamily="34" charset="-120"/>
              </a:rPr>
              <a:t>FIG. 13 — DISTRIBUTION OF BREAKS OF SERVE PER MATCH</a:t>
            </a:r>
            <a:endParaRPr lang="en-US" sz="800" dirty="0"/>
          </a:p>
        </p:txBody>
      </p:sp>
      <p:sp>
        <p:nvSpPr>
          <p:cNvPr id="10" name="Text 7"/>
          <p:cNvSpPr/>
          <p:nvPr/>
        </p:nvSpPr>
        <p:spPr>
          <a:xfrm>
            <a:off x="5606393" y="778669"/>
            <a:ext cx="3137557" cy="462915"/>
          </a:xfrm>
          <a:prstGeom prst="rect">
            <a:avLst/>
          </a:prstGeom>
          <a:noFill/>
          <a:ln/>
        </p:spPr>
        <p:txBody>
          <a:bodyPr wrap="square" lIns="0" tIns="0" rIns="0" bIns="0" rtlCol="0" anchor="t"/>
          <a:lstStyle/>
          <a:p>
            <a:pPr marL="0" indent="0" algn="l">
              <a:lnSpc>
                <a:spcPts val="1688"/>
              </a:lnSpc>
              <a:buNone/>
            </a:pPr>
            <a:r>
              <a:rPr lang="en-US" sz="1406" kern="0" spc="-7" dirty="0">
                <a:solidFill>
                  <a:srgbClr val="F4F1DE"/>
                </a:solidFill>
                <a:latin typeface="Tinos" pitchFamily="34" charset="0"/>
                <a:ea typeface="Tinos" pitchFamily="34" charset="-122"/>
                <a:cs typeface="Tinos" pitchFamily="34" charset="-120"/>
              </a:rPr>
              <a:t>What Is the Average Number of Breaks of Serve per Match?</a:t>
            </a:r>
            <a:endParaRPr lang="en-US" sz="1406" dirty="0"/>
          </a:p>
        </p:txBody>
      </p:sp>
      <p:sp>
        <p:nvSpPr>
          <p:cNvPr id="11" name="Text 8"/>
          <p:cNvSpPr/>
          <p:nvPr/>
        </p:nvSpPr>
        <p:spPr>
          <a:xfrm>
            <a:off x="5606393" y="1307306"/>
            <a:ext cx="342900" cy="21431"/>
          </a:xfrm>
          <a:prstGeom prst="rect">
            <a:avLst/>
          </a:prstGeom>
          <a:solidFill>
            <a:srgbClr val="FFF100"/>
          </a:solidFill>
          <a:ln/>
        </p:spPr>
        <p:txBody>
          <a:bodyPr wrap="square" rtlCol="0" anchor="ctr"/>
          <a:lstStyle/>
          <a:p>
            <a:pPr marL="0" indent="0">
              <a:buNone/>
            </a:pPr>
            <a:endParaRPr lang="en-US" dirty="0"/>
          </a:p>
        </p:txBody>
      </p:sp>
      <p:sp>
        <p:nvSpPr>
          <p:cNvPr id="12" name="Text 9"/>
          <p:cNvSpPr/>
          <p:nvPr/>
        </p:nvSpPr>
        <p:spPr>
          <a:xfrm>
            <a:off x="5606393" y="1443037"/>
            <a:ext cx="3137557" cy="1106179"/>
          </a:xfrm>
          <a:prstGeom prst="rect">
            <a:avLst/>
          </a:prstGeom>
          <a:noFill/>
          <a:ln/>
        </p:spPr>
        <p:txBody>
          <a:bodyPr wrap="square" lIns="0" tIns="0" rIns="0" bIns="0" rtlCol="0" anchor="t">
            <a:normAutofit/>
          </a:bodyPr>
          <a:lstStyle/>
          <a:p>
            <a:pPr marL="0" indent="0" algn="l">
              <a:lnSpc>
                <a:spcPts val="1177"/>
              </a:lnSpc>
              <a:buNone/>
            </a:pPr>
            <a:r>
              <a:rPr lang="en-US" sz="900" dirty="0">
                <a:solidFill>
                  <a:srgbClr val="F4F1DE"/>
                </a:solidFill>
                <a:latin typeface="Candara" panose="020E0502030303020204" pitchFamily="34" charset="0"/>
                <a:ea typeface="Carlito" pitchFamily="34" charset="-122"/>
                <a:cs typeface="Carlito" pitchFamily="34" charset="-120"/>
              </a:rPr>
              <a:t>The mean number of breaks per match is </a:t>
            </a:r>
            <a:r>
              <a:rPr lang="en-US" sz="900" dirty="0">
                <a:solidFill>
                  <a:srgbClr val="FFF8B5"/>
                </a:solidFill>
                <a:latin typeface="Candara" panose="020E0502030303020204" pitchFamily="34" charset="0"/>
                <a:ea typeface="Liberation Sans Narrow" pitchFamily="34" charset="-122"/>
                <a:cs typeface="Liberation Sans Narrow" pitchFamily="34" charset="-120"/>
              </a:rPr>
              <a:t>7.01</a:t>
            </a:r>
            <a:r>
              <a:rPr lang="en-US" sz="900" dirty="0">
                <a:solidFill>
                  <a:srgbClr val="F4F1DE"/>
                </a:solidFill>
                <a:latin typeface="Candara" panose="020E0502030303020204" pitchFamily="34" charset="0"/>
                <a:ea typeface="Carlito" pitchFamily="34" charset="-122"/>
                <a:cs typeface="Carlito" pitchFamily="34" charset="-120"/>
              </a:rPr>
              <a:t> and the median is </a:t>
            </a:r>
            <a:r>
              <a:rPr lang="en-US" sz="900" dirty="0">
                <a:solidFill>
                  <a:srgbClr val="FFF8B5"/>
                </a:solidFill>
                <a:latin typeface="Candara" panose="020E0502030303020204" pitchFamily="34" charset="0"/>
                <a:ea typeface="Liberation Sans Narrow" pitchFamily="34" charset="-122"/>
                <a:cs typeface="Liberation Sans Narrow" pitchFamily="34" charset="-120"/>
              </a:rPr>
              <a:t>6</a:t>
            </a:r>
            <a:r>
              <a:rPr lang="en-US" sz="900" dirty="0">
                <a:solidFill>
                  <a:srgbClr val="F4F1DE"/>
                </a:solidFill>
                <a:latin typeface="Candara" panose="020E0502030303020204" pitchFamily="34" charset="0"/>
                <a:ea typeface="Carlito" pitchFamily="34" charset="-122"/>
                <a:cs typeface="Carlito" pitchFamily="34" charset="-120"/>
              </a:rPr>
              <a:t>. The narrow gap between mean and median indicates a relatively symmetrical distribution with a slight right skew. This right-hand tail is caused by 1.6% of data points in the outlier range — retained as genuine occurrences likely from long matches with poor serving quality or tight competition between two strong returners.</a:t>
            </a:r>
            <a:endParaRPr lang="en-US" sz="900" dirty="0">
              <a:latin typeface="Candara" panose="020E0502030303020204" pitchFamily="34" charset="0"/>
            </a:endParaRPr>
          </a:p>
        </p:txBody>
      </p:sp>
      <p:pic>
        <p:nvPicPr>
          <p:cNvPr id="13" name="Image 1" descr="preencoded.png"/>
          <p:cNvPicPr>
            <a:picLocks noChangeAspect="1"/>
          </p:cNvPicPr>
          <p:nvPr/>
        </p:nvPicPr>
        <p:blipFill>
          <a:blip r:embed="rId4"/>
          <a:stretch>
            <a:fillRect/>
          </a:stretch>
        </p:blipFill>
        <p:spPr>
          <a:xfrm>
            <a:off x="5606393" y="2911762"/>
            <a:ext cx="3137557" cy="581434"/>
          </a:xfrm>
          <a:prstGeom prst="rect">
            <a:avLst/>
          </a:prstGeom>
        </p:spPr>
      </p:pic>
      <p:sp>
        <p:nvSpPr>
          <p:cNvPr id="14" name="Shape 10"/>
          <p:cNvSpPr/>
          <p:nvPr/>
        </p:nvSpPr>
        <p:spPr>
          <a:xfrm>
            <a:off x="5617108" y="2911762"/>
            <a:ext cx="0" cy="581434"/>
          </a:xfrm>
          <a:prstGeom prst="line">
            <a:avLst/>
          </a:prstGeom>
          <a:noFill/>
          <a:ln w="21431">
            <a:solidFill>
              <a:srgbClr val="FFF100"/>
            </a:solidFill>
            <a:prstDash val="solid"/>
          </a:ln>
        </p:spPr>
      </p:sp>
      <p:sp>
        <p:nvSpPr>
          <p:cNvPr id="15" name="Text 11"/>
          <p:cNvSpPr/>
          <p:nvPr/>
        </p:nvSpPr>
        <p:spPr>
          <a:xfrm>
            <a:off x="5727836" y="2968912"/>
            <a:ext cx="3016114" cy="329756"/>
          </a:xfrm>
          <a:prstGeom prst="rect">
            <a:avLst/>
          </a:prstGeom>
          <a:noFill/>
          <a:ln/>
        </p:spPr>
        <p:txBody>
          <a:bodyPr wrap="none" lIns="0" tIns="0" rIns="0" bIns="0" rtlCol="0" anchor="t">
            <a:normAutofit/>
          </a:bodyPr>
          <a:lstStyle/>
          <a:p>
            <a:pPr marL="0" indent="0" algn="l">
              <a:lnSpc>
                <a:spcPts val="2475"/>
              </a:lnSpc>
              <a:buNone/>
            </a:pPr>
            <a:r>
              <a:rPr lang="en-US" sz="2475" b="1" kern="0" spc="-25" dirty="0">
                <a:solidFill>
                  <a:srgbClr val="FFF100"/>
                </a:solidFill>
                <a:latin typeface="Liberation Sans Narrow" pitchFamily="34" charset="0"/>
                <a:ea typeface="Liberation Sans Narrow" pitchFamily="34" charset="-122"/>
                <a:cs typeface="Liberation Sans Narrow" pitchFamily="34" charset="-120"/>
              </a:rPr>
              <a:t>7.01</a:t>
            </a:r>
            <a:endParaRPr lang="en-US" sz="2475" dirty="0"/>
          </a:p>
        </p:txBody>
      </p:sp>
      <p:sp>
        <p:nvSpPr>
          <p:cNvPr id="16" name="Text 12"/>
          <p:cNvSpPr/>
          <p:nvPr/>
        </p:nvSpPr>
        <p:spPr>
          <a:xfrm>
            <a:off x="5727836" y="3326099"/>
            <a:ext cx="3125842" cy="109947"/>
          </a:xfrm>
          <a:prstGeom prst="rect">
            <a:avLst/>
          </a:prstGeom>
          <a:noFill/>
          <a:ln/>
        </p:spPr>
        <p:txBody>
          <a:bodyPr wrap="square" lIns="0" tIns="0" rIns="0" bIns="0" rtlCol="0" anchor="t"/>
          <a:lstStyle/>
          <a:p>
            <a:pPr marL="0" indent="0" algn="l">
              <a:lnSpc>
                <a:spcPts val="866"/>
              </a:lnSpc>
              <a:buNone/>
            </a:pPr>
            <a:r>
              <a:rPr lang="en-US" sz="800" kern="0" spc="37" dirty="0">
                <a:solidFill>
                  <a:srgbClr val="95D5B2"/>
                </a:solidFill>
                <a:latin typeface="Liberation Sans Narrow" pitchFamily="34" charset="0"/>
                <a:ea typeface="Liberation Sans Narrow" pitchFamily="34" charset="-122"/>
                <a:cs typeface="Liberation Sans Narrow" pitchFamily="34" charset="-120"/>
              </a:rPr>
              <a:t>Mean breaks per match · Median: 6</a:t>
            </a:r>
            <a:endParaRPr lang="en-US" sz="800" dirty="0"/>
          </a:p>
        </p:txBody>
      </p:sp>
      <p:sp>
        <p:nvSpPr>
          <p:cNvPr id="17" name="Shape 13"/>
          <p:cNvSpPr/>
          <p:nvPr/>
        </p:nvSpPr>
        <p:spPr>
          <a:xfrm>
            <a:off x="5606393" y="4300538"/>
            <a:ext cx="3137557" cy="0"/>
          </a:xfrm>
          <a:prstGeom prst="line">
            <a:avLst/>
          </a:prstGeom>
          <a:noFill/>
          <a:ln w="7144">
            <a:solidFill>
              <a:srgbClr val="FFF100"/>
            </a:solidFill>
            <a:prstDash val="dash"/>
          </a:ln>
        </p:spPr>
      </p:sp>
      <p:sp>
        <p:nvSpPr>
          <p:cNvPr id="19" name="Text 15"/>
          <p:cNvSpPr/>
          <p:nvPr/>
        </p:nvSpPr>
        <p:spPr>
          <a:xfrm>
            <a:off x="5763555" y="4389834"/>
            <a:ext cx="2980395" cy="353616"/>
          </a:xfrm>
          <a:prstGeom prst="rect">
            <a:avLst/>
          </a:prstGeom>
          <a:noFill/>
          <a:ln/>
        </p:spPr>
        <p:txBody>
          <a:bodyPr wrap="square" lIns="0" tIns="0" rIns="0" bIns="0" rtlCol="0" anchor="t"/>
          <a:lstStyle/>
          <a:p>
            <a:pPr marL="0" indent="0" algn="l">
              <a:lnSpc>
                <a:spcPts val="92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1.6% outliers retained as genuine. 36 matches with only 1-2 games were validated against score data and confirmed as short matches, not incomplete data — so they were not excluded.</a:t>
            </a:r>
            <a:endParaRPr lang="en-US" sz="800" dirty="0">
              <a:latin typeface="Dubai Light" panose="020B0303030403030204" pitchFamily="34" charset="-78"/>
              <a:cs typeface="Dubai Light" panose="020B0303030403030204" pitchFamily="34" charset="-78"/>
            </a:endParaRPr>
          </a:p>
        </p:txBody>
      </p:sp>
      <p:sp>
        <p:nvSpPr>
          <p:cNvPr id="20" name="Text 16"/>
          <p:cNvSpPr/>
          <p:nvPr/>
        </p:nvSpPr>
        <p:spPr>
          <a:xfrm>
            <a:off x="1342020" y="4957539"/>
            <a:ext cx="35719" cy="35719"/>
          </a:xfrm>
          <a:prstGeom prst="roundRect">
            <a:avLst>
              <a:gd name="adj" fmla="val 66666"/>
            </a:avLst>
          </a:prstGeom>
          <a:solidFill>
            <a:srgbClr val="FFF100"/>
          </a:solidFill>
          <a:ln/>
        </p:spPr>
        <p:txBody>
          <a:bodyPr wrap="square" rtlCol="0" anchor="ctr"/>
          <a:lstStyle/>
          <a:p>
            <a:pPr marL="0" indent="0">
              <a:buNone/>
            </a:pPr>
            <a:endParaRPr lang="en-US" dirty="0"/>
          </a:p>
        </p:txBody>
      </p:sp>
      <p:sp>
        <p:nvSpPr>
          <p:cNvPr id="21" name="Text 17"/>
          <p:cNvSpPr/>
          <p:nvPr/>
        </p:nvSpPr>
        <p:spPr>
          <a:xfrm>
            <a:off x="333767" y="4910962"/>
            <a:ext cx="8005688" cy="164592"/>
          </a:xfrm>
          <a:prstGeom prst="rect">
            <a:avLst/>
          </a:prstGeom>
          <a:noFill/>
          <a:ln/>
        </p:spPr>
        <p:txBody>
          <a:bodyPr wrap="square" lIns="0" tIns="0" rIns="0" bIns="0" rtlCol="0" anchor="t"/>
          <a:lstStyle/>
          <a:p>
            <a:pPr marL="0" indent="0" algn="l">
              <a:lnSpc>
                <a:spcPts val="886"/>
              </a:lnSpc>
              <a:buNone/>
            </a:pPr>
            <a:r>
              <a:rPr lang="en-US" sz="800" kern="0" spc="106" dirty="0">
                <a:solidFill>
                  <a:srgbClr val="6FA68A"/>
                </a:solidFill>
                <a:latin typeface="Carlito" pitchFamily="34" charset="0"/>
                <a:ea typeface="Carlito" pitchFamily="34" charset="-122"/>
                <a:cs typeface="Carlito" pitchFamily="34" charset="-120"/>
              </a:rPr>
              <a:t>KEYVAN HAJIZADE    MATCH STATISTICS &amp; PERFORMANCE</a:t>
            </a:r>
            <a:endParaRPr lang="en-US" sz="800" dirty="0"/>
          </a:p>
        </p:txBody>
      </p:sp>
      <p:sp>
        <p:nvSpPr>
          <p:cNvPr id="22" name="Text 18"/>
          <p:cNvSpPr/>
          <p:nvPr/>
        </p:nvSpPr>
        <p:spPr>
          <a:xfrm>
            <a:off x="8420026" y="4916686"/>
            <a:ext cx="483584" cy="164592"/>
          </a:xfrm>
          <a:prstGeom prst="rect">
            <a:avLst/>
          </a:prstGeom>
          <a:noFill/>
          <a:ln/>
        </p:spPr>
        <p:txBody>
          <a:bodyPr wrap="none" lIns="0" tIns="0" rIns="0" bIns="0" rtlCol="0" anchor="t"/>
          <a:lstStyle/>
          <a:p>
            <a:pPr marL="0" indent="0" algn="l">
              <a:lnSpc>
                <a:spcPts val="886"/>
              </a:lnSpc>
              <a:buNone/>
            </a:pPr>
            <a:r>
              <a:rPr lang="en-US" sz="800" kern="0" spc="106" dirty="0">
                <a:solidFill>
                  <a:srgbClr val="95D5B2"/>
                </a:solidFill>
                <a:latin typeface="Liberation Sans Narrow" pitchFamily="34" charset="0"/>
                <a:ea typeface="Liberation Sans Narrow" pitchFamily="34" charset="-122"/>
                <a:cs typeface="Liberation Sans Narrow" pitchFamily="34" charset="-120"/>
              </a:rPr>
              <a:t>16 / 30</a:t>
            </a:r>
            <a:endParaRPr lang="en-US" sz="800" dirty="0"/>
          </a:p>
        </p:txBody>
      </p:sp>
      <p:sp>
        <p:nvSpPr>
          <p:cNvPr id="24" name="Text 4">
            <a:extLst>
              <a:ext uri="{FF2B5EF4-FFF2-40B4-BE49-F238E27FC236}">
                <a16:creationId xmlns:a16="http://schemas.microsoft.com/office/drawing/2014/main" id="{EDE30F3A-71AF-35EA-605B-D7C906770997}"/>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SECTION 02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400050" y="617934"/>
            <a:ext cx="8343900" cy="0"/>
          </a:xfrm>
          <a:prstGeom prst="line">
            <a:avLst/>
          </a:prstGeom>
          <a:noFill/>
          <a:ln w="7144">
            <a:solidFill>
              <a:srgbClr val="FFF100"/>
            </a:solidFill>
            <a:prstDash val="solid"/>
          </a:ln>
        </p:spPr>
      </p:sp>
      <p:sp>
        <p:nvSpPr>
          <p:cNvPr id="3" name="Text 1"/>
          <p:cNvSpPr/>
          <p:nvPr/>
        </p:nvSpPr>
        <p:spPr>
          <a:xfrm>
            <a:off x="400050" y="257175"/>
            <a:ext cx="502920" cy="257175"/>
          </a:xfrm>
          <a:prstGeom prst="rect">
            <a:avLst/>
          </a:prstGeom>
          <a:noFill/>
          <a:ln/>
        </p:spPr>
        <p:txBody>
          <a:bodyPr wrap="none" lIns="0" tIns="0" rIns="0" bIns="0" rtlCol="0" anchor="t"/>
          <a:lstStyle/>
          <a:p>
            <a:pPr marL="0" indent="0" algn="l">
              <a:lnSpc>
                <a:spcPts val="2025"/>
              </a:lnSpc>
              <a:buNone/>
            </a:pPr>
            <a:r>
              <a:rPr lang="en-US" sz="1350" b="1" i="1" dirty="0">
                <a:solidFill>
                  <a:srgbClr val="FFF100"/>
                </a:solidFill>
                <a:latin typeface="Liberation Sans Narrow" pitchFamily="34" charset="0"/>
                <a:ea typeface="Liberation Sans Narrow" pitchFamily="34" charset="-122"/>
                <a:cs typeface="Liberation Sans Narrow" pitchFamily="34" charset="-120"/>
              </a:rPr>
              <a:t>OP1</a:t>
            </a:r>
            <a:endParaRPr lang="en-US" sz="1350" dirty="0"/>
          </a:p>
        </p:txBody>
      </p:sp>
      <p:sp>
        <p:nvSpPr>
          <p:cNvPr id="9" name="Text 7"/>
          <p:cNvSpPr/>
          <p:nvPr/>
        </p:nvSpPr>
        <p:spPr>
          <a:xfrm>
            <a:off x="400050" y="778669"/>
            <a:ext cx="5006318" cy="3964781"/>
          </a:xfrm>
          <a:prstGeom prst="roundRect">
            <a:avLst>
              <a:gd name="adj" fmla="val 1922"/>
            </a:avLst>
          </a:prstGeom>
          <a:solidFill>
            <a:srgbClr val="FFFFFF"/>
          </a:solidFill>
          <a:ln/>
          <a:effectLst>
            <a:outerShdw blurRad="342900" dist="114300" dir="5400000" algn="bl" rotWithShape="0">
              <a:srgbClr val="000000">
                <a:alpha val="30000"/>
              </a:srgbClr>
            </a:outerShdw>
          </a:effectLst>
        </p:spPr>
        <p:txBody>
          <a:bodyPr wrap="square" rtlCol="0" anchor="ctr"/>
          <a:lstStyle/>
          <a:p>
            <a:pPr marL="0" indent="0">
              <a:buNone/>
            </a:pPr>
            <a:endParaRPr lang="en-US" dirty="0"/>
          </a:p>
        </p:txBody>
      </p:sp>
      <p:pic>
        <p:nvPicPr>
          <p:cNvPr id="10" name="Image 0" descr="/tmp/h2p-fit-1789550282461-q6h4kn.png"/>
          <p:cNvPicPr>
            <a:picLocks noChangeAspect="1"/>
          </p:cNvPicPr>
          <p:nvPr/>
        </p:nvPicPr>
        <p:blipFill>
          <a:blip r:embed="rId3"/>
          <a:stretch>
            <a:fillRect/>
          </a:stretch>
        </p:blipFill>
        <p:spPr>
          <a:xfrm>
            <a:off x="528638" y="1307641"/>
            <a:ext cx="4749143" cy="2722773"/>
          </a:xfrm>
          <a:prstGeom prst="rect">
            <a:avLst/>
          </a:prstGeom>
        </p:spPr>
      </p:pic>
      <p:sp>
        <p:nvSpPr>
          <p:cNvPr id="11" name="Text 8"/>
          <p:cNvSpPr/>
          <p:nvPr/>
        </p:nvSpPr>
        <p:spPr>
          <a:xfrm>
            <a:off x="528638" y="4502348"/>
            <a:ext cx="4858871" cy="112514"/>
          </a:xfrm>
          <a:prstGeom prst="rect">
            <a:avLst/>
          </a:prstGeom>
          <a:noFill/>
          <a:ln/>
        </p:spPr>
        <p:txBody>
          <a:bodyPr wrap="square" lIns="0" tIns="0" rIns="0" bIns="0" rtlCol="0" anchor="t"/>
          <a:lstStyle/>
          <a:p>
            <a:pPr marL="0" indent="0" algn="ctr">
              <a:lnSpc>
                <a:spcPts val="886"/>
              </a:lnSpc>
              <a:buNone/>
            </a:pPr>
            <a:r>
              <a:rPr lang="en-US" sz="800" kern="0" spc="71" dirty="0">
                <a:solidFill>
                  <a:srgbClr val="6FA68A"/>
                </a:solidFill>
                <a:latin typeface="Carlito" pitchFamily="34" charset="0"/>
                <a:ea typeface="Carlito" pitchFamily="34" charset="-122"/>
                <a:cs typeface="Carlito" pitchFamily="34" charset="-120"/>
              </a:rPr>
              <a:t>FIG. 14 — ACES PER MATCH: WINNER VS LOSER</a:t>
            </a:r>
            <a:endParaRPr lang="en-US" sz="800" dirty="0"/>
          </a:p>
        </p:txBody>
      </p:sp>
      <p:sp>
        <p:nvSpPr>
          <p:cNvPr id="12" name="Text 9"/>
          <p:cNvSpPr/>
          <p:nvPr/>
        </p:nvSpPr>
        <p:spPr>
          <a:xfrm>
            <a:off x="5606393" y="778669"/>
            <a:ext cx="3451313" cy="462915"/>
          </a:xfrm>
          <a:prstGeom prst="rect">
            <a:avLst/>
          </a:prstGeom>
          <a:noFill/>
          <a:ln/>
        </p:spPr>
        <p:txBody>
          <a:bodyPr wrap="square" lIns="0" tIns="0" rIns="0" bIns="0" rtlCol="0" anchor="t"/>
          <a:lstStyle/>
          <a:p>
            <a:pPr marL="0" indent="0" algn="l">
              <a:lnSpc>
                <a:spcPts val="1688"/>
              </a:lnSpc>
              <a:buNone/>
            </a:pPr>
            <a:r>
              <a:rPr lang="en-US" sz="1406" kern="0" spc="-7" dirty="0">
                <a:solidFill>
                  <a:srgbClr val="F4F1DE"/>
                </a:solidFill>
                <a:latin typeface="Tinos" pitchFamily="34" charset="0"/>
                <a:ea typeface="Tinos" pitchFamily="34" charset="-122"/>
                <a:cs typeface="Tinos" pitchFamily="34" charset="-120"/>
              </a:rPr>
              <a:t>Does the Winner Usually Play More Aces?</a:t>
            </a:r>
            <a:endParaRPr lang="en-US" sz="1406" dirty="0"/>
          </a:p>
        </p:txBody>
      </p:sp>
      <p:sp>
        <p:nvSpPr>
          <p:cNvPr id="13" name="Text 10"/>
          <p:cNvSpPr/>
          <p:nvPr/>
        </p:nvSpPr>
        <p:spPr>
          <a:xfrm>
            <a:off x="5606393" y="1293019"/>
            <a:ext cx="342900" cy="21431"/>
          </a:xfrm>
          <a:prstGeom prst="rect">
            <a:avLst/>
          </a:prstGeom>
          <a:solidFill>
            <a:srgbClr val="FFF100"/>
          </a:solidFill>
          <a:ln/>
        </p:spPr>
        <p:txBody>
          <a:bodyPr wrap="square" rtlCol="0" anchor="ctr"/>
          <a:lstStyle/>
          <a:p>
            <a:pPr marL="0" indent="0">
              <a:buNone/>
            </a:pPr>
            <a:endParaRPr lang="en-US" dirty="0"/>
          </a:p>
        </p:txBody>
      </p:sp>
      <p:sp>
        <p:nvSpPr>
          <p:cNvPr id="14" name="Text 11"/>
          <p:cNvSpPr/>
          <p:nvPr/>
        </p:nvSpPr>
        <p:spPr>
          <a:xfrm>
            <a:off x="5606393" y="1414463"/>
            <a:ext cx="3137557" cy="991865"/>
          </a:xfrm>
          <a:prstGeom prst="rect">
            <a:avLst/>
          </a:prstGeom>
          <a:noFill/>
          <a:ln/>
        </p:spPr>
        <p:txBody>
          <a:bodyPr wrap="square" lIns="0" tIns="0" rIns="0" bIns="0" rtlCol="0" anchor="t">
            <a:normAutofit fontScale="92500"/>
          </a:bodyPr>
          <a:lstStyle/>
          <a:p>
            <a:pPr marL="0" indent="0" algn="l">
              <a:lnSpc>
                <a:spcPts val="1133"/>
              </a:lnSpc>
              <a:buNone/>
            </a:pPr>
            <a:r>
              <a:rPr lang="en-US" sz="1000" dirty="0">
                <a:solidFill>
                  <a:srgbClr val="F4F1DE"/>
                </a:solidFill>
                <a:latin typeface="Candara" panose="020E0502030303020204" pitchFamily="34" charset="0"/>
                <a:ea typeface="Carlito" pitchFamily="34" charset="-122"/>
                <a:cs typeface="Carlito" pitchFamily="34" charset="-120"/>
              </a:rPr>
              <a:t>Winners average </a:t>
            </a:r>
            <a:r>
              <a:rPr lang="en-US" sz="1000" dirty="0">
                <a:solidFill>
                  <a:srgbClr val="FFF8B5"/>
                </a:solidFill>
                <a:latin typeface="Candara" panose="020E0502030303020204" pitchFamily="34" charset="0"/>
                <a:ea typeface="Liberation Sans Narrow" pitchFamily="34" charset="-122"/>
                <a:cs typeface="Liberation Sans Narrow" pitchFamily="34" charset="-120"/>
              </a:rPr>
              <a:t>3.16 aces</a:t>
            </a:r>
            <a:r>
              <a:rPr lang="en-US" sz="1000" dirty="0">
                <a:solidFill>
                  <a:srgbClr val="F4F1DE"/>
                </a:solidFill>
                <a:latin typeface="Candara" panose="020E0502030303020204" pitchFamily="34" charset="0"/>
                <a:ea typeface="Liberation Sans Narrow" pitchFamily="34" charset="-122"/>
                <a:cs typeface="Liberation Sans Narrow" pitchFamily="34" charset="-120"/>
              </a:rPr>
              <a:t> — approximately 45% higher than the </a:t>
            </a:r>
            <a:r>
              <a:rPr lang="en-US" sz="1000" dirty="0">
                <a:solidFill>
                  <a:srgbClr val="FFF8B5"/>
                </a:solidFill>
                <a:latin typeface="Candara" panose="020E0502030303020204" pitchFamily="34" charset="0"/>
                <a:ea typeface="Liberation Sans Narrow" pitchFamily="34" charset="-122"/>
                <a:cs typeface="Liberation Sans Narrow" pitchFamily="34" charset="-120"/>
              </a:rPr>
              <a:t>2.18</a:t>
            </a:r>
            <a:r>
              <a:rPr lang="en-US" sz="1000" dirty="0">
                <a:solidFill>
                  <a:srgbClr val="F4F1DE"/>
                </a:solidFill>
                <a:latin typeface="Candara" panose="020E0502030303020204" pitchFamily="34" charset="0"/>
                <a:ea typeface="Carlito" pitchFamily="34" charset="-122"/>
                <a:cs typeface="Carlito" pitchFamily="34" charset="-120"/>
              </a:rPr>
              <a:t> average for losers. However, this pattern does not hold in every match: winners recorded more aces in only </a:t>
            </a:r>
            <a:r>
              <a:rPr lang="en-US" sz="1000" dirty="0">
                <a:solidFill>
                  <a:srgbClr val="FFF8B5"/>
                </a:solidFill>
                <a:latin typeface="Candara" panose="020E0502030303020204" pitchFamily="34" charset="0"/>
                <a:ea typeface="Liberation Sans Narrow" pitchFamily="34" charset="-122"/>
                <a:cs typeface="Liberation Sans Narrow" pitchFamily="34" charset="-120"/>
              </a:rPr>
              <a:t>49.9%</a:t>
            </a:r>
            <a:r>
              <a:rPr lang="en-US" sz="1000" dirty="0">
                <a:solidFill>
                  <a:srgbClr val="F4F1DE"/>
                </a:solidFill>
                <a:latin typeface="Candara" panose="020E0502030303020204" pitchFamily="34" charset="0"/>
                <a:ea typeface="Carlito" pitchFamily="34" charset="-122"/>
                <a:cs typeface="Carlito" pitchFamily="34" charset="-120"/>
              </a:rPr>
              <a:t> of matches, while ace counts were tied in 23%. In the remaining 27%, the loser actually hit more aces but still lost. Aces alone are not a definitive predictor of outcome — it's a general statistical advantage, not an absolute rule.</a:t>
            </a:r>
            <a:endParaRPr lang="en-US" sz="1000" dirty="0">
              <a:latin typeface="Candara" panose="020E0502030303020204" pitchFamily="34" charset="0"/>
            </a:endParaRPr>
          </a:p>
        </p:txBody>
      </p:sp>
      <p:pic>
        <p:nvPicPr>
          <p:cNvPr id="15" name="Image 1" descr="preencoded.png"/>
          <p:cNvPicPr>
            <a:picLocks noChangeAspect="1"/>
          </p:cNvPicPr>
          <p:nvPr/>
        </p:nvPicPr>
        <p:blipFill>
          <a:blip r:embed="rId4"/>
          <a:stretch>
            <a:fillRect/>
          </a:stretch>
        </p:blipFill>
        <p:spPr>
          <a:xfrm>
            <a:off x="5606393" y="2887032"/>
            <a:ext cx="998227" cy="535781"/>
          </a:xfrm>
          <a:prstGeom prst="rect">
            <a:avLst/>
          </a:prstGeom>
        </p:spPr>
      </p:pic>
      <p:sp>
        <p:nvSpPr>
          <p:cNvPr id="16" name="Shape 12"/>
          <p:cNvSpPr/>
          <p:nvPr/>
        </p:nvSpPr>
        <p:spPr>
          <a:xfrm>
            <a:off x="5617108" y="2887032"/>
            <a:ext cx="0" cy="535781"/>
          </a:xfrm>
          <a:prstGeom prst="line">
            <a:avLst/>
          </a:prstGeom>
          <a:noFill/>
          <a:ln w="21431">
            <a:solidFill>
              <a:srgbClr val="FFF100"/>
            </a:solidFill>
            <a:prstDash val="solid"/>
          </a:ln>
        </p:spPr>
      </p:sp>
      <p:sp>
        <p:nvSpPr>
          <p:cNvPr id="17" name="Text 13"/>
          <p:cNvSpPr/>
          <p:nvPr/>
        </p:nvSpPr>
        <p:spPr>
          <a:xfrm>
            <a:off x="5699261" y="2929895"/>
            <a:ext cx="905359" cy="222599"/>
          </a:xfrm>
          <a:prstGeom prst="rect">
            <a:avLst/>
          </a:prstGeom>
          <a:noFill/>
          <a:ln/>
        </p:spPr>
        <p:txBody>
          <a:bodyPr wrap="none" lIns="0" tIns="0" rIns="0" bIns="0" rtlCol="0" anchor="t">
            <a:normAutofit/>
          </a:bodyPr>
          <a:lstStyle/>
          <a:p>
            <a:pPr marL="0" indent="0" algn="l">
              <a:lnSpc>
                <a:spcPts val="1688"/>
              </a:lnSpc>
              <a:buNone/>
            </a:pPr>
            <a:r>
              <a:rPr lang="en-US" sz="1688" b="1" kern="0" spc="-17" dirty="0">
                <a:solidFill>
                  <a:srgbClr val="FFF100"/>
                </a:solidFill>
                <a:latin typeface="Liberation Sans Narrow" pitchFamily="34" charset="0"/>
                <a:ea typeface="Liberation Sans Narrow" pitchFamily="34" charset="-122"/>
                <a:cs typeface="Liberation Sans Narrow" pitchFamily="34" charset="-120"/>
              </a:rPr>
              <a:t>3.16</a:t>
            </a:r>
            <a:endParaRPr lang="en-US" sz="1688" dirty="0"/>
          </a:p>
        </p:txBody>
      </p:sp>
      <p:sp>
        <p:nvSpPr>
          <p:cNvPr id="18" name="Text 14"/>
          <p:cNvSpPr/>
          <p:nvPr/>
        </p:nvSpPr>
        <p:spPr>
          <a:xfrm>
            <a:off x="5699261" y="3179926"/>
            <a:ext cx="905359" cy="153619"/>
          </a:xfrm>
          <a:prstGeom prst="rect">
            <a:avLst/>
          </a:prstGeom>
          <a:noFill/>
          <a:ln/>
        </p:spPr>
        <p:txBody>
          <a:bodyPr wrap="none" lIns="0" tIns="0" rIns="0" bIns="0" rtlCol="0" anchor="t"/>
          <a:lstStyle/>
          <a:p>
            <a:pPr marL="0" indent="0" algn="l">
              <a:lnSpc>
                <a:spcPts val="788"/>
              </a:lnSpc>
              <a:buNone/>
            </a:pPr>
            <a:r>
              <a:rPr lang="en-US" sz="600" kern="0" spc="23" dirty="0">
                <a:solidFill>
                  <a:srgbClr val="95D5B2"/>
                </a:solidFill>
                <a:latin typeface="Carlito" pitchFamily="34" charset="0"/>
                <a:ea typeface="Carlito" pitchFamily="34" charset="-122"/>
                <a:cs typeface="Carlito" pitchFamily="34" charset="-120"/>
              </a:rPr>
              <a:t>Winners · avg aces</a:t>
            </a:r>
            <a:endParaRPr lang="en-US" sz="600" dirty="0"/>
          </a:p>
        </p:txBody>
      </p:sp>
      <p:pic>
        <p:nvPicPr>
          <p:cNvPr id="19" name="Image 2" descr="preencoded.png"/>
          <p:cNvPicPr>
            <a:picLocks noChangeAspect="1"/>
          </p:cNvPicPr>
          <p:nvPr/>
        </p:nvPicPr>
        <p:blipFill>
          <a:blip r:embed="rId4"/>
          <a:stretch>
            <a:fillRect/>
          </a:stretch>
        </p:blipFill>
        <p:spPr>
          <a:xfrm>
            <a:off x="6676058" y="2887032"/>
            <a:ext cx="998227" cy="535781"/>
          </a:xfrm>
          <a:prstGeom prst="rect">
            <a:avLst/>
          </a:prstGeom>
        </p:spPr>
      </p:pic>
      <p:sp>
        <p:nvSpPr>
          <p:cNvPr id="20" name="Shape 15"/>
          <p:cNvSpPr/>
          <p:nvPr/>
        </p:nvSpPr>
        <p:spPr>
          <a:xfrm>
            <a:off x="6686773" y="2887032"/>
            <a:ext cx="0" cy="535781"/>
          </a:xfrm>
          <a:prstGeom prst="line">
            <a:avLst/>
          </a:prstGeom>
          <a:noFill/>
          <a:ln w="21431">
            <a:solidFill>
              <a:srgbClr val="FFF100"/>
            </a:solidFill>
            <a:prstDash val="solid"/>
          </a:ln>
        </p:spPr>
      </p:sp>
      <p:sp>
        <p:nvSpPr>
          <p:cNvPr id="21" name="Text 16"/>
          <p:cNvSpPr/>
          <p:nvPr/>
        </p:nvSpPr>
        <p:spPr>
          <a:xfrm>
            <a:off x="6768926" y="2929895"/>
            <a:ext cx="905359" cy="222599"/>
          </a:xfrm>
          <a:prstGeom prst="rect">
            <a:avLst/>
          </a:prstGeom>
          <a:noFill/>
          <a:ln/>
        </p:spPr>
        <p:txBody>
          <a:bodyPr wrap="none" lIns="0" tIns="0" rIns="0" bIns="0" rtlCol="0" anchor="t">
            <a:normAutofit/>
          </a:bodyPr>
          <a:lstStyle/>
          <a:p>
            <a:pPr marL="0" indent="0" algn="l">
              <a:lnSpc>
                <a:spcPts val="1688"/>
              </a:lnSpc>
              <a:buNone/>
            </a:pPr>
            <a:r>
              <a:rPr lang="en-US" sz="1688" b="1" kern="0" spc="-17" dirty="0">
                <a:solidFill>
                  <a:srgbClr val="FFF100"/>
                </a:solidFill>
                <a:latin typeface="Liberation Sans Narrow" pitchFamily="34" charset="0"/>
                <a:ea typeface="Liberation Sans Narrow" pitchFamily="34" charset="-122"/>
                <a:cs typeface="Liberation Sans Narrow" pitchFamily="34" charset="-120"/>
              </a:rPr>
              <a:t>2.18</a:t>
            </a:r>
            <a:endParaRPr lang="en-US" sz="1688" dirty="0"/>
          </a:p>
        </p:txBody>
      </p:sp>
      <p:sp>
        <p:nvSpPr>
          <p:cNvPr id="22" name="Text 17"/>
          <p:cNvSpPr/>
          <p:nvPr/>
        </p:nvSpPr>
        <p:spPr>
          <a:xfrm>
            <a:off x="6768926" y="3179926"/>
            <a:ext cx="905359" cy="153619"/>
          </a:xfrm>
          <a:prstGeom prst="rect">
            <a:avLst/>
          </a:prstGeom>
          <a:noFill/>
          <a:ln/>
        </p:spPr>
        <p:txBody>
          <a:bodyPr wrap="none" lIns="0" tIns="0" rIns="0" bIns="0" rtlCol="0" anchor="t"/>
          <a:lstStyle/>
          <a:p>
            <a:pPr marL="0" indent="0" algn="l">
              <a:lnSpc>
                <a:spcPts val="788"/>
              </a:lnSpc>
              <a:buNone/>
            </a:pPr>
            <a:r>
              <a:rPr lang="en-US" sz="600" kern="0" spc="23" dirty="0">
                <a:solidFill>
                  <a:srgbClr val="95D5B2"/>
                </a:solidFill>
                <a:latin typeface="Carlito" pitchFamily="34" charset="0"/>
                <a:ea typeface="Carlito" pitchFamily="34" charset="-122"/>
                <a:cs typeface="Carlito" pitchFamily="34" charset="-120"/>
              </a:rPr>
              <a:t>Losers · avg aces</a:t>
            </a:r>
            <a:endParaRPr lang="en-US" sz="600" dirty="0"/>
          </a:p>
        </p:txBody>
      </p:sp>
      <p:pic>
        <p:nvPicPr>
          <p:cNvPr id="23" name="Image 3" descr="preencoded.png"/>
          <p:cNvPicPr>
            <a:picLocks noChangeAspect="1"/>
          </p:cNvPicPr>
          <p:nvPr/>
        </p:nvPicPr>
        <p:blipFill>
          <a:blip r:embed="rId4"/>
          <a:stretch>
            <a:fillRect/>
          </a:stretch>
        </p:blipFill>
        <p:spPr>
          <a:xfrm>
            <a:off x="7745723" y="2887032"/>
            <a:ext cx="998227" cy="535781"/>
          </a:xfrm>
          <a:prstGeom prst="rect">
            <a:avLst/>
          </a:prstGeom>
        </p:spPr>
      </p:pic>
      <p:sp>
        <p:nvSpPr>
          <p:cNvPr id="24" name="Shape 18"/>
          <p:cNvSpPr/>
          <p:nvPr/>
        </p:nvSpPr>
        <p:spPr>
          <a:xfrm>
            <a:off x="7756438" y="2887032"/>
            <a:ext cx="0" cy="535781"/>
          </a:xfrm>
          <a:prstGeom prst="line">
            <a:avLst/>
          </a:prstGeom>
          <a:noFill/>
          <a:ln w="21431">
            <a:solidFill>
              <a:srgbClr val="FFF100"/>
            </a:solidFill>
            <a:prstDash val="solid"/>
          </a:ln>
        </p:spPr>
      </p:sp>
      <p:sp>
        <p:nvSpPr>
          <p:cNvPr id="25" name="Text 19"/>
          <p:cNvSpPr/>
          <p:nvPr/>
        </p:nvSpPr>
        <p:spPr>
          <a:xfrm>
            <a:off x="7838591" y="2929895"/>
            <a:ext cx="905359" cy="222599"/>
          </a:xfrm>
          <a:prstGeom prst="rect">
            <a:avLst/>
          </a:prstGeom>
          <a:noFill/>
          <a:ln/>
        </p:spPr>
        <p:txBody>
          <a:bodyPr wrap="none" lIns="0" tIns="0" rIns="0" bIns="0" rtlCol="0" anchor="t">
            <a:normAutofit/>
          </a:bodyPr>
          <a:lstStyle/>
          <a:p>
            <a:pPr marL="0" indent="0" algn="l">
              <a:lnSpc>
                <a:spcPts val="1688"/>
              </a:lnSpc>
              <a:buNone/>
            </a:pPr>
            <a:r>
              <a:rPr lang="en-US" sz="1688" b="1" kern="0" spc="-17" dirty="0">
                <a:solidFill>
                  <a:srgbClr val="FFF100"/>
                </a:solidFill>
                <a:latin typeface="Liberation Sans Narrow" pitchFamily="34" charset="0"/>
                <a:ea typeface="Liberation Sans Narrow" pitchFamily="34" charset="-122"/>
                <a:cs typeface="Liberation Sans Narrow" pitchFamily="34" charset="-120"/>
              </a:rPr>
              <a:t>49.9%</a:t>
            </a:r>
            <a:endParaRPr lang="en-US" sz="1688" dirty="0"/>
          </a:p>
        </p:txBody>
      </p:sp>
      <p:sp>
        <p:nvSpPr>
          <p:cNvPr id="26" name="Text 20"/>
          <p:cNvSpPr/>
          <p:nvPr/>
        </p:nvSpPr>
        <p:spPr>
          <a:xfrm>
            <a:off x="7838591" y="3179926"/>
            <a:ext cx="905359" cy="200025"/>
          </a:xfrm>
          <a:prstGeom prst="rect">
            <a:avLst/>
          </a:prstGeom>
          <a:noFill/>
          <a:ln/>
        </p:spPr>
        <p:txBody>
          <a:bodyPr wrap="square" lIns="0" tIns="0" rIns="0" bIns="0" rtlCol="0" anchor="t"/>
          <a:lstStyle/>
          <a:p>
            <a:pPr marL="0" indent="0" algn="l">
              <a:lnSpc>
                <a:spcPts val="788"/>
              </a:lnSpc>
              <a:buNone/>
            </a:pPr>
            <a:r>
              <a:rPr lang="en-US" sz="800" kern="0" spc="23" dirty="0">
                <a:solidFill>
                  <a:srgbClr val="95D5B2"/>
                </a:solidFill>
                <a:latin typeface="Carlito" pitchFamily="34" charset="0"/>
                <a:ea typeface="Carlito" pitchFamily="34" charset="-122"/>
                <a:cs typeface="Carlito" pitchFamily="34" charset="-120"/>
              </a:rPr>
              <a:t>Matches where winner had more aces</a:t>
            </a:r>
            <a:endParaRPr lang="en-US" sz="800" dirty="0"/>
          </a:p>
        </p:txBody>
      </p:sp>
      <p:sp>
        <p:nvSpPr>
          <p:cNvPr id="27" name="Shape 21"/>
          <p:cNvSpPr/>
          <p:nvPr/>
        </p:nvSpPr>
        <p:spPr>
          <a:xfrm>
            <a:off x="5606393" y="4300538"/>
            <a:ext cx="3137557" cy="0"/>
          </a:xfrm>
          <a:prstGeom prst="line">
            <a:avLst/>
          </a:prstGeom>
          <a:noFill/>
          <a:ln w="7144">
            <a:solidFill>
              <a:srgbClr val="FFF100"/>
            </a:solidFill>
            <a:prstDash val="dash"/>
          </a:ln>
        </p:spPr>
      </p:sp>
      <p:sp>
        <p:nvSpPr>
          <p:cNvPr id="29" name="Text 23"/>
          <p:cNvSpPr/>
          <p:nvPr/>
        </p:nvSpPr>
        <p:spPr>
          <a:xfrm>
            <a:off x="5763555" y="4389834"/>
            <a:ext cx="2980395" cy="353616"/>
          </a:xfrm>
          <a:prstGeom prst="rect">
            <a:avLst/>
          </a:prstGeom>
          <a:noFill/>
          <a:ln/>
        </p:spPr>
        <p:txBody>
          <a:bodyPr wrap="square" lIns="0" tIns="0" rIns="0" bIns="0" rtlCol="0" anchor="t"/>
          <a:lstStyle/>
          <a:p>
            <a:pPr marL="0" indent="0" algn="l">
              <a:lnSpc>
                <a:spcPts val="92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Matches with missing winner_code were excluded. The 45% average gap coexists with only 49.9% match-level consistency — a classic case where group averages mask individual-match variability.</a:t>
            </a:r>
            <a:endParaRPr lang="en-US" sz="800" dirty="0">
              <a:latin typeface="Dubai Light" panose="020B0303030403030204" pitchFamily="34" charset="-78"/>
              <a:cs typeface="Dubai Light" panose="020B0303030403030204" pitchFamily="34" charset="-78"/>
            </a:endParaRPr>
          </a:p>
        </p:txBody>
      </p:sp>
      <p:sp>
        <p:nvSpPr>
          <p:cNvPr id="30" name="Text 24"/>
          <p:cNvSpPr/>
          <p:nvPr/>
        </p:nvSpPr>
        <p:spPr>
          <a:xfrm>
            <a:off x="1342020" y="4957539"/>
            <a:ext cx="35719" cy="35719"/>
          </a:xfrm>
          <a:prstGeom prst="roundRect">
            <a:avLst>
              <a:gd name="adj" fmla="val 66666"/>
            </a:avLst>
          </a:prstGeom>
          <a:solidFill>
            <a:srgbClr val="FFF100"/>
          </a:solidFill>
          <a:ln/>
        </p:spPr>
        <p:txBody>
          <a:bodyPr wrap="square" rtlCol="0" anchor="ctr"/>
          <a:lstStyle/>
          <a:p>
            <a:pPr marL="0" indent="0">
              <a:buNone/>
            </a:pPr>
            <a:endParaRPr lang="en-US" dirty="0"/>
          </a:p>
        </p:txBody>
      </p:sp>
      <p:sp>
        <p:nvSpPr>
          <p:cNvPr id="31" name="Text 25"/>
          <p:cNvSpPr/>
          <p:nvPr/>
        </p:nvSpPr>
        <p:spPr>
          <a:xfrm>
            <a:off x="348430" y="4910962"/>
            <a:ext cx="8005688" cy="164592"/>
          </a:xfrm>
          <a:prstGeom prst="rect">
            <a:avLst/>
          </a:prstGeom>
          <a:noFill/>
          <a:ln/>
        </p:spPr>
        <p:txBody>
          <a:bodyPr wrap="square" lIns="0" tIns="0" rIns="0" bIns="0" rtlCol="0" anchor="t"/>
          <a:lstStyle/>
          <a:p>
            <a:pPr marL="0" indent="0" algn="l">
              <a:lnSpc>
                <a:spcPts val="886"/>
              </a:lnSpc>
              <a:buNone/>
            </a:pPr>
            <a:r>
              <a:rPr lang="en-US" sz="800" kern="0" spc="106" dirty="0">
                <a:solidFill>
                  <a:srgbClr val="6FA68A"/>
                </a:solidFill>
                <a:latin typeface="Carlito" pitchFamily="34" charset="0"/>
                <a:ea typeface="Carlito" pitchFamily="34" charset="-122"/>
                <a:cs typeface="Carlito" pitchFamily="34" charset="-120"/>
              </a:rPr>
              <a:t>KEYVAN HAJIZADE    MATCH STATISTICS &amp; PERFORMANCE</a:t>
            </a:r>
            <a:endParaRPr lang="en-US" sz="800" dirty="0"/>
          </a:p>
        </p:txBody>
      </p:sp>
      <p:sp>
        <p:nvSpPr>
          <p:cNvPr id="32" name="Text 26"/>
          <p:cNvSpPr/>
          <p:nvPr/>
        </p:nvSpPr>
        <p:spPr>
          <a:xfrm>
            <a:off x="8420026" y="4916686"/>
            <a:ext cx="483584" cy="164592"/>
          </a:xfrm>
          <a:prstGeom prst="rect">
            <a:avLst/>
          </a:prstGeom>
          <a:noFill/>
          <a:ln/>
        </p:spPr>
        <p:txBody>
          <a:bodyPr wrap="none" lIns="0" tIns="0" rIns="0" bIns="0" rtlCol="0" anchor="t"/>
          <a:lstStyle/>
          <a:p>
            <a:pPr marL="0" indent="0" algn="l">
              <a:lnSpc>
                <a:spcPts val="886"/>
              </a:lnSpc>
              <a:buNone/>
            </a:pPr>
            <a:r>
              <a:rPr lang="en-US" sz="800" kern="0" spc="106" dirty="0">
                <a:solidFill>
                  <a:srgbClr val="95D5B2"/>
                </a:solidFill>
                <a:latin typeface="Liberation Sans Narrow" pitchFamily="34" charset="0"/>
                <a:ea typeface="Liberation Sans Narrow" pitchFamily="34" charset="-122"/>
                <a:cs typeface="Liberation Sans Narrow" pitchFamily="34" charset="-120"/>
              </a:rPr>
              <a:t>17 / 30</a:t>
            </a:r>
            <a:endParaRPr lang="en-US" sz="800" dirty="0"/>
          </a:p>
        </p:txBody>
      </p:sp>
      <p:sp>
        <p:nvSpPr>
          <p:cNvPr id="34" name="Text 4">
            <a:extLst>
              <a:ext uri="{FF2B5EF4-FFF2-40B4-BE49-F238E27FC236}">
                <a16:creationId xmlns:a16="http://schemas.microsoft.com/office/drawing/2014/main" id="{C84B7FD1-2F56-B31E-4BDA-6C134C57C6E1}"/>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SECTION 02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400050" y="617934"/>
            <a:ext cx="8343900" cy="0"/>
          </a:xfrm>
          <a:prstGeom prst="line">
            <a:avLst/>
          </a:prstGeom>
          <a:noFill/>
          <a:ln w="7144">
            <a:solidFill>
              <a:srgbClr val="FFF100"/>
            </a:solidFill>
            <a:prstDash val="solid"/>
          </a:ln>
        </p:spPr>
      </p:sp>
      <p:sp>
        <p:nvSpPr>
          <p:cNvPr id="3" name="Text 1"/>
          <p:cNvSpPr/>
          <p:nvPr/>
        </p:nvSpPr>
        <p:spPr>
          <a:xfrm>
            <a:off x="400050" y="257175"/>
            <a:ext cx="502920" cy="257175"/>
          </a:xfrm>
          <a:prstGeom prst="rect">
            <a:avLst/>
          </a:prstGeom>
          <a:noFill/>
          <a:ln/>
        </p:spPr>
        <p:txBody>
          <a:bodyPr wrap="none" lIns="0" tIns="0" rIns="0" bIns="0" rtlCol="0" anchor="t"/>
          <a:lstStyle/>
          <a:p>
            <a:pPr marL="0" indent="0" algn="l">
              <a:lnSpc>
                <a:spcPts val="2025"/>
              </a:lnSpc>
              <a:buNone/>
            </a:pPr>
            <a:r>
              <a:rPr lang="en-US" sz="1350" b="1" i="1" dirty="0">
                <a:solidFill>
                  <a:srgbClr val="FFF100"/>
                </a:solidFill>
                <a:latin typeface="Liberation Sans Narrow" pitchFamily="34" charset="0"/>
                <a:ea typeface="Liberation Sans Narrow" pitchFamily="34" charset="-122"/>
                <a:cs typeface="Liberation Sans Narrow" pitchFamily="34" charset="-120"/>
              </a:rPr>
              <a:t>OP2</a:t>
            </a:r>
            <a:endParaRPr lang="en-US" sz="1350" dirty="0"/>
          </a:p>
        </p:txBody>
      </p:sp>
      <p:sp>
        <p:nvSpPr>
          <p:cNvPr id="9" name="Text 7"/>
          <p:cNvSpPr/>
          <p:nvPr/>
        </p:nvSpPr>
        <p:spPr>
          <a:xfrm>
            <a:off x="400050" y="778669"/>
            <a:ext cx="5006318" cy="3964781"/>
          </a:xfrm>
          <a:prstGeom prst="roundRect">
            <a:avLst>
              <a:gd name="adj" fmla="val 1922"/>
            </a:avLst>
          </a:prstGeom>
          <a:solidFill>
            <a:srgbClr val="FFFFFF"/>
          </a:solidFill>
          <a:ln/>
          <a:effectLst>
            <a:outerShdw blurRad="342900" dist="114300" dir="5400000" algn="bl" rotWithShape="0">
              <a:srgbClr val="000000">
                <a:alpha val="30000"/>
              </a:srgbClr>
            </a:outerShdw>
          </a:effectLst>
        </p:spPr>
        <p:txBody>
          <a:bodyPr wrap="square" rtlCol="0" anchor="ctr"/>
          <a:lstStyle/>
          <a:p>
            <a:pPr marL="0" indent="0">
              <a:buNone/>
            </a:pPr>
            <a:endParaRPr lang="en-US" dirty="0"/>
          </a:p>
        </p:txBody>
      </p:sp>
      <p:pic>
        <p:nvPicPr>
          <p:cNvPr id="10" name="Image 0" descr="/tmp/h2p-fit-1789550283790-lek929.png"/>
          <p:cNvPicPr>
            <a:picLocks noChangeAspect="1"/>
          </p:cNvPicPr>
          <p:nvPr/>
        </p:nvPicPr>
        <p:blipFill>
          <a:blip r:embed="rId3"/>
          <a:stretch>
            <a:fillRect/>
          </a:stretch>
        </p:blipFill>
        <p:spPr>
          <a:xfrm>
            <a:off x="528638" y="1244352"/>
            <a:ext cx="4749143" cy="2849463"/>
          </a:xfrm>
          <a:prstGeom prst="rect">
            <a:avLst/>
          </a:prstGeom>
        </p:spPr>
      </p:pic>
      <p:sp>
        <p:nvSpPr>
          <p:cNvPr id="11" name="Text 8"/>
          <p:cNvSpPr/>
          <p:nvPr/>
        </p:nvSpPr>
        <p:spPr>
          <a:xfrm>
            <a:off x="528638" y="4502348"/>
            <a:ext cx="4858871" cy="112514"/>
          </a:xfrm>
          <a:prstGeom prst="rect">
            <a:avLst/>
          </a:prstGeom>
          <a:noFill/>
          <a:ln/>
        </p:spPr>
        <p:txBody>
          <a:bodyPr wrap="square" lIns="0" tIns="0" rIns="0" bIns="0" rtlCol="0" anchor="t"/>
          <a:lstStyle/>
          <a:p>
            <a:pPr marL="0" indent="0" algn="ctr">
              <a:lnSpc>
                <a:spcPts val="886"/>
              </a:lnSpc>
              <a:buNone/>
            </a:pPr>
            <a:r>
              <a:rPr lang="en-US" sz="800" kern="0" spc="71" dirty="0">
                <a:solidFill>
                  <a:srgbClr val="6FA68A"/>
                </a:solidFill>
                <a:latin typeface="Carlito" pitchFamily="34" charset="0"/>
                <a:ea typeface="Carlito" pitchFamily="34" charset="-122"/>
                <a:cs typeface="Carlito" pitchFamily="34" charset="-120"/>
              </a:rPr>
              <a:t>FIG. 15 — AVERAGE ACES PER MATCH BY COURT SURFACE</a:t>
            </a:r>
            <a:endParaRPr lang="en-US" sz="800" dirty="0"/>
          </a:p>
        </p:txBody>
      </p:sp>
      <p:sp>
        <p:nvSpPr>
          <p:cNvPr id="12" name="Text 9"/>
          <p:cNvSpPr/>
          <p:nvPr/>
        </p:nvSpPr>
        <p:spPr>
          <a:xfrm>
            <a:off x="5606393" y="778669"/>
            <a:ext cx="3137557" cy="462915"/>
          </a:xfrm>
          <a:prstGeom prst="rect">
            <a:avLst/>
          </a:prstGeom>
          <a:noFill/>
          <a:ln/>
        </p:spPr>
        <p:txBody>
          <a:bodyPr wrap="square" lIns="0" tIns="0" rIns="0" bIns="0" rtlCol="0" anchor="t"/>
          <a:lstStyle/>
          <a:p>
            <a:pPr marL="0" indent="0" algn="l">
              <a:lnSpc>
                <a:spcPts val="1688"/>
              </a:lnSpc>
              <a:buNone/>
            </a:pPr>
            <a:r>
              <a:rPr lang="en-US" sz="1406" kern="0" spc="-7" dirty="0">
                <a:solidFill>
                  <a:srgbClr val="F4F1DE"/>
                </a:solidFill>
                <a:latin typeface="Tinos" pitchFamily="34" charset="0"/>
                <a:ea typeface="Tinos" pitchFamily="34" charset="-122"/>
                <a:cs typeface="Tinos" pitchFamily="34" charset="-120"/>
              </a:rPr>
              <a:t>Does the Court Surface Affect the Number of Aces?</a:t>
            </a:r>
            <a:endParaRPr lang="en-US" sz="1406" dirty="0"/>
          </a:p>
        </p:txBody>
      </p:sp>
      <p:sp>
        <p:nvSpPr>
          <p:cNvPr id="13" name="Text 10"/>
          <p:cNvSpPr/>
          <p:nvPr/>
        </p:nvSpPr>
        <p:spPr>
          <a:xfrm>
            <a:off x="5606393" y="1307306"/>
            <a:ext cx="342900" cy="21431"/>
          </a:xfrm>
          <a:prstGeom prst="rect">
            <a:avLst/>
          </a:prstGeom>
          <a:solidFill>
            <a:srgbClr val="FFF100"/>
          </a:solidFill>
          <a:ln/>
        </p:spPr>
        <p:txBody>
          <a:bodyPr wrap="square" rtlCol="0" anchor="ctr"/>
          <a:lstStyle/>
          <a:p>
            <a:pPr marL="0" indent="0">
              <a:buNone/>
            </a:pPr>
            <a:endParaRPr lang="en-US" dirty="0"/>
          </a:p>
        </p:txBody>
      </p:sp>
      <p:sp>
        <p:nvSpPr>
          <p:cNvPr id="14" name="Text 11"/>
          <p:cNvSpPr/>
          <p:nvPr/>
        </p:nvSpPr>
        <p:spPr>
          <a:xfrm>
            <a:off x="5606393" y="1443038"/>
            <a:ext cx="3137557" cy="972162"/>
          </a:xfrm>
          <a:prstGeom prst="rect">
            <a:avLst/>
          </a:prstGeom>
          <a:noFill/>
          <a:ln/>
        </p:spPr>
        <p:txBody>
          <a:bodyPr wrap="square" lIns="0" tIns="0" rIns="0" bIns="0" rtlCol="0" anchor="t">
            <a:noAutofit/>
          </a:bodyPr>
          <a:lstStyle/>
          <a:p>
            <a:pPr>
              <a:lnSpc>
                <a:spcPts val="1133"/>
              </a:lnSpc>
            </a:pPr>
            <a:r>
              <a:rPr lang="en-US" sz="900" dirty="0">
                <a:solidFill>
                  <a:srgbClr val="F4F1DE"/>
                </a:solidFill>
                <a:latin typeface="Candara" panose="020E0502030303020204" pitchFamily="34" charset="0"/>
                <a:ea typeface="Carlito" pitchFamily="34" charset="-122"/>
                <a:cs typeface="Carlito" pitchFamily="34" charset="-120"/>
              </a:rPr>
              <a:t>and clay yield the lowest. Fast courts produce significantly more aces than slow courts — a difference of nearly </a:t>
            </a:r>
            <a:r>
              <a:rPr lang="en-US" sz="900" dirty="0">
                <a:solidFill>
                  <a:srgbClr val="FFF8B5"/>
                </a:solidFill>
                <a:latin typeface="Candara" panose="020E0502030303020204" pitchFamily="34" charset="0"/>
                <a:ea typeface="Liberation Sans Narrow" pitchFamily="34" charset="-122"/>
                <a:cs typeface="Liberation Sans Narrow" pitchFamily="34" charset="-120"/>
              </a:rPr>
              <a:t>3.5×</a:t>
            </a:r>
            <a:r>
              <a:rPr lang="en-US" sz="900" dirty="0">
                <a:solidFill>
                  <a:srgbClr val="F4F1DE"/>
                </a:solidFill>
                <a:latin typeface="Candara" panose="020E0502030303020204" pitchFamily="34" charset="0"/>
                <a:ea typeface="Carlito" pitchFamily="34" charset="-122"/>
                <a:cs typeface="Carlito" pitchFamily="34" charset="-120"/>
              </a:rPr>
              <a:t> between the highest and lowest rates. This aligns perfectly with tennis physics: on clay, the ball moves more slowly and bounces higher, making service returns easier; on grass and carpet, the ball maintains speed, increasing the likelihood of aces. Grass and carpet yield the highest ace rates; synthetic </a:t>
            </a:r>
            <a:endParaRPr lang="en-US" sz="900" dirty="0">
              <a:latin typeface="Candara" panose="020E0502030303020204" pitchFamily="34" charset="0"/>
            </a:endParaRPr>
          </a:p>
        </p:txBody>
      </p:sp>
      <p:sp>
        <p:nvSpPr>
          <p:cNvPr id="15" name="Text 12"/>
          <p:cNvSpPr/>
          <p:nvPr/>
        </p:nvSpPr>
        <p:spPr>
          <a:xfrm>
            <a:off x="5606393" y="2779208"/>
            <a:ext cx="640928" cy="206026"/>
          </a:xfrm>
          <a:prstGeom prst="roundRect">
            <a:avLst>
              <a:gd name="adj" fmla="val 4618580"/>
            </a:avLst>
          </a:prstGeom>
          <a:solidFill>
            <a:srgbClr val="FFF100">
              <a:alpha val="18000"/>
            </a:srgbClr>
          </a:solidFill>
          <a:ln w="7144">
            <a:solidFill>
              <a:srgbClr val="FFF100"/>
            </a:solidFill>
            <a:prstDash val="solid"/>
          </a:ln>
        </p:spPr>
        <p:txBody>
          <a:bodyPr wrap="square" rtlCol="0" anchor="ctr"/>
          <a:lstStyle/>
          <a:p>
            <a:pPr marL="0" indent="0">
              <a:buNone/>
            </a:pPr>
            <a:endParaRPr lang="en-US" dirty="0"/>
          </a:p>
        </p:txBody>
      </p:sp>
      <p:sp>
        <p:nvSpPr>
          <p:cNvPr id="16" name="Text 13"/>
          <p:cNvSpPr/>
          <p:nvPr/>
        </p:nvSpPr>
        <p:spPr>
          <a:xfrm>
            <a:off x="5562001" y="2790245"/>
            <a:ext cx="729712" cy="183952"/>
          </a:xfrm>
          <a:prstGeom prst="rect">
            <a:avLst/>
          </a:prstGeom>
          <a:noFill/>
          <a:ln/>
        </p:spPr>
        <p:txBody>
          <a:bodyPr wrap="none" lIns="0" tIns="0" rIns="0" bIns="0" rtlCol="0" anchor="ctr"/>
          <a:lstStyle/>
          <a:p>
            <a:pPr marL="0" indent="0" algn="ctr">
              <a:lnSpc>
                <a:spcPts val="886"/>
              </a:lnSpc>
              <a:buNone/>
            </a:pPr>
            <a:r>
              <a:rPr lang="en-US" sz="800" kern="0" spc="35" dirty="0">
                <a:solidFill>
                  <a:srgbClr val="FFF8B5"/>
                </a:solidFill>
                <a:latin typeface="Carlito" pitchFamily="34" charset="0"/>
                <a:ea typeface="Carlito" pitchFamily="34" charset="-122"/>
                <a:cs typeface="Carlito" pitchFamily="34" charset="-120"/>
              </a:rPr>
              <a:t>Grass · high</a:t>
            </a:r>
            <a:endParaRPr lang="en-US" sz="800" dirty="0"/>
          </a:p>
        </p:txBody>
      </p:sp>
      <p:sp>
        <p:nvSpPr>
          <p:cNvPr id="17" name="Text 14"/>
          <p:cNvSpPr/>
          <p:nvPr/>
        </p:nvSpPr>
        <p:spPr>
          <a:xfrm>
            <a:off x="6304471" y="2779208"/>
            <a:ext cx="670508" cy="206026"/>
          </a:xfrm>
          <a:prstGeom prst="roundRect">
            <a:avLst>
              <a:gd name="adj" fmla="val 4618580"/>
            </a:avLst>
          </a:prstGeom>
          <a:solidFill>
            <a:srgbClr val="FFF100">
              <a:alpha val="18000"/>
            </a:srgbClr>
          </a:solidFill>
          <a:ln w="7144">
            <a:solidFill>
              <a:srgbClr val="FFF100"/>
            </a:solidFill>
            <a:prstDash val="solid"/>
          </a:ln>
        </p:spPr>
        <p:txBody>
          <a:bodyPr wrap="square" rtlCol="0" anchor="ctr"/>
          <a:lstStyle/>
          <a:p>
            <a:pPr marL="0" indent="0">
              <a:buNone/>
            </a:pPr>
            <a:endParaRPr lang="en-US" dirty="0"/>
          </a:p>
        </p:txBody>
      </p:sp>
      <p:sp>
        <p:nvSpPr>
          <p:cNvPr id="18" name="Text 15"/>
          <p:cNvSpPr/>
          <p:nvPr/>
        </p:nvSpPr>
        <p:spPr>
          <a:xfrm>
            <a:off x="6243698" y="2790245"/>
            <a:ext cx="792053" cy="183952"/>
          </a:xfrm>
          <a:prstGeom prst="rect">
            <a:avLst/>
          </a:prstGeom>
          <a:noFill/>
          <a:ln/>
        </p:spPr>
        <p:txBody>
          <a:bodyPr wrap="none" lIns="0" tIns="0" rIns="0" bIns="0" rtlCol="0" anchor="ctr"/>
          <a:lstStyle/>
          <a:p>
            <a:pPr marL="0" indent="0" algn="ctr">
              <a:lnSpc>
                <a:spcPts val="886"/>
              </a:lnSpc>
              <a:buNone/>
            </a:pPr>
            <a:r>
              <a:rPr lang="en-US" sz="800" kern="0" spc="35" dirty="0">
                <a:solidFill>
                  <a:srgbClr val="FFF8B5"/>
                </a:solidFill>
                <a:latin typeface="Carlito" pitchFamily="34" charset="0"/>
                <a:ea typeface="Carlito" pitchFamily="34" charset="-122"/>
                <a:cs typeface="Carlito" pitchFamily="34" charset="-120"/>
              </a:rPr>
              <a:t>Carpet · high</a:t>
            </a:r>
            <a:endParaRPr lang="en-US" sz="800" dirty="0"/>
          </a:p>
        </p:txBody>
      </p:sp>
      <p:sp>
        <p:nvSpPr>
          <p:cNvPr id="19" name="Text 16"/>
          <p:cNvSpPr/>
          <p:nvPr/>
        </p:nvSpPr>
        <p:spPr>
          <a:xfrm>
            <a:off x="7032129" y="2779208"/>
            <a:ext cx="762819" cy="206026"/>
          </a:xfrm>
          <a:prstGeom prst="roundRect">
            <a:avLst>
              <a:gd name="adj" fmla="val 4618580"/>
            </a:avLst>
          </a:prstGeom>
          <a:solidFill>
            <a:srgbClr val="95D5B2">
              <a:alpha val="10000"/>
            </a:srgbClr>
          </a:solidFill>
          <a:ln w="7144">
            <a:solidFill>
              <a:srgbClr val="95D5B2"/>
            </a:solidFill>
            <a:prstDash val="solid"/>
          </a:ln>
        </p:spPr>
        <p:txBody>
          <a:bodyPr wrap="square" rtlCol="0" anchor="ctr"/>
          <a:lstStyle/>
          <a:p>
            <a:pPr marL="0" indent="0">
              <a:buNone/>
            </a:pPr>
            <a:endParaRPr lang="en-US" dirty="0"/>
          </a:p>
        </p:txBody>
      </p:sp>
      <p:sp>
        <p:nvSpPr>
          <p:cNvPr id="20" name="Text 17"/>
          <p:cNvSpPr/>
          <p:nvPr/>
        </p:nvSpPr>
        <p:spPr>
          <a:xfrm>
            <a:off x="7032129" y="2790245"/>
            <a:ext cx="762819" cy="183952"/>
          </a:xfrm>
          <a:prstGeom prst="rect">
            <a:avLst/>
          </a:prstGeom>
          <a:noFill/>
          <a:ln/>
        </p:spPr>
        <p:txBody>
          <a:bodyPr wrap="none" lIns="0" tIns="0" rIns="0" bIns="0" rtlCol="0" anchor="ctr"/>
          <a:lstStyle/>
          <a:p>
            <a:pPr marL="0" indent="0" algn="ctr">
              <a:lnSpc>
                <a:spcPts val="886"/>
              </a:lnSpc>
              <a:buNone/>
            </a:pPr>
            <a:r>
              <a:rPr lang="en-US" sz="800" kern="0" spc="35" dirty="0">
                <a:solidFill>
                  <a:srgbClr val="95D5B2"/>
                </a:solidFill>
                <a:latin typeface="Carlito" pitchFamily="34" charset="0"/>
                <a:ea typeface="Carlito" pitchFamily="34" charset="-122"/>
                <a:cs typeface="Carlito" pitchFamily="34" charset="-120"/>
              </a:rPr>
              <a:t>Hardcourt · mid</a:t>
            </a:r>
            <a:endParaRPr lang="en-US" sz="800" dirty="0"/>
          </a:p>
        </p:txBody>
      </p:sp>
      <p:sp>
        <p:nvSpPr>
          <p:cNvPr id="21" name="Text 18"/>
          <p:cNvSpPr/>
          <p:nvPr/>
        </p:nvSpPr>
        <p:spPr>
          <a:xfrm>
            <a:off x="7852096" y="2779208"/>
            <a:ext cx="733685" cy="206026"/>
          </a:xfrm>
          <a:prstGeom prst="roundRect">
            <a:avLst>
              <a:gd name="adj" fmla="val 4618580"/>
            </a:avLst>
          </a:prstGeom>
          <a:solidFill>
            <a:srgbClr val="95D5B2">
              <a:alpha val="10000"/>
            </a:srgbClr>
          </a:solidFill>
          <a:ln w="7144">
            <a:solidFill>
              <a:srgbClr val="95D5B2"/>
            </a:solidFill>
            <a:prstDash val="solid"/>
          </a:ln>
        </p:spPr>
        <p:txBody>
          <a:bodyPr wrap="square" rtlCol="0" anchor="ctr"/>
          <a:lstStyle/>
          <a:p>
            <a:pPr marL="0" indent="0">
              <a:buNone/>
            </a:pPr>
            <a:endParaRPr lang="en-US" dirty="0"/>
          </a:p>
        </p:txBody>
      </p:sp>
      <p:sp>
        <p:nvSpPr>
          <p:cNvPr id="22" name="Text 19"/>
          <p:cNvSpPr/>
          <p:nvPr/>
        </p:nvSpPr>
        <p:spPr>
          <a:xfrm>
            <a:off x="7852097" y="2790245"/>
            <a:ext cx="733685" cy="183952"/>
          </a:xfrm>
          <a:prstGeom prst="rect">
            <a:avLst/>
          </a:prstGeom>
          <a:noFill/>
          <a:ln/>
        </p:spPr>
        <p:txBody>
          <a:bodyPr wrap="none" lIns="0" tIns="0" rIns="0" bIns="0" rtlCol="0" anchor="ctr"/>
          <a:lstStyle/>
          <a:p>
            <a:pPr marL="0" indent="0" algn="ctr">
              <a:lnSpc>
                <a:spcPts val="886"/>
              </a:lnSpc>
              <a:buNone/>
            </a:pPr>
            <a:r>
              <a:rPr lang="en-US" sz="800" kern="0" spc="35" dirty="0">
                <a:solidFill>
                  <a:srgbClr val="95D5B2"/>
                </a:solidFill>
                <a:latin typeface="Carlito" pitchFamily="34" charset="0"/>
                <a:ea typeface="Carlito" pitchFamily="34" charset="-122"/>
                <a:cs typeface="Carlito" pitchFamily="34" charset="-120"/>
              </a:rPr>
              <a:t>Synthetic · low</a:t>
            </a:r>
            <a:endParaRPr lang="en-US" sz="800" dirty="0"/>
          </a:p>
        </p:txBody>
      </p:sp>
      <p:sp>
        <p:nvSpPr>
          <p:cNvPr id="23" name="Text 20"/>
          <p:cNvSpPr/>
          <p:nvPr/>
        </p:nvSpPr>
        <p:spPr>
          <a:xfrm>
            <a:off x="5583533" y="3027686"/>
            <a:ext cx="711986" cy="206026"/>
          </a:xfrm>
          <a:prstGeom prst="roundRect">
            <a:avLst>
              <a:gd name="adj" fmla="val 4618580"/>
            </a:avLst>
          </a:prstGeom>
          <a:solidFill>
            <a:srgbClr val="95D5B2">
              <a:alpha val="10000"/>
            </a:srgbClr>
          </a:solidFill>
          <a:ln w="7144">
            <a:solidFill>
              <a:srgbClr val="95D5B2"/>
            </a:solidFill>
            <a:prstDash val="solid"/>
          </a:ln>
        </p:spPr>
        <p:txBody>
          <a:bodyPr wrap="square" rtlCol="0" anchor="ctr"/>
          <a:lstStyle/>
          <a:p>
            <a:pPr marL="0" indent="0">
              <a:buNone/>
            </a:pPr>
            <a:endParaRPr lang="en-US" dirty="0"/>
          </a:p>
        </p:txBody>
      </p:sp>
      <p:sp>
        <p:nvSpPr>
          <p:cNvPr id="24" name="Text 21"/>
          <p:cNvSpPr/>
          <p:nvPr/>
        </p:nvSpPr>
        <p:spPr>
          <a:xfrm>
            <a:off x="5543499" y="3031347"/>
            <a:ext cx="792053" cy="183952"/>
          </a:xfrm>
          <a:prstGeom prst="rect">
            <a:avLst/>
          </a:prstGeom>
          <a:noFill/>
          <a:ln/>
        </p:spPr>
        <p:txBody>
          <a:bodyPr wrap="none" lIns="0" tIns="0" rIns="0" bIns="0" rtlCol="0" anchor="ctr"/>
          <a:lstStyle/>
          <a:p>
            <a:pPr marL="0" indent="0" algn="ctr">
              <a:lnSpc>
                <a:spcPts val="886"/>
              </a:lnSpc>
              <a:buNone/>
            </a:pPr>
            <a:r>
              <a:rPr lang="en-US" sz="800" kern="0" spc="35" dirty="0">
                <a:solidFill>
                  <a:srgbClr val="95D5B2"/>
                </a:solidFill>
                <a:latin typeface="Carlito" pitchFamily="34" charset="0"/>
                <a:ea typeface="Carlito" pitchFamily="34" charset="-122"/>
                <a:cs typeface="Carlito" pitchFamily="34" charset="-120"/>
              </a:rPr>
              <a:t>Clay · lowest</a:t>
            </a:r>
            <a:endParaRPr lang="en-US" sz="800" dirty="0"/>
          </a:p>
        </p:txBody>
      </p:sp>
      <p:pic>
        <p:nvPicPr>
          <p:cNvPr id="25" name="Image 1" descr="preencoded.png"/>
          <p:cNvPicPr>
            <a:picLocks noChangeAspect="1"/>
          </p:cNvPicPr>
          <p:nvPr/>
        </p:nvPicPr>
        <p:blipFill>
          <a:blip r:embed="rId4"/>
          <a:stretch>
            <a:fillRect/>
          </a:stretch>
        </p:blipFill>
        <p:spPr>
          <a:xfrm>
            <a:off x="5606393" y="3315311"/>
            <a:ext cx="3137557" cy="581434"/>
          </a:xfrm>
          <a:prstGeom prst="rect">
            <a:avLst/>
          </a:prstGeom>
        </p:spPr>
      </p:pic>
      <p:sp>
        <p:nvSpPr>
          <p:cNvPr id="26" name="Shape 22"/>
          <p:cNvSpPr/>
          <p:nvPr/>
        </p:nvSpPr>
        <p:spPr>
          <a:xfrm>
            <a:off x="5617108" y="3315311"/>
            <a:ext cx="0" cy="581434"/>
          </a:xfrm>
          <a:prstGeom prst="line">
            <a:avLst/>
          </a:prstGeom>
          <a:noFill/>
          <a:ln w="21431">
            <a:solidFill>
              <a:srgbClr val="FFF100"/>
            </a:solidFill>
            <a:prstDash val="solid"/>
          </a:ln>
        </p:spPr>
      </p:sp>
      <p:sp>
        <p:nvSpPr>
          <p:cNvPr id="27" name="Text 23"/>
          <p:cNvSpPr/>
          <p:nvPr/>
        </p:nvSpPr>
        <p:spPr>
          <a:xfrm>
            <a:off x="5727836" y="3372461"/>
            <a:ext cx="3016114" cy="329756"/>
          </a:xfrm>
          <a:prstGeom prst="rect">
            <a:avLst/>
          </a:prstGeom>
          <a:noFill/>
          <a:ln/>
        </p:spPr>
        <p:txBody>
          <a:bodyPr wrap="none" lIns="0" tIns="0" rIns="0" bIns="0" rtlCol="0" anchor="t">
            <a:normAutofit/>
          </a:bodyPr>
          <a:lstStyle/>
          <a:p>
            <a:pPr marL="0" indent="0" algn="l">
              <a:lnSpc>
                <a:spcPts val="2475"/>
              </a:lnSpc>
              <a:buNone/>
            </a:pPr>
            <a:r>
              <a:rPr lang="en-US" sz="2475" b="1" kern="0" spc="-25" dirty="0">
                <a:solidFill>
                  <a:srgbClr val="FFF100"/>
                </a:solidFill>
                <a:latin typeface="Liberation Sans Narrow" pitchFamily="34" charset="0"/>
                <a:ea typeface="Liberation Sans Narrow" pitchFamily="34" charset="-122"/>
                <a:cs typeface="Liberation Sans Narrow" pitchFamily="34" charset="-120"/>
              </a:rPr>
              <a:t>3.5×</a:t>
            </a:r>
            <a:endParaRPr lang="en-US" sz="2475" dirty="0"/>
          </a:p>
        </p:txBody>
      </p:sp>
      <p:sp>
        <p:nvSpPr>
          <p:cNvPr id="28" name="Text 24"/>
          <p:cNvSpPr/>
          <p:nvPr/>
        </p:nvSpPr>
        <p:spPr>
          <a:xfrm>
            <a:off x="5727836" y="3729648"/>
            <a:ext cx="3125842" cy="109947"/>
          </a:xfrm>
          <a:prstGeom prst="rect">
            <a:avLst/>
          </a:prstGeom>
          <a:noFill/>
          <a:ln/>
        </p:spPr>
        <p:txBody>
          <a:bodyPr wrap="square" lIns="0" tIns="0" rIns="0" bIns="0" rtlCol="0" anchor="t"/>
          <a:lstStyle/>
          <a:p>
            <a:pPr marL="0" indent="0" algn="l">
              <a:lnSpc>
                <a:spcPts val="866"/>
              </a:lnSpc>
              <a:buNone/>
            </a:pPr>
            <a:r>
              <a:rPr lang="en-US" sz="800" kern="0" spc="37" dirty="0">
                <a:solidFill>
                  <a:srgbClr val="95D5B2"/>
                </a:solidFill>
                <a:latin typeface="Carlito" pitchFamily="34" charset="0"/>
                <a:ea typeface="Carlito" pitchFamily="34" charset="-122"/>
                <a:cs typeface="Carlito" pitchFamily="34" charset="-120"/>
              </a:rPr>
              <a:t>Gap between fastest &amp; slowest surfaces</a:t>
            </a:r>
            <a:endParaRPr lang="en-US" sz="800" dirty="0"/>
          </a:p>
        </p:txBody>
      </p:sp>
      <p:sp>
        <p:nvSpPr>
          <p:cNvPr id="29" name="Shape 25"/>
          <p:cNvSpPr/>
          <p:nvPr/>
        </p:nvSpPr>
        <p:spPr>
          <a:xfrm>
            <a:off x="5606393" y="4300538"/>
            <a:ext cx="3137557" cy="0"/>
          </a:xfrm>
          <a:prstGeom prst="line">
            <a:avLst/>
          </a:prstGeom>
          <a:noFill/>
          <a:ln w="7144">
            <a:solidFill>
              <a:srgbClr val="FFF100"/>
            </a:solidFill>
            <a:prstDash val="dash"/>
          </a:ln>
        </p:spPr>
      </p:sp>
      <p:sp>
        <p:nvSpPr>
          <p:cNvPr id="30" name="Text 26"/>
          <p:cNvSpPr/>
          <p:nvPr/>
        </p:nvSpPr>
        <p:spPr>
          <a:xfrm>
            <a:off x="5606393" y="4396978"/>
            <a:ext cx="100013" cy="100013"/>
          </a:xfrm>
          <a:prstGeom prst="rect">
            <a:avLst/>
          </a:prstGeom>
          <a:noFill/>
          <a:ln/>
        </p:spPr>
        <p:txBody>
          <a:bodyPr wrap="none" lIns="0" tIns="0" rIns="0" bIns="0" rtlCol="0" anchor="ctr"/>
          <a:lstStyle/>
          <a:p>
            <a:pPr marL="0" indent="0" algn="ctr">
              <a:buNone/>
            </a:pPr>
            <a:endParaRPr lang="en-US" sz="984" dirty="0"/>
          </a:p>
        </p:txBody>
      </p:sp>
      <p:sp>
        <p:nvSpPr>
          <p:cNvPr id="31" name="Text 27"/>
          <p:cNvSpPr/>
          <p:nvPr/>
        </p:nvSpPr>
        <p:spPr>
          <a:xfrm>
            <a:off x="5763555" y="4389834"/>
            <a:ext cx="2980395" cy="353616"/>
          </a:xfrm>
          <a:prstGeom prst="rect">
            <a:avLst/>
          </a:prstGeom>
          <a:noFill/>
          <a:ln/>
        </p:spPr>
        <p:txBody>
          <a:bodyPr wrap="square" lIns="0" tIns="0" rIns="0" bIns="0" rtlCol="0" anchor="t"/>
          <a:lstStyle/>
          <a:p>
            <a:pPr marL="0" indent="0" algn="l">
              <a:lnSpc>
                <a:spcPts val="92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Fragmented surface categories (green clay, indoor red clay) were consolidated into five main groups: Hardcourt, Clay, Grass, Carpet, and Synthetic — ensuring statistical significance through adequate sample sizes.</a:t>
            </a:r>
            <a:endParaRPr lang="en-US" sz="800" dirty="0">
              <a:latin typeface="Dubai Light" panose="020B0303030403030204" pitchFamily="34" charset="-78"/>
              <a:cs typeface="Dubai Light" panose="020B0303030403030204" pitchFamily="34" charset="-78"/>
            </a:endParaRPr>
          </a:p>
        </p:txBody>
      </p:sp>
      <p:sp>
        <p:nvSpPr>
          <p:cNvPr id="32" name="Text 28"/>
          <p:cNvSpPr/>
          <p:nvPr/>
        </p:nvSpPr>
        <p:spPr>
          <a:xfrm>
            <a:off x="1342020" y="4957539"/>
            <a:ext cx="35719" cy="35719"/>
          </a:xfrm>
          <a:prstGeom prst="roundRect">
            <a:avLst>
              <a:gd name="adj" fmla="val 66666"/>
            </a:avLst>
          </a:prstGeom>
          <a:solidFill>
            <a:srgbClr val="FFF100"/>
          </a:solidFill>
          <a:ln/>
        </p:spPr>
        <p:txBody>
          <a:bodyPr wrap="square" rtlCol="0" anchor="ctr"/>
          <a:lstStyle/>
          <a:p>
            <a:pPr marL="0" indent="0">
              <a:buNone/>
            </a:pPr>
            <a:endParaRPr lang="en-US" dirty="0"/>
          </a:p>
        </p:txBody>
      </p:sp>
      <p:sp>
        <p:nvSpPr>
          <p:cNvPr id="33" name="Text 29"/>
          <p:cNvSpPr/>
          <p:nvPr/>
        </p:nvSpPr>
        <p:spPr>
          <a:xfrm>
            <a:off x="348431" y="4916686"/>
            <a:ext cx="8005688" cy="164592"/>
          </a:xfrm>
          <a:prstGeom prst="rect">
            <a:avLst/>
          </a:prstGeom>
          <a:noFill/>
          <a:ln/>
        </p:spPr>
        <p:txBody>
          <a:bodyPr wrap="square" lIns="0" tIns="0" rIns="0" bIns="0" rtlCol="0" anchor="t"/>
          <a:lstStyle/>
          <a:p>
            <a:pPr marL="0" indent="0" algn="l">
              <a:lnSpc>
                <a:spcPts val="886"/>
              </a:lnSpc>
              <a:buNone/>
            </a:pPr>
            <a:r>
              <a:rPr lang="en-US" sz="800" kern="0" spc="106" dirty="0">
                <a:solidFill>
                  <a:srgbClr val="6FA68A"/>
                </a:solidFill>
                <a:latin typeface="Carlito" pitchFamily="34" charset="0"/>
                <a:ea typeface="Carlito" pitchFamily="34" charset="-122"/>
                <a:cs typeface="Carlito" pitchFamily="34" charset="-120"/>
              </a:rPr>
              <a:t>KEYVAN HAJIZADE    MATCH STATISTICS &amp; PERFORMANCE</a:t>
            </a:r>
            <a:endParaRPr lang="en-US" sz="800" dirty="0"/>
          </a:p>
        </p:txBody>
      </p:sp>
      <p:sp>
        <p:nvSpPr>
          <p:cNvPr id="34" name="Text 30"/>
          <p:cNvSpPr/>
          <p:nvPr/>
        </p:nvSpPr>
        <p:spPr>
          <a:xfrm>
            <a:off x="8420026" y="4916686"/>
            <a:ext cx="483584" cy="164592"/>
          </a:xfrm>
          <a:prstGeom prst="rect">
            <a:avLst/>
          </a:prstGeom>
          <a:noFill/>
          <a:ln/>
        </p:spPr>
        <p:txBody>
          <a:bodyPr wrap="none" lIns="0" tIns="0" rIns="0" bIns="0" rtlCol="0" anchor="t"/>
          <a:lstStyle/>
          <a:p>
            <a:pPr marL="0" indent="0" algn="l">
              <a:lnSpc>
                <a:spcPts val="886"/>
              </a:lnSpc>
              <a:buNone/>
            </a:pPr>
            <a:r>
              <a:rPr lang="en-US" sz="800" kern="0" spc="106" dirty="0">
                <a:solidFill>
                  <a:srgbClr val="95D5B2"/>
                </a:solidFill>
                <a:latin typeface="Liberation Sans Narrow" pitchFamily="34" charset="0"/>
                <a:ea typeface="Liberation Sans Narrow" pitchFamily="34" charset="-122"/>
                <a:cs typeface="Liberation Sans Narrow" pitchFamily="34" charset="-120"/>
              </a:rPr>
              <a:t>18 / 30</a:t>
            </a:r>
            <a:endParaRPr lang="en-US" sz="800" dirty="0"/>
          </a:p>
        </p:txBody>
      </p:sp>
      <p:sp>
        <p:nvSpPr>
          <p:cNvPr id="36" name="Text 4">
            <a:extLst>
              <a:ext uri="{FF2B5EF4-FFF2-40B4-BE49-F238E27FC236}">
                <a16:creationId xmlns:a16="http://schemas.microsoft.com/office/drawing/2014/main" id="{701164BE-D3BF-2008-AB5C-E2307373F79F}"/>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SECTION 02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4352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B4332"/>
          </a:solidFill>
          <a:ln/>
        </p:spPr>
        <p:txBody>
          <a:bodyPr wrap="square" rtlCol="0" anchor="ctr"/>
          <a:lstStyle/>
          <a:p>
            <a:pPr marL="0" indent="0">
              <a:buNone/>
            </a:pPr>
            <a:endParaRPr lang="en-US" dirty="0"/>
          </a:p>
        </p:txBody>
      </p:sp>
      <p:pic>
        <p:nvPicPr>
          <p:cNvPr id="37" name="Picture 36">
            <a:extLst>
              <a:ext uri="{FF2B5EF4-FFF2-40B4-BE49-F238E27FC236}">
                <a16:creationId xmlns:a16="http://schemas.microsoft.com/office/drawing/2014/main" id="{D627E421-A2EB-B61E-E943-7AA71B5BE5E3}"/>
              </a:ext>
            </a:extLst>
          </p:cNvPr>
          <p:cNvPicPr>
            <a:picLocks noChangeAspect="1"/>
          </p:cNvPicPr>
          <p:nvPr/>
        </p:nvPicPr>
        <p:blipFill>
          <a:blip r:embed="rId3">
            <a:alphaModFix amt="85000"/>
          </a:blip>
          <a:stretch>
            <a:fillRect/>
          </a:stretch>
        </p:blipFill>
        <p:spPr>
          <a:xfrm>
            <a:off x="711963" y="0"/>
            <a:ext cx="7720074" cy="5143500"/>
          </a:xfrm>
          <a:prstGeom prst="rect">
            <a:avLst/>
          </a:prstGeom>
        </p:spPr>
      </p:pic>
      <p:pic>
        <p:nvPicPr>
          <p:cNvPr id="5" name="Image 2" descr="preencoded.png"/>
          <p:cNvPicPr>
            <a:picLocks noChangeAspect="1"/>
          </p:cNvPicPr>
          <p:nvPr/>
        </p:nvPicPr>
        <p:blipFill>
          <a:blip r:embed="rId4"/>
          <a:stretch>
            <a:fillRect/>
          </a:stretch>
        </p:blipFill>
        <p:spPr>
          <a:xfrm>
            <a:off x="0" y="2007"/>
            <a:ext cx="9144000" cy="5143500"/>
          </a:xfrm>
          <a:prstGeom prst="rect">
            <a:avLst/>
          </a:prstGeom>
        </p:spPr>
      </p:pic>
      <p:sp>
        <p:nvSpPr>
          <p:cNvPr id="7" name="Text 2"/>
          <p:cNvSpPr/>
          <p:nvPr/>
        </p:nvSpPr>
        <p:spPr>
          <a:xfrm>
            <a:off x="0" y="857250"/>
            <a:ext cx="9144000" cy="7144"/>
          </a:xfrm>
          <a:prstGeom prst="rect">
            <a:avLst/>
          </a:prstGeom>
          <a:solidFill>
            <a:srgbClr val="FFF100">
              <a:alpha val="12000"/>
            </a:srgbClr>
          </a:solidFill>
          <a:ln/>
        </p:spPr>
        <p:txBody>
          <a:bodyPr wrap="square" rtlCol="0" anchor="ctr"/>
          <a:lstStyle/>
          <a:p>
            <a:pPr marL="0" indent="0">
              <a:buNone/>
            </a:pPr>
            <a:endParaRPr lang="en-US" dirty="0"/>
          </a:p>
        </p:txBody>
      </p:sp>
      <p:sp>
        <p:nvSpPr>
          <p:cNvPr id="8" name="Text 3"/>
          <p:cNvSpPr/>
          <p:nvPr/>
        </p:nvSpPr>
        <p:spPr>
          <a:xfrm>
            <a:off x="0" y="4286250"/>
            <a:ext cx="9144000" cy="7144"/>
          </a:xfrm>
          <a:prstGeom prst="rect">
            <a:avLst/>
          </a:prstGeom>
          <a:solidFill>
            <a:srgbClr val="FFF100">
              <a:alpha val="12000"/>
            </a:srgbClr>
          </a:solidFill>
          <a:ln/>
        </p:spPr>
        <p:txBody>
          <a:bodyPr wrap="square" rtlCol="0" anchor="ctr"/>
          <a:lstStyle/>
          <a:p>
            <a:pPr marL="0" indent="0">
              <a:buNone/>
            </a:pPr>
            <a:endParaRPr lang="en-US" dirty="0"/>
          </a:p>
        </p:txBody>
      </p:sp>
      <p:sp>
        <p:nvSpPr>
          <p:cNvPr id="9" name="Text 4"/>
          <p:cNvSpPr/>
          <p:nvPr/>
        </p:nvSpPr>
        <p:spPr>
          <a:xfrm>
            <a:off x="6308659" y="300038"/>
            <a:ext cx="1781861" cy="126609"/>
          </a:xfrm>
          <a:prstGeom prst="rect">
            <a:avLst/>
          </a:prstGeom>
          <a:noFill/>
          <a:ln/>
        </p:spPr>
        <p:txBody>
          <a:bodyPr wrap="square" lIns="0" tIns="0" rIns="0" bIns="0" rtlCol="0" anchor="t"/>
          <a:lstStyle/>
          <a:p>
            <a:pPr marL="0" indent="0" algn="r">
              <a:lnSpc>
                <a:spcPts val="1097"/>
              </a:lnSpc>
              <a:buNone/>
            </a:pPr>
            <a:r>
              <a:rPr lang="en-US" sz="731" i="1" kern="0" spc="29" dirty="0">
                <a:solidFill>
                  <a:srgbClr val="95D5B2"/>
                </a:solidFill>
                <a:latin typeface="Tinos" pitchFamily="34" charset="0"/>
                <a:ea typeface="Tinos" pitchFamily="34" charset="-122"/>
                <a:cs typeface="Tinos" pitchFamily="34" charset="-120"/>
              </a:rPr>
              <a:t>TENNIS MATCHES ANALYSIS REPORT</a:t>
            </a:r>
            <a:endParaRPr lang="en-US" sz="731" dirty="0"/>
          </a:p>
        </p:txBody>
      </p:sp>
      <p:sp>
        <p:nvSpPr>
          <p:cNvPr id="10" name="Text 5"/>
          <p:cNvSpPr/>
          <p:nvPr/>
        </p:nvSpPr>
        <p:spPr>
          <a:xfrm>
            <a:off x="8193100" y="343570"/>
            <a:ext cx="42863" cy="42863"/>
          </a:xfrm>
          <a:prstGeom prst="ellipse">
            <a:avLst/>
          </a:prstGeom>
          <a:solidFill>
            <a:srgbClr val="FFF100"/>
          </a:solidFill>
          <a:ln/>
        </p:spPr>
        <p:txBody>
          <a:bodyPr wrap="square" rtlCol="0" anchor="ctr"/>
          <a:lstStyle/>
          <a:p>
            <a:pPr marL="0" indent="0">
              <a:buNone/>
            </a:pPr>
            <a:endParaRPr lang="en-US" dirty="0"/>
          </a:p>
        </p:txBody>
      </p:sp>
      <p:sp>
        <p:nvSpPr>
          <p:cNvPr id="11" name="Text 6"/>
          <p:cNvSpPr/>
          <p:nvPr/>
        </p:nvSpPr>
        <p:spPr>
          <a:xfrm>
            <a:off x="8103406" y="314325"/>
            <a:ext cx="640544" cy="119703"/>
          </a:xfrm>
          <a:prstGeom prst="rect">
            <a:avLst/>
          </a:prstGeom>
          <a:noFill/>
          <a:ln/>
        </p:spPr>
        <p:txBody>
          <a:bodyPr wrap="none" lIns="0" tIns="0" rIns="0" bIns="0" rtlCol="0" anchor="t"/>
          <a:lstStyle/>
          <a:p>
            <a:pPr marL="0" indent="0" algn="r">
              <a:lnSpc>
                <a:spcPts val="928"/>
              </a:lnSpc>
              <a:buNone/>
            </a:pPr>
            <a:r>
              <a:rPr lang="en-US" sz="800" kern="0" spc="186" dirty="0">
                <a:solidFill>
                  <a:srgbClr val="95D5B2"/>
                </a:solidFill>
                <a:latin typeface="Liberation Sans Narrow" pitchFamily="34" charset="0"/>
                <a:ea typeface="Liberation Sans Narrow" pitchFamily="34" charset="-122"/>
                <a:cs typeface="Liberation Sans Narrow" pitchFamily="34" charset="-120"/>
              </a:rPr>
              <a:t>03 / 03</a:t>
            </a:r>
            <a:endParaRPr lang="en-US" sz="800" dirty="0"/>
          </a:p>
        </p:txBody>
      </p:sp>
      <p:sp>
        <p:nvSpPr>
          <p:cNvPr id="12" name="Text 7"/>
          <p:cNvSpPr/>
          <p:nvPr/>
        </p:nvSpPr>
        <p:spPr>
          <a:xfrm>
            <a:off x="287801" y="1609192"/>
            <a:ext cx="2020675" cy="1083149"/>
          </a:xfrm>
          <a:prstGeom prst="rect">
            <a:avLst/>
          </a:prstGeom>
          <a:noFill/>
          <a:ln/>
        </p:spPr>
        <p:txBody>
          <a:bodyPr wrap="none" lIns="0" tIns="0" rIns="0" bIns="0" rtlCol="0" anchor="t"/>
          <a:lstStyle/>
          <a:p>
            <a:pPr marL="0" indent="0" algn="l">
              <a:lnSpc>
                <a:spcPts val="7898"/>
              </a:lnSpc>
              <a:buNone/>
            </a:pPr>
            <a:r>
              <a:rPr lang="en-US" sz="8775" b="1" i="1" kern="0" spc="-175" dirty="0">
                <a:solidFill>
                  <a:srgbClr val="FFF100"/>
                </a:solidFill>
                <a:latin typeface="Liberation Sans Narrow" pitchFamily="34" charset="0"/>
                <a:ea typeface="Liberation Sans Narrow" pitchFamily="34" charset="-122"/>
                <a:cs typeface="Liberation Sans Narrow" pitchFamily="34" charset="-120"/>
              </a:rPr>
              <a:t>03</a:t>
            </a:r>
            <a:endParaRPr lang="en-US" sz="8775" dirty="0"/>
          </a:p>
        </p:txBody>
      </p:sp>
      <p:sp>
        <p:nvSpPr>
          <p:cNvPr id="13" name="Text 8"/>
          <p:cNvSpPr/>
          <p:nvPr/>
        </p:nvSpPr>
        <p:spPr>
          <a:xfrm>
            <a:off x="1927138" y="928688"/>
            <a:ext cx="457200" cy="21431"/>
          </a:xfrm>
          <a:prstGeom prst="rect">
            <a:avLst/>
          </a:prstGeom>
          <a:solidFill>
            <a:srgbClr val="FFF100"/>
          </a:solidFill>
          <a:ln/>
        </p:spPr>
        <p:txBody>
          <a:bodyPr wrap="square" rtlCol="0" anchor="ctr"/>
          <a:lstStyle/>
          <a:p>
            <a:pPr marL="0" indent="0">
              <a:buNone/>
            </a:pPr>
            <a:endParaRPr lang="en-US" dirty="0"/>
          </a:p>
        </p:txBody>
      </p:sp>
      <p:sp>
        <p:nvSpPr>
          <p:cNvPr id="14" name="Text 9"/>
          <p:cNvSpPr/>
          <p:nvPr/>
        </p:nvSpPr>
        <p:spPr>
          <a:xfrm>
            <a:off x="1927138" y="1064419"/>
            <a:ext cx="4225776" cy="164592"/>
          </a:xfrm>
          <a:prstGeom prst="rect">
            <a:avLst/>
          </a:prstGeom>
          <a:noFill/>
          <a:ln/>
        </p:spPr>
        <p:txBody>
          <a:bodyPr wrap="none" lIns="0" tIns="0" rIns="0" bIns="0" rtlCol="0" anchor="t"/>
          <a:lstStyle/>
          <a:p>
            <a:pPr marL="0" indent="0" algn="l">
              <a:lnSpc>
                <a:spcPts val="1097"/>
              </a:lnSpc>
              <a:buNone/>
            </a:pPr>
            <a:r>
              <a:rPr lang="en-US" sz="800" kern="0" spc="234" dirty="0">
                <a:solidFill>
                  <a:srgbClr val="FFF100"/>
                </a:solidFill>
                <a:latin typeface="Carlito" pitchFamily="34" charset="0"/>
                <a:ea typeface="Carlito" pitchFamily="34" charset="-122"/>
                <a:cs typeface="Carlito" pitchFamily="34" charset="-120"/>
              </a:rPr>
              <a:t>SECTION THREE / THREE</a:t>
            </a:r>
            <a:endParaRPr lang="en-US" sz="800" dirty="0"/>
          </a:p>
        </p:txBody>
      </p:sp>
      <p:sp>
        <p:nvSpPr>
          <p:cNvPr id="15" name="Text 10"/>
          <p:cNvSpPr/>
          <p:nvPr/>
        </p:nvSpPr>
        <p:spPr>
          <a:xfrm>
            <a:off x="1713287" y="1276744"/>
            <a:ext cx="3339335" cy="882432"/>
          </a:xfrm>
          <a:prstGeom prst="rect">
            <a:avLst/>
          </a:prstGeom>
          <a:noFill/>
          <a:ln/>
        </p:spPr>
        <p:txBody>
          <a:bodyPr wrap="none" lIns="0" tIns="0" rIns="0" bIns="0" rtlCol="0" anchor="t"/>
          <a:lstStyle/>
          <a:p>
            <a:pPr marL="0" indent="0" algn="l">
              <a:lnSpc>
                <a:spcPts val="3218"/>
              </a:lnSpc>
              <a:buNone/>
            </a:pPr>
            <a:r>
              <a:rPr lang="en-US" sz="2925" kern="0" spc="-29" dirty="0">
                <a:solidFill>
                  <a:srgbClr val="F4F1DE"/>
                </a:solidFill>
                <a:latin typeface="Tinos" pitchFamily="34" charset="0"/>
                <a:ea typeface="Tinos" pitchFamily="34" charset="-122"/>
                <a:cs typeface="Tinos" pitchFamily="34" charset="-120"/>
              </a:rPr>
              <a:t>Match Dynamics &amp;</a:t>
            </a:r>
            <a:endParaRPr lang="en-US" sz="2925" dirty="0"/>
          </a:p>
          <a:p>
            <a:pPr marL="0" indent="0" algn="l">
              <a:lnSpc>
                <a:spcPts val="3218"/>
              </a:lnSpc>
              <a:buNone/>
            </a:pPr>
            <a:r>
              <a:rPr lang="en-US" sz="2925" kern="0" spc="-29" dirty="0">
                <a:solidFill>
                  <a:srgbClr val="F4F1DE"/>
                </a:solidFill>
                <a:latin typeface="Tinos" pitchFamily="34" charset="0"/>
                <a:ea typeface="Tinos" pitchFamily="34" charset="-122"/>
                <a:cs typeface="Tinos" pitchFamily="34" charset="-120"/>
              </a:rPr>
              <a:t>Data Quality</a:t>
            </a:r>
            <a:endParaRPr lang="en-US" sz="2925" dirty="0"/>
          </a:p>
        </p:txBody>
      </p:sp>
      <p:sp>
        <p:nvSpPr>
          <p:cNvPr id="16" name="Text 11"/>
          <p:cNvSpPr/>
          <p:nvPr/>
        </p:nvSpPr>
        <p:spPr>
          <a:xfrm>
            <a:off x="835819" y="2438323"/>
            <a:ext cx="3278620" cy="231458"/>
          </a:xfrm>
          <a:prstGeom prst="rect">
            <a:avLst/>
          </a:prstGeom>
          <a:noFill/>
          <a:ln/>
        </p:spPr>
        <p:txBody>
          <a:bodyPr wrap="square" lIns="0" tIns="0" rIns="0" bIns="0" rtlCol="0" anchor="t"/>
          <a:lstStyle/>
          <a:p>
            <a:pPr marL="0" indent="0" algn="l">
              <a:lnSpc>
                <a:spcPts val="1688"/>
              </a:lnSpc>
              <a:buNone/>
            </a:pPr>
            <a:r>
              <a:rPr lang="en-US" sz="800" kern="0" spc="122" dirty="0">
                <a:solidFill>
                  <a:srgbClr val="95D5B2"/>
                </a:solidFill>
                <a:latin typeface="Carlito" pitchFamily="34" charset="0"/>
                <a:ea typeface="Carlito" pitchFamily="34" charset="-122"/>
                <a:cs typeface="Carlito" pitchFamily="34" charset="-120"/>
              </a:rPr>
              <a:t>PRESENTED BY   </a:t>
            </a:r>
            <a:r>
              <a:rPr lang="en-US" sz="1125" kern="0" spc="45" dirty="0" err="1">
                <a:solidFill>
                  <a:srgbClr val="D8D4BE"/>
                </a:solidFill>
                <a:latin typeface="Carlito" pitchFamily="34" charset="0"/>
                <a:ea typeface="Carlito" pitchFamily="34" charset="-122"/>
                <a:cs typeface="Carlito" pitchFamily="34" charset="-120"/>
              </a:rPr>
              <a:t>Yasamn</a:t>
            </a:r>
            <a:r>
              <a:rPr lang="en-US" sz="1125" kern="0" spc="45" dirty="0">
                <a:solidFill>
                  <a:srgbClr val="D8D4BE"/>
                </a:solidFill>
                <a:latin typeface="Carlito" pitchFamily="34" charset="0"/>
                <a:ea typeface="Carlito" pitchFamily="34" charset="-122"/>
                <a:cs typeface="Carlito" pitchFamily="34" charset="-120"/>
              </a:rPr>
              <a:t> Aghaei</a:t>
            </a:r>
            <a:endParaRPr lang="en-US" sz="1125" dirty="0"/>
          </a:p>
        </p:txBody>
      </p:sp>
      <p:sp>
        <p:nvSpPr>
          <p:cNvPr id="17" name="Shape 12"/>
          <p:cNvSpPr/>
          <p:nvPr/>
        </p:nvSpPr>
        <p:spPr>
          <a:xfrm>
            <a:off x="632222" y="2863751"/>
            <a:ext cx="0" cy="1478756"/>
          </a:xfrm>
          <a:prstGeom prst="line">
            <a:avLst/>
          </a:prstGeom>
          <a:noFill/>
          <a:ln w="7144">
            <a:solidFill>
              <a:srgbClr val="FFF100"/>
            </a:solidFill>
            <a:prstDash val="solid"/>
          </a:ln>
        </p:spPr>
      </p:sp>
      <p:sp>
        <p:nvSpPr>
          <p:cNvPr id="18" name="Text 13"/>
          <p:cNvSpPr/>
          <p:nvPr/>
        </p:nvSpPr>
        <p:spPr>
          <a:xfrm>
            <a:off x="835819" y="2863751"/>
            <a:ext cx="6793706" cy="164592"/>
          </a:xfrm>
          <a:prstGeom prst="rect">
            <a:avLst/>
          </a:prstGeom>
          <a:noFill/>
          <a:ln/>
        </p:spPr>
        <p:txBody>
          <a:bodyPr wrap="none" lIns="0" tIns="0" rIns="0" bIns="0" rtlCol="0" anchor="t"/>
          <a:lstStyle/>
          <a:p>
            <a:pPr marL="0" indent="0" algn="l">
              <a:lnSpc>
                <a:spcPts val="1097"/>
              </a:lnSpc>
              <a:buNone/>
            </a:pPr>
            <a:r>
              <a:rPr lang="en-US" sz="800" kern="0" spc="234" dirty="0">
                <a:solidFill>
                  <a:srgbClr val="95D5B2"/>
                </a:solidFill>
                <a:latin typeface="Carlito" pitchFamily="34" charset="0"/>
                <a:ea typeface="Carlito" pitchFamily="34" charset="-122"/>
                <a:cs typeface="Carlito" pitchFamily="34" charset="-120"/>
              </a:rPr>
              <a:t>QUESTIONS IN THIS SECTION</a:t>
            </a:r>
            <a:endParaRPr lang="en-US" sz="800" dirty="0"/>
          </a:p>
        </p:txBody>
      </p:sp>
      <p:sp>
        <p:nvSpPr>
          <p:cNvPr id="19" name="Text 14"/>
          <p:cNvSpPr/>
          <p:nvPr/>
        </p:nvSpPr>
        <p:spPr>
          <a:xfrm>
            <a:off x="835819" y="3088779"/>
            <a:ext cx="3386673" cy="219456"/>
          </a:xfrm>
          <a:prstGeom prst="rect">
            <a:avLst/>
          </a:prstGeom>
          <a:noFill/>
          <a:ln/>
        </p:spPr>
        <p:txBody>
          <a:bodyPr wrap="none" lIns="0" tIns="0" rIns="0" bIns="0" rtlCol="0" anchor="t"/>
          <a:lstStyle/>
          <a:p>
            <a:pPr marL="0" indent="0" algn="l">
              <a:lnSpc>
                <a:spcPts val="1519"/>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Q3</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Carlito" pitchFamily="34" charset="0"/>
                <a:ea typeface="Carlito" pitchFamily="34" charset="-122"/>
                <a:cs typeface="Carlito" pitchFamily="34" charset="-120"/>
              </a:rPr>
              <a:t>Highest number of wins</a:t>
            </a:r>
            <a:endParaRPr lang="en-US" sz="1000" dirty="0">
              <a:solidFill>
                <a:srgbClr val="FFFF00"/>
              </a:solidFill>
            </a:endParaRPr>
          </a:p>
        </p:txBody>
      </p:sp>
      <p:sp>
        <p:nvSpPr>
          <p:cNvPr id="20" name="Text 15"/>
          <p:cNvSpPr/>
          <p:nvPr/>
        </p:nvSpPr>
        <p:spPr>
          <a:xfrm>
            <a:off x="5952698" y="3088779"/>
            <a:ext cx="3335131" cy="219456"/>
          </a:xfrm>
          <a:prstGeom prst="rect">
            <a:avLst/>
          </a:prstGeom>
          <a:noFill/>
          <a:ln/>
        </p:spPr>
        <p:txBody>
          <a:bodyPr wrap="square" lIns="0" tIns="0" rIns="0" bIns="0" rtlCol="0" anchor="t"/>
          <a:lstStyle/>
          <a:p>
            <a:pPr marL="0" indent="0" algn="l">
              <a:lnSpc>
                <a:spcPts val="1519"/>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Q4</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Carlito" pitchFamily="34" charset="0"/>
                <a:ea typeface="Carlito" pitchFamily="34" charset="-122"/>
                <a:cs typeface="Carlito" pitchFamily="34" charset="-120"/>
              </a:rPr>
              <a:t>Longest match by duration</a:t>
            </a:r>
            <a:endParaRPr lang="en-US" sz="1000" dirty="0">
              <a:solidFill>
                <a:srgbClr val="FFFF00"/>
              </a:solidFill>
            </a:endParaRPr>
          </a:p>
        </p:txBody>
      </p:sp>
      <p:sp>
        <p:nvSpPr>
          <p:cNvPr id="21" name="Text 16"/>
          <p:cNvSpPr/>
          <p:nvPr/>
        </p:nvSpPr>
        <p:spPr>
          <a:xfrm>
            <a:off x="835819" y="3281660"/>
            <a:ext cx="3386673" cy="219456"/>
          </a:xfrm>
          <a:prstGeom prst="rect">
            <a:avLst/>
          </a:prstGeom>
          <a:noFill/>
          <a:ln/>
        </p:spPr>
        <p:txBody>
          <a:bodyPr wrap="none" lIns="0" tIns="0" rIns="0" bIns="0" rtlCol="0" anchor="t"/>
          <a:lstStyle/>
          <a:p>
            <a:pPr marL="0" indent="0" algn="l">
              <a:lnSpc>
                <a:spcPts val="1519"/>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Q5</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Carlito" pitchFamily="34" charset="0"/>
                <a:ea typeface="Carlito" pitchFamily="34" charset="-122"/>
                <a:cs typeface="Carlito" pitchFamily="34" charset="-120"/>
              </a:rPr>
              <a:t>Typical number of sets</a:t>
            </a:r>
            <a:endParaRPr lang="en-US" sz="1000" dirty="0">
              <a:solidFill>
                <a:srgbClr val="FFFF00"/>
              </a:solidFill>
            </a:endParaRPr>
          </a:p>
        </p:txBody>
      </p:sp>
      <p:sp>
        <p:nvSpPr>
          <p:cNvPr id="22" name="Text 17"/>
          <p:cNvSpPr/>
          <p:nvPr/>
        </p:nvSpPr>
        <p:spPr>
          <a:xfrm>
            <a:off x="5952698" y="3281660"/>
            <a:ext cx="3335131" cy="219456"/>
          </a:xfrm>
          <a:prstGeom prst="rect">
            <a:avLst/>
          </a:prstGeom>
          <a:noFill/>
          <a:ln/>
        </p:spPr>
        <p:txBody>
          <a:bodyPr wrap="square" lIns="0" tIns="0" rIns="0" bIns="0" rtlCol="0" anchor="t"/>
          <a:lstStyle/>
          <a:p>
            <a:pPr marL="0" indent="0" algn="l">
              <a:lnSpc>
                <a:spcPts val="1519"/>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Q6</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Carlito" pitchFamily="34" charset="0"/>
                <a:ea typeface="Carlito" pitchFamily="34" charset="-122"/>
                <a:cs typeface="Carlito" pitchFamily="34" charset="-120"/>
              </a:rPr>
              <a:t>Most successful countries</a:t>
            </a:r>
            <a:endParaRPr lang="en-US" sz="1000" dirty="0">
              <a:solidFill>
                <a:srgbClr val="FFFF00"/>
              </a:solidFill>
            </a:endParaRPr>
          </a:p>
        </p:txBody>
      </p:sp>
      <p:sp>
        <p:nvSpPr>
          <p:cNvPr id="23" name="Text 18"/>
          <p:cNvSpPr/>
          <p:nvPr/>
        </p:nvSpPr>
        <p:spPr>
          <a:xfrm>
            <a:off x="835819" y="3474541"/>
            <a:ext cx="3483435" cy="219456"/>
          </a:xfrm>
          <a:prstGeom prst="rect">
            <a:avLst/>
          </a:prstGeom>
          <a:noFill/>
          <a:ln/>
        </p:spPr>
        <p:txBody>
          <a:bodyPr wrap="square" lIns="0" tIns="0" rIns="0" bIns="0" rtlCol="0" anchor="t"/>
          <a:lstStyle/>
          <a:p>
            <a:pPr marL="0" indent="0" algn="l">
              <a:lnSpc>
                <a:spcPts val="1519"/>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Q9</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Carlito" pitchFamily="34" charset="0"/>
                <a:ea typeface="Carlito" pitchFamily="34" charset="-122"/>
                <a:cs typeface="Carlito" pitchFamily="34" charset="-120"/>
              </a:rPr>
              <a:t>Most  tournaments won by a player in a single month</a:t>
            </a:r>
            <a:endParaRPr lang="en-US" sz="1000" dirty="0">
              <a:solidFill>
                <a:srgbClr val="FFFF00"/>
              </a:solidFill>
            </a:endParaRPr>
          </a:p>
        </p:txBody>
      </p:sp>
      <p:sp>
        <p:nvSpPr>
          <p:cNvPr id="24" name="Text 19"/>
          <p:cNvSpPr/>
          <p:nvPr/>
        </p:nvSpPr>
        <p:spPr>
          <a:xfrm>
            <a:off x="5952698" y="3474541"/>
            <a:ext cx="3335131" cy="219456"/>
          </a:xfrm>
          <a:prstGeom prst="rect">
            <a:avLst/>
          </a:prstGeom>
          <a:noFill/>
          <a:ln/>
        </p:spPr>
        <p:txBody>
          <a:bodyPr wrap="square" lIns="0" tIns="0" rIns="0" bIns="0" rtlCol="0" anchor="t"/>
          <a:lstStyle/>
          <a:p>
            <a:pPr marL="0" indent="0" algn="l">
              <a:lnSpc>
                <a:spcPts val="1519"/>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Q11</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Carlito" pitchFamily="34" charset="0"/>
                <a:ea typeface="Carlito" pitchFamily="34" charset="-122"/>
                <a:cs typeface="Carlito" pitchFamily="34" charset="-120"/>
              </a:rPr>
              <a:t>Average match duration</a:t>
            </a:r>
            <a:endParaRPr lang="en-US" sz="1000" dirty="0">
              <a:solidFill>
                <a:srgbClr val="FFFF00"/>
              </a:solidFill>
            </a:endParaRPr>
          </a:p>
        </p:txBody>
      </p:sp>
      <p:sp>
        <p:nvSpPr>
          <p:cNvPr id="25" name="Text 20"/>
          <p:cNvSpPr/>
          <p:nvPr/>
        </p:nvSpPr>
        <p:spPr>
          <a:xfrm>
            <a:off x="835819" y="3667423"/>
            <a:ext cx="3386673" cy="219456"/>
          </a:xfrm>
          <a:prstGeom prst="rect">
            <a:avLst/>
          </a:prstGeom>
          <a:noFill/>
          <a:ln/>
        </p:spPr>
        <p:txBody>
          <a:bodyPr wrap="none" lIns="0" tIns="0" rIns="0" bIns="0" rtlCol="0" anchor="t"/>
          <a:lstStyle/>
          <a:p>
            <a:pPr marL="0" indent="0" algn="l">
              <a:lnSpc>
                <a:spcPts val="1519"/>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Q14</a:t>
            </a:r>
            <a:r>
              <a:rPr lang="en-US" sz="1000" kern="0" spc="68" dirty="0">
                <a:solidFill>
                  <a:srgbClr val="FFFF00"/>
                </a:solidFill>
                <a:latin typeface="Liberation Sans Narrow" pitchFamily="34" charset="0"/>
                <a:ea typeface="Liberation Sans Narrow" pitchFamily="34" charset="-122"/>
                <a:cs typeface="Liberation Sans Narrow" pitchFamily="34" charset="-120"/>
              </a:rPr>
              <a:t> </a:t>
            </a:r>
            <a:r>
              <a:rPr lang="en-US" sz="1000" kern="0" spc="11" dirty="0">
                <a:solidFill>
                  <a:srgbClr val="FFFF00"/>
                </a:solidFill>
                <a:latin typeface="Carlito" pitchFamily="34" charset="0"/>
                <a:ea typeface="Carlito" pitchFamily="34" charset="-122"/>
                <a:cs typeface="Carlito" pitchFamily="34" charset="-120"/>
              </a:rPr>
              <a:t>Most common surface</a:t>
            </a:r>
            <a:endParaRPr lang="en-US" sz="1000" dirty="0">
              <a:solidFill>
                <a:srgbClr val="FFFF00"/>
              </a:solidFill>
            </a:endParaRPr>
          </a:p>
        </p:txBody>
      </p:sp>
      <p:sp>
        <p:nvSpPr>
          <p:cNvPr id="26" name="Text 21"/>
          <p:cNvSpPr/>
          <p:nvPr/>
        </p:nvSpPr>
        <p:spPr>
          <a:xfrm>
            <a:off x="5952698" y="3703749"/>
            <a:ext cx="411480" cy="219456"/>
          </a:xfrm>
          <a:prstGeom prst="rect">
            <a:avLst/>
          </a:prstGeom>
          <a:noFill/>
          <a:ln/>
        </p:spPr>
        <p:txBody>
          <a:bodyPr wrap="none" lIns="0" tIns="0" rIns="0" bIns="0" rtlCol="0" anchor="t"/>
          <a:lstStyle/>
          <a:p>
            <a:pPr marL="0" indent="0" algn="l">
              <a:lnSpc>
                <a:spcPts val="1350"/>
              </a:lnSpc>
              <a:buNone/>
            </a:pPr>
            <a:r>
              <a:rPr lang="en-US" sz="1000" kern="0" spc="68" dirty="0">
                <a:solidFill>
                  <a:schemeClr val="bg1"/>
                </a:solidFill>
                <a:latin typeface="Liberation Sans Narrow" pitchFamily="34" charset="0"/>
                <a:ea typeface="Liberation Sans Narrow" pitchFamily="34" charset="-122"/>
                <a:cs typeface="Liberation Sans Narrow" pitchFamily="34" charset="-120"/>
              </a:rPr>
              <a:t>OP1</a:t>
            </a:r>
            <a:endParaRPr lang="en-US" sz="1000" dirty="0">
              <a:solidFill>
                <a:schemeClr val="bg1"/>
              </a:solidFill>
            </a:endParaRPr>
          </a:p>
        </p:txBody>
      </p:sp>
      <p:sp>
        <p:nvSpPr>
          <p:cNvPr id="27" name="Text 22"/>
          <p:cNvSpPr/>
          <p:nvPr/>
        </p:nvSpPr>
        <p:spPr>
          <a:xfrm>
            <a:off x="6299171" y="3687567"/>
            <a:ext cx="1012285" cy="212920"/>
          </a:xfrm>
          <a:prstGeom prst="rect">
            <a:avLst/>
          </a:prstGeom>
          <a:noFill/>
          <a:ln/>
        </p:spPr>
        <p:txBody>
          <a:bodyPr wrap="none" lIns="0" tIns="0" rIns="0" bIns="0" rtlCol="0" anchor="t"/>
          <a:lstStyle/>
          <a:p>
            <a:pPr marL="0" indent="0" algn="l">
              <a:lnSpc>
                <a:spcPts val="1519"/>
              </a:lnSpc>
              <a:buNone/>
            </a:pPr>
            <a:r>
              <a:rPr lang="en-US" sz="1000" kern="0" spc="11" dirty="0">
                <a:solidFill>
                  <a:srgbClr val="FFFF00"/>
                </a:solidFill>
                <a:latin typeface="Carlito" pitchFamily="34" charset="0"/>
                <a:ea typeface="Carlito" pitchFamily="34" charset="-122"/>
                <a:cs typeface="Carlito" pitchFamily="34" charset="-120"/>
              </a:rPr>
              <a:t>Duration by surface</a:t>
            </a:r>
            <a:endParaRPr lang="en-US" sz="1000" dirty="0">
              <a:solidFill>
                <a:srgbClr val="FFFF00"/>
              </a:solidFill>
            </a:endParaRPr>
          </a:p>
        </p:txBody>
      </p:sp>
      <p:sp>
        <p:nvSpPr>
          <p:cNvPr id="28" name="Text 23"/>
          <p:cNvSpPr/>
          <p:nvPr/>
        </p:nvSpPr>
        <p:spPr>
          <a:xfrm>
            <a:off x="835819" y="3926543"/>
            <a:ext cx="411480" cy="219456"/>
          </a:xfrm>
          <a:prstGeom prst="rect">
            <a:avLst/>
          </a:prstGeom>
          <a:noFill/>
          <a:ln/>
        </p:spPr>
        <p:txBody>
          <a:bodyPr wrap="none" lIns="0" tIns="0" rIns="0" bIns="0" rtlCol="0" anchor="t"/>
          <a:lstStyle/>
          <a:p>
            <a:pPr marL="0" indent="0" algn="l">
              <a:lnSpc>
                <a:spcPts val="1350"/>
              </a:lnSpc>
              <a:buNone/>
            </a:pPr>
            <a:r>
              <a:rPr lang="en-US" sz="1000" kern="0" spc="68" dirty="0">
                <a:solidFill>
                  <a:schemeClr val="bg1"/>
                </a:solidFill>
                <a:latin typeface="Liberation Sans Narrow" pitchFamily="34" charset="0"/>
                <a:ea typeface="Liberation Sans Narrow" pitchFamily="34" charset="-122"/>
              </a:rPr>
              <a:t>OP2</a:t>
            </a:r>
            <a:endParaRPr lang="en-US" sz="1000" dirty="0">
              <a:solidFill>
                <a:schemeClr val="bg1"/>
              </a:solidFill>
            </a:endParaRPr>
          </a:p>
        </p:txBody>
      </p:sp>
      <p:sp>
        <p:nvSpPr>
          <p:cNvPr id="29" name="Text 24"/>
          <p:cNvSpPr/>
          <p:nvPr/>
        </p:nvSpPr>
        <p:spPr>
          <a:xfrm>
            <a:off x="1173015" y="3903166"/>
            <a:ext cx="1356140" cy="196452"/>
          </a:xfrm>
          <a:prstGeom prst="rect">
            <a:avLst/>
          </a:prstGeom>
          <a:noFill/>
          <a:ln/>
        </p:spPr>
        <p:txBody>
          <a:bodyPr wrap="none" lIns="0" tIns="0" rIns="0" bIns="0" rtlCol="0" anchor="t"/>
          <a:lstStyle/>
          <a:p>
            <a:pPr marL="0" indent="0" algn="l">
              <a:lnSpc>
                <a:spcPts val="1519"/>
              </a:lnSpc>
              <a:buNone/>
            </a:pPr>
            <a:r>
              <a:rPr lang="en-US" sz="1000" kern="0" spc="11" dirty="0">
                <a:solidFill>
                  <a:srgbClr val="FFFF00"/>
                </a:solidFill>
                <a:latin typeface="Carlito" pitchFamily="34" charset="0"/>
                <a:ea typeface="Carlito" pitchFamily="34" charset="-122"/>
                <a:cs typeface="Carlito" pitchFamily="34" charset="-120"/>
              </a:rPr>
              <a:t>Same players: Hard vs Clay</a:t>
            </a:r>
            <a:endParaRPr lang="en-US" sz="1000" dirty="0">
              <a:solidFill>
                <a:srgbClr val="FFFF00"/>
              </a:solidFill>
            </a:endParaRPr>
          </a:p>
        </p:txBody>
      </p:sp>
      <p:sp>
        <p:nvSpPr>
          <p:cNvPr id="30" name="Text 25"/>
          <p:cNvSpPr/>
          <p:nvPr/>
        </p:nvSpPr>
        <p:spPr>
          <a:xfrm>
            <a:off x="5952698" y="3883307"/>
            <a:ext cx="3225403" cy="219456"/>
          </a:xfrm>
          <a:prstGeom prst="rect">
            <a:avLst/>
          </a:prstGeom>
          <a:noFill/>
          <a:ln/>
        </p:spPr>
        <p:txBody>
          <a:bodyPr wrap="none" lIns="0" tIns="0" rIns="0" bIns="0" rtlCol="0" anchor="t"/>
          <a:lstStyle/>
          <a:p>
            <a:pPr marL="0" indent="0" algn="l">
              <a:lnSpc>
                <a:spcPts val="1519"/>
              </a:lnSpc>
              <a:buNone/>
            </a:pPr>
            <a:r>
              <a:rPr lang="en-US" sz="1000" kern="0" spc="68" dirty="0">
                <a:solidFill>
                  <a:schemeClr val="bg1"/>
                </a:solidFill>
                <a:latin typeface="Segoe UI Symbol" pitchFamily="34" charset="0"/>
                <a:ea typeface="Segoe UI Symbol" pitchFamily="34" charset="-122"/>
                <a:cs typeface="Segoe UI Symbol" pitchFamily="34" charset="-120"/>
              </a:rPr>
              <a:t>★</a:t>
            </a:r>
            <a:r>
              <a:rPr lang="en-US" sz="1000" kern="0" spc="68" dirty="0">
                <a:solidFill>
                  <a:srgbClr val="FFFF00"/>
                </a:solidFill>
                <a:latin typeface="Segoe UI Symbol" pitchFamily="34" charset="0"/>
                <a:ea typeface="Segoe UI Symbol" pitchFamily="34" charset="-122"/>
                <a:cs typeface="Segoe UI Symbol" pitchFamily="34" charset="-120"/>
              </a:rPr>
              <a:t> </a:t>
            </a:r>
            <a:r>
              <a:rPr lang="en-US" sz="1000" kern="0" spc="11" dirty="0">
                <a:solidFill>
                  <a:srgbClr val="FFFF00"/>
                </a:solidFill>
                <a:latin typeface="Carlito" pitchFamily="34" charset="0"/>
                <a:ea typeface="Carlito" pitchFamily="34" charset="-122"/>
                <a:cs typeface="Carlito" pitchFamily="34" charset="-120"/>
              </a:rPr>
              <a:t>Scoring-rule validator</a:t>
            </a:r>
            <a:endParaRPr lang="en-US" sz="1000" dirty="0">
              <a:solidFill>
                <a:srgbClr val="FFFF00"/>
              </a:solidFill>
            </a:endParaRPr>
          </a:p>
        </p:txBody>
      </p:sp>
      <p:sp>
        <p:nvSpPr>
          <p:cNvPr id="34" name="Text 29"/>
          <p:cNvSpPr/>
          <p:nvPr/>
        </p:nvSpPr>
        <p:spPr>
          <a:xfrm>
            <a:off x="457200" y="4868466"/>
            <a:ext cx="7875984"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6FA68A"/>
                </a:solidFill>
                <a:latin typeface="Carlito" pitchFamily="34" charset="0"/>
                <a:ea typeface="Carlito" pitchFamily="34" charset="-122"/>
                <a:cs typeface="Carlito" pitchFamily="34" charset="-120"/>
              </a:rPr>
              <a:t>YASAMAN AGHAEI · MATCH DYNAMICS &amp; DATA QUALITY</a:t>
            </a:r>
            <a:endParaRPr lang="en-US" sz="800" dirty="0"/>
          </a:p>
        </p:txBody>
      </p:sp>
      <p:sp>
        <p:nvSpPr>
          <p:cNvPr id="35" name="Text 30"/>
          <p:cNvSpPr/>
          <p:nvPr/>
        </p:nvSpPr>
        <p:spPr>
          <a:xfrm>
            <a:off x="8347472" y="4868466"/>
            <a:ext cx="508727"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95D5B2"/>
                </a:solidFill>
                <a:latin typeface="Liberation Sans Narrow" pitchFamily="34" charset="0"/>
                <a:ea typeface="Liberation Sans Narrow" pitchFamily="34" charset="-122"/>
                <a:cs typeface="Liberation Sans Narrow" pitchFamily="34" charset="-120"/>
              </a:rPr>
              <a:t>19 / 30</a:t>
            </a:r>
            <a:endParaRPr lang="en-US" sz="800" dirty="0"/>
          </a:p>
        </p:txBody>
      </p:sp>
      <p:sp>
        <p:nvSpPr>
          <p:cNvPr id="39" name="Shape 9">
            <a:extLst>
              <a:ext uri="{FF2B5EF4-FFF2-40B4-BE49-F238E27FC236}">
                <a16:creationId xmlns:a16="http://schemas.microsoft.com/office/drawing/2014/main" id="{47600825-4853-10AB-80A9-6769E41E66F6}"/>
              </a:ext>
            </a:extLst>
          </p:cNvPr>
          <p:cNvSpPr/>
          <p:nvPr/>
        </p:nvSpPr>
        <p:spPr>
          <a:xfrm>
            <a:off x="711963" y="3281660"/>
            <a:ext cx="2600325" cy="0"/>
          </a:xfrm>
          <a:prstGeom prst="line">
            <a:avLst/>
          </a:prstGeom>
          <a:noFill/>
          <a:ln w="7144">
            <a:solidFill>
              <a:srgbClr val="F4F1DE"/>
            </a:solidFill>
            <a:prstDash val="solid"/>
          </a:ln>
        </p:spPr>
      </p:sp>
      <p:sp>
        <p:nvSpPr>
          <p:cNvPr id="41" name="Shape 9">
            <a:extLst>
              <a:ext uri="{FF2B5EF4-FFF2-40B4-BE49-F238E27FC236}">
                <a16:creationId xmlns:a16="http://schemas.microsoft.com/office/drawing/2014/main" id="{566DBCFE-A325-330E-4E39-BD51262B490F}"/>
              </a:ext>
            </a:extLst>
          </p:cNvPr>
          <p:cNvSpPr/>
          <p:nvPr/>
        </p:nvSpPr>
        <p:spPr>
          <a:xfrm>
            <a:off x="711963" y="3500736"/>
            <a:ext cx="2600325" cy="0"/>
          </a:xfrm>
          <a:prstGeom prst="line">
            <a:avLst/>
          </a:prstGeom>
          <a:noFill/>
          <a:ln w="7144">
            <a:solidFill>
              <a:srgbClr val="F4F1DE"/>
            </a:solidFill>
            <a:prstDash val="solid"/>
          </a:ln>
        </p:spPr>
      </p:sp>
      <p:sp>
        <p:nvSpPr>
          <p:cNvPr id="43" name="Shape 9">
            <a:extLst>
              <a:ext uri="{FF2B5EF4-FFF2-40B4-BE49-F238E27FC236}">
                <a16:creationId xmlns:a16="http://schemas.microsoft.com/office/drawing/2014/main" id="{47B87A92-96F1-6C78-3B86-1CF9B455CC14}"/>
              </a:ext>
            </a:extLst>
          </p:cNvPr>
          <p:cNvSpPr/>
          <p:nvPr/>
        </p:nvSpPr>
        <p:spPr>
          <a:xfrm flipV="1">
            <a:off x="711964" y="3674369"/>
            <a:ext cx="2600324" cy="2519"/>
          </a:xfrm>
          <a:prstGeom prst="line">
            <a:avLst/>
          </a:prstGeom>
          <a:noFill/>
          <a:ln w="7144">
            <a:solidFill>
              <a:srgbClr val="F4F1DE"/>
            </a:solidFill>
            <a:prstDash val="solid"/>
          </a:ln>
        </p:spPr>
      </p:sp>
      <p:sp>
        <p:nvSpPr>
          <p:cNvPr id="45" name="Shape 9">
            <a:extLst>
              <a:ext uri="{FF2B5EF4-FFF2-40B4-BE49-F238E27FC236}">
                <a16:creationId xmlns:a16="http://schemas.microsoft.com/office/drawing/2014/main" id="{05BA28F3-8B4D-AE9A-0374-83E726306A85}"/>
              </a:ext>
            </a:extLst>
          </p:cNvPr>
          <p:cNvSpPr/>
          <p:nvPr/>
        </p:nvSpPr>
        <p:spPr>
          <a:xfrm>
            <a:off x="711963" y="3889811"/>
            <a:ext cx="2600325" cy="0"/>
          </a:xfrm>
          <a:prstGeom prst="line">
            <a:avLst/>
          </a:prstGeom>
          <a:noFill/>
          <a:ln w="7144">
            <a:solidFill>
              <a:srgbClr val="F4F1DE"/>
            </a:solidFill>
            <a:prstDash val="solid"/>
          </a:ln>
        </p:spPr>
      </p:sp>
      <p:sp>
        <p:nvSpPr>
          <p:cNvPr id="47" name="Shape 9">
            <a:extLst>
              <a:ext uri="{FF2B5EF4-FFF2-40B4-BE49-F238E27FC236}">
                <a16:creationId xmlns:a16="http://schemas.microsoft.com/office/drawing/2014/main" id="{263D3674-CFCB-D44E-79C6-253D99FAC855}"/>
              </a:ext>
            </a:extLst>
          </p:cNvPr>
          <p:cNvSpPr/>
          <p:nvPr/>
        </p:nvSpPr>
        <p:spPr>
          <a:xfrm>
            <a:off x="5771068" y="3281660"/>
            <a:ext cx="2600325" cy="0"/>
          </a:xfrm>
          <a:prstGeom prst="line">
            <a:avLst/>
          </a:prstGeom>
          <a:noFill/>
          <a:ln w="7144">
            <a:solidFill>
              <a:srgbClr val="F4F1DE"/>
            </a:solidFill>
            <a:prstDash val="solid"/>
          </a:ln>
        </p:spPr>
      </p:sp>
      <p:sp>
        <p:nvSpPr>
          <p:cNvPr id="49" name="Shape 9">
            <a:extLst>
              <a:ext uri="{FF2B5EF4-FFF2-40B4-BE49-F238E27FC236}">
                <a16:creationId xmlns:a16="http://schemas.microsoft.com/office/drawing/2014/main" id="{ECB92C65-24A0-B05D-66DF-BCF70E13632A}"/>
              </a:ext>
            </a:extLst>
          </p:cNvPr>
          <p:cNvSpPr/>
          <p:nvPr/>
        </p:nvSpPr>
        <p:spPr>
          <a:xfrm>
            <a:off x="5771068" y="3490440"/>
            <a:ext cx="2600325" cy="0"/>
          </a:xfrm>
          <a:prstGeom prst="line">
            <a:avLst/>
          </a:prstGeom>
          <a:noFill/>
          <a:ln w="7144">
            <a:solidFill>
              <a:srgbClr val="F4F1DE"/>
            </a:solidFill>
            <a:prstDash val="solid"/>
          </a:ln>
        </p:spPr>
      </p:sp>
      <p:sp>
        <p:nvSpPr>
          <p:cNvPr id="51" name="Shape 9">
            <a:extLst>
              <a:ext uri="{FF2B5EF4-FFF2-40B4-BE49-F238E27FC236}">
                <a16:creationId xmlns:a16="http://schemas.microsoft.com/office/drawing/2014/main" id="{AC503964-1B57-97CE-2310-DB8FDBF62851}"/>
              </a:ext>
            </a:extLst>
          </p:cNvPr>
          <p:cNvSpPr/>
          <p:nvPr/>
        </p:nvSpPr>
        <p:spPr>
          <a:xfrm>
            <a:off x="5771068" y="3667423"/>
            <a:ext cx="2600325" cy="0"/>
          </a:xfrm>
          <a:prstGeom prst="line">
            <a:avLst/>
          </a:prstGeom>
          <a:noFill/>
          <a:ln w="7144">
            <a:solidFill>
              <a:srgbClr val="F4F1DE"/>
            </a:solidFill>
            <a:prstDash val="solid"/>
          </a:ln>
        </p:spPr>
      </p:sp>
      <p:sp>
        <p:nvSpPr>
          <p:cNvPr id="53" name="Shape 9">
            <a:extLst>
              <a:ext uri="{FF2B5EF4-FFF2-40B4-BE49-F238E27FC236}">
                <a16:creationId xmlns:a16="http://schemas.microsoft.com/office/drawing/2014/main" id="{790DA9D9-80D5-4472-0659-A1483BE4D8FC}"/>
              </a:ext>
            </a:extLst>
          </p:cNvPr>
          <p:cNvSpPr/>
          <p:nvPr/>
        </p:nvSpPr>
        <p:spPr>
          <a:xfrm>
            <a:off x="5771068" y="3883307"/>
            <a:ext cx="2600325" cy="0"/>
          </a:xfrm>
          <a:prstGeom prst="line">
            <a:avLst/>
          </a:prstGeom>
          <a:noFill/>
          <a:ln w="7144">
            <a:solidFill>
              <a:srgbClr val="F4F1DE"/>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5" name="Text 2"/>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sp>
        <p:nvSpPr>
          <p:cNvPr id="9" name="Text 5"/>
          <p:cNvSpPr/>
          <p:nvPr/>
        </p:nvSpPr>
        <p:spPr>
          <a:xfrm>
            <a:off x="5532053" y="412552"/>
            <a:ext cx="3326197" cy="465326"/>
          </a:xfrm>
          <a:prstGeom prst="rect">
            <a:avLst/>
          </a:prstGeom>
          <a:noFill/>
          <a:ln/>
        </p:spPr>
        <p:txBody>
          <a:bodyPr wrap="square" lIns="0" tIns="0" rIns="0" bIns="0" rtlCol="0" anchor="t"/>
          <a:lstStyle/>
          <a:p>
            <a:pPr marL="0" indent="0" algn="l">
              <a:lnSpc>
                <a:spcPts val="1697"/>
              </a:lnSpc>
              <a:buNone/>
            </a:pPr>
            <a:r>
              <a:rPr lang="en-US" sz="1463" b="1" dirty="0">
                <a:solidFill>
                  <a:srgbClr val="F4F1DE"/>
                </a:solidFill>
                <a:latin typeface="Tinos" pitchFamily="34" charset="0"/>
                <a:ea typeface="Tinos" pitchFamily="34" charset="-122"/>
                <a:cs typeface="Tinos" pitchFamily="34" charset="-120"/>
              </a:rPr>
              <a:t>Which Player Has the Highest Number of Wins?</a:t>
            </a:r>
            <a:endParaRPr lang="en-US" sz="1463" dirty="0"/>
          </a:p>
        </p:txBody>
      </p:sp>
      <p:sp>
        <p:nvSpPr>
          <p:cNvPr id="10" name="Text 6"/>
          <p:cNvSpPr/>
          <p:nvPr/>
        </p:nvSpPr>
        <p:spPr>
          <a:xfrm>
            <a:off x="5532053" y="943421"/>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1064865"/>
            <a:ext cx="3326197" cy="1036987"/>
          </a:xfrm>
          <a:prstGeom prst="rect">
            <a:avLst/>
          </a:prstGeom>
          <a:noFill/>
          <a:ln/>
        </p:spPr>
        <p:txBody>
          <a:bodyPr wrap="square" lIns="0" tIns="0" rIns="0" bIns="0" rtlCol="0" anchor="t">
            <a:noAutofit/>
          </a:bodyPr>
          <a:lstStyle/>
          <a:p>
            <a:pPr marL="0" indent="0" algn="l">
              <a:lnSpc>
                <a:spcPts val="1266"/>
              </a:lnSpc>
              <a:buNone/>
            </a:pPr>
            <a:r>
              <a:rPr lang="en-US" sz="900" dirty="0">
                <a:solidFill>
                  <a:srgbClr val="F4F1DE"/>
                </a:solidFill>
                <a:latin typeface="Candara" panose="020E0502030303020204" pitchFamily="34" charset="0"/>
                <a:ea typeface="Carlito" pitchFamily="34" charset="-122"/>
                <a:cs typeface="Carlito" pitchFamily="34" charset="-120"/>
              </a:rPr>
              <a:t>Popko leads with </a:t>
            </a:r>
            <a:r>
              <a:rPr lang="en-US" sz="900" dirty="0">
                <a:solidFill>
                  <a:srgbClr val="FFF100"/>
                </a:solidFill>
                <a:latin typeface="Candara" panose="020E0502030303020204" pitchFamily="34" charset="0"/>
                <a:ea typeface="Liberation Sans Narrow" pitchFamily="34" charset="-122"/>
                <a:cs typeface="Liberation Sans Narrow" pitchFamily="34" charset="-120"/>
              </a:rPr>
              <a:t>28 wins</a:t>
            </a:r>
            <a:r>
              <a:rPr lang="en-US" sz="900" dirty="0">
                <a:solidFill>
                  <a:srgbClr val="F4F1DE"/>
                </a:solidFill>
                <a:latin typeface="Candara" panose="020E0502030303020204" pitchFamily="34" charset="0"/>
                <a:ea typeface="Carlito" pitchFamily="34" charset="-122"/>
                <a:cs typeface="Carlito" pitchFamily="34" charset="-120"/>
              </a:rPr>
              <a:t>, followed by Chidekh (22) and Jianu / Gengel (21 each). The ranking rests on 11,674 wins linked to a player row — about 81% of completed matches with a recorded winner. This is a volume ranking, not a quality ranking: total wins mix how often a player competed and how often they won, so ITF-heavy schedules can produce higher totals than fewer, harder matches at higher tiers.</a:t>
            </a:r>
            <a:endParaRPr lang="en-US" sz="900" dirty="0">
              <a:latin typeface="Candara" panose="020E0502030303020204" pitchFamily="34" charset="0"/>
            </a:endParaRPr>
          </a:p>
        </p:txBody>
      </p:sp>
      <p:sp>
        <p:nvSpPr>
          <p:cNvPr id="12" name="Shape 8"/>
          <p:cNvSpPr/>
          <p:nvPr/>
        </p:nvSpPr>
        <p:spPr>
          <a:xfrm>
            <a:off x="5542769" y="2409503"/>
            <a:ext cx="0" cy="580430"/>
          </a:xfrm>
          <a:prstGeom prst="line">
            <a:avLst/>
          </a:prstGeom>
          <a:noFill/>
          <a:ln w="21431">
            <a:solidFill>
              <a:srgbClr val="FFF100"/>
            </a:solidFill>
            <a:prstDash val="solid"/>
          </a:ln>
        </p:spPr>
      </p:sp>
      <p:sp>
        <p:nvSpPr>
          <p:cNvPr id="13" name="Text 9"/>
          <p:cNvSpPr/>
          <p:nvPr/>
        </p:nvSpPr>
        <p:spPr>
          <a:xfrm>
            <a:off x="5653497" y="2452365"/>
            <a:ext cx="3204753" cy="344043"/>
          </a:xfrm>
          <a:prstGeom prst="rect">
            <a:avLst/>
          </a:prstGeom>
          <a:noFill/>
          <a:ln/>
        </p:spPr>
        <p:txBody>
          <a:bodyPr wrap="none" lIns="0" tIns="0" rIns="0" bIns="0" rtlCol="0" anchor="t">
            <a:normAutofit/>
          </a:bodyPr>
          <a:lstStyle/>
          <a:p>
            <a:pPr marL="0" indent="0" algn="l">
              <a:lnSpc>
                <a:spcPts val="2588"/>
              </a:lnSpc>
              <a:buNone/>
            </a:pPr>
            <a:r>
              <a:rPr lang="en-US" sz="2588" b="1" dirty="0">
                <a:solidFill>
                  <a:srgbClr val="FFF100"/>
                </a:solidFill>
                <a:latin typeface="Liberation Sans Narrow" pitchFamily="34" charset="0"/>
                <a:ea typeface="Liberation Sans Narrow" pitchFamily="34" charset="-122"/>
                <a:cs typeface="Liberation Sans Narrow" pitchFamily="34" charset="-120"/>
              </a:rPr>
              <a:t>28</a:t>
            </a:r>
            <a:endParaRPr lang="en-US" sz="2588" dirty="0"/>
          </a:p>
        </p:txBody>
      </p:sp>
      <p:sp>
        <p:nvSpPr>
          <p:cNvPr id="14" name="Text 10"/>
          <p:cNvSpPr/>
          <p:nvPr/>
        </p:nvSpPr>
        <p:spPr>
          <a:xfrm>
            <a:off x="5653497" y="2823840"/>
            <a:ext cx="3204753" cy="123230"/>
          </a:xfrm>
          <a:prstGeom prst="rect">
            <a:avLst/>
          </a:prstGeom>
          <a:noFill/>
          <a:ln/>
        </p:spPr>
        <p:txBody>
          <a:bodyPr wrap="none" lIns="0" tIns="0" rIns="0" bIns="0" rtlCol="0" anchor="t"/>
          <a:lstStyle/>
          <a:p>
            <a:pPr marL="0" indent="0" algn="l">
              <a:lnSpc>
                <a:spcPts val="970"/>
              </a:lnSpc>
              <a:buNone/>
            </a:pPr>
            <a:r>
              <a:rPr lang="en-US" sz="800" kern="0" spc="32" dirty="0">
                <a:solidFill>
                  <a:srgbClr val="F4F1DE"/>
                </a:solidFill>
                <a:latin typeface="Carlito" pitchFamily="34" charset="0"/>
                <a:ea typeface="Carlito" pitchFamily="34" charset="-122"/>
                <a:cs typeface="Carlito" pitchFamily="34" charset="-120"/>
              </a:rPr>
              <a:t>POPKO — HIGHEST TOTAL WINS</a:t>
            </a:r>
            <a:endParaRPr lang="en-US" sz="800" dirty="0"/>
          </a:p>
        </p:txBody>
      </p:sp>
      <p:sp>
        <p:nvSpPr>
          <p:cNvPr id="15" name="Text 11"/>
          <p:cNvSpPr/>
          <p:nvPr/>
        </p:nvSpPr>
        <p:spPr>
          <a:xfrm>
            <a:off x="5532053" y="4442185"/>
            <a:ext cx="3326197" cy="501290"/>
          </a:xfrm>
          <a:prstGeom prst="rect">
            <a:avLst/>
          </a:prstGeom>
          <a:noFill/>
          <a:ln/>
        </p:spPr>
        <p:txBody>
          <a:bodyPr wrap="square" lIns="0" tIns="0" rIns="0" bIns="0" rtlCol="0" anchor="t"/>
          <a:lstStyle/>
          <a:p>
            <a:pPr marL="0" indent="0" algn="l">
              <a:lnSpc>
                <a:spcPts val="979"/>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2,739 wins were dropped because the winning side had no player row in home_team/away_team. Completed matches with non-null winner_code and score_ready; wins attributed via winner_code (1=home, 2=away).</a:t>
            </a:r>
            <a:endParaRPr lang="en-US" sz="800" dirty="0">
              <a:latin typeface="Dubai Light" panose="020B0303030403030204" pitchFamily="34" charset="-78"/>
              <a:cs typeface="Dubai Light" panose="020B0303030403030204" pitchFamily="34" charset="-78"/>
            </a:endParaRPr>
          </a:p>
        </p:txBody>
      </p:sp>
      <p:sp>
        <p:nvSpPr>
          <p:cNvPr id="16" name="Text 12"/>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17" name="Text 13"/>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20 / 30</a:t>
            </a:r>
            <a:endParaRPr lang="en-US" sz="800" dirty="0"/>
          </a:p>
        </p:txBody>
      </p:sp>
      <p:sp>
        <p:nvSpPr>
          <p:cNvPr id="7" name="Text 4"/>
          <p:cNvSpPr/>
          <p:nvPr/>
        </p:nvSpPr>
        <p:spPr>
          <a:xfrm>
            <a:off x="285750" y="451424"/>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endParaRPr lang="en-US" dirty="0"/>
          </a:p>
        </p:txBody>
      </p:sp>
      <p:pic>
        <p:nvPicPr>
          <p:cNvPr id="8" name="Image 1" descr="/tmp/h2p-fit-1789550283847-f1drv9.png"/>
          <p:cNvPicPr>
            <a:picLocks noChangeAspect="1"/>
          </p:cNvPicPr>
          <p:nvPr/>
        </p:nvPicPr>
        <p:blipFill>
          <a:blip r:embed="rId4"/>
          <a:stretch>
            <a:fillRect/>
          </a:stretch>
        </p:blipFill>
        <p:spPr>
          <a:xfrm>
            <a:off x="385762" y="904350"/>
            <a:ext cx="4874828" cy="3776365"/>
          </a:xfrm>
          <a:prstGeom prst="rect">
            <a:avLst/>
          </a:prstGeom>
        </p:spPr>
      </p:pic>
      <p:sp>
        <p:nvSpPr>
          <p:cNvPr id="19" name="TextBox 18">
            <a:extLst>
              <a:ext uri="{FF2B5EF4-FFF2-40B4-BE49-F238E27FC236}">
                <a16:creationId xmlns:a16="http://schemas.microsoft.com/office/drawing/2014/main" id="{49737C6E-AF8C-20CE-DA4B-DB577E619735}"/>
              </a:ext>
            </a:extLst>
          </p:cNvPr>
          <p:cNvSpPr txBox="1"/>
          <p:nvPr/>
        </p:nvSpPr>
        <p:spPr>
          <a:xfrm>
            <a:off x="314325" y="52355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16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TOP 15 PLAYERS BY TOTAL MATCH WINS</a:t>
            </a:r>
            <a:endParaRPr lang="fa-IR" sz="800" kern="0" spc="71" dirty="0">
              <a:solidFill>
                <a:srgbClr val="6FA68A"/>
              </a:solidFill>
              <a:latin typeface="Carlito" pitchFamily="34" charset="0"/>
              <a:ea typeface="Carlito" pitchFamily="34" charset="-122"/>
            </a:endParaRPr>
          </a:p>
        </p:txBody>
      </p:sp>
      <p:sp>
        <p:nvSpPr>
          <p:cNvPr id="22" name="Text 4">
            <a:extLst>
              <a:ext uri="{FF2B5EF4-FFF2-40B4-BE49-F238E27FC236}">
                <a16:creationId xmlns:a16="http://schemas.microsoft.com/office/drawing/2014/main" id="{E4B33AF4-BCD3-5E87-02FC-1878284F6EBA}"/>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Q3 · SECTION 03</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p:cNvSpPr/>
          <p:nvPr/>
        </p:nvSpPr>
        <p:spPr>
          <a:xfrm>
            <a:off x="285750" y="412552"/>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pic>
        <p:nvPicPr>
          <p:cNvPr id="8" name="Image 1" descr="/tmp/h2p-fit-1789550283503-dmmwwv.png"/>
          <p:cNvPicPr>
            <a:picLocks noChangeAspect="1"/>
          </p:cNvPicPr>
          <p:nvPr/>
        </p:nvPicPr>
        <p:blipFill>
          <a:blip r:embed="rId4"/>
          <a:stretch>
            <a:fillRect/>
          </a:stretch>
        </p:blipFill>
        <p:spPr>
          <a:xfrm>
            <a:off x="385763" y="1007492"/>
            <a:ext cx="4874828" cy="3212343"/>
          </a:xfrm>
          <a:prstGeom prst="rect">
            <a:avLst/>
          </a:prstGeom>
        </p:spPr>
      </p:pic>
      <p:sp>
        <p:nvSpPr>
          <p:cNvPr id="9" name="Text 5"/>
          <p:cNvSpPr/>
          <p:nvPr/>
        </p:nvSpPr>
        <p:spPr>
          <a:xfrm>
            <a:off x="5532053" y="412552"/>
            <a:ext cx="3611947" cy="232663"/>
          </a:xfrm>
          <a:prstGeom prst="rect">
            <a:avLst/>
          </a:prstGeom>
          <a:noFill/>
          <a:ln/>
        </p:spPr>
        <p:txBody>
          <a:bodyPr wrap="square" lIns="0" tIns="0" rIns="0" bIns="0" rtlCol="0" anchor="t"/>
          <a:lstStyle/>
          <a:p>
            <a:pPr marL="0" indent="0" algn="l">
              <a:lnSpc>
                <a:spcPts val="1697"/>
              </a:lnSpc>
              <a:buNone/>
            </a:pPr>
            <a:r>
              <a:rPr lang="en-US" sz="1463" b="1" dirty="0">
                <a:solidFill>
                  <a:srgbClr val="F4F1DE"/>
                </a:solidFill>
                <a:latin typeface="Tinos" pitchFamily="34" charset="0"/>
                <a:ea typeface="Tinos" pitchFamily="34" charset="-122"/>
                <a:cs typeface="Tinos" pitchFamily="34" charset="-120"/>
              </a:rPr>
              <a:t>What Is the Longest Match by Duration?</a:t>
            </a:r>
            <a:endParaRPr lang="en-US" sz="1463" dirty="0"/>
          </a:p>
        </p:txBody>
      </p:sp>
      <p:sp>
        <p:nvSpPr>
          <p:cNvPr id="10" name="Text 6"/>
          <p:cNvSpPr/>
          <p:nvPr/>
        </p:nvSpPr>
        <p:spPr>
          <a:xfrm>
            <a:off x="5532053" y="727993"/>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849437"/>
            <a:ext cx="3326197" cy="1197721"/>
          </a:xfrm>
          <a:prstGeom prst="rect">
            <a:avLst/>
          </a:prstGeom>
          <a:noFill/>
          <a:ln/>
        </p:spPr>
        <p:txBody>
          <a:bodyPr wrap="square" lIns="0" tIns="0" rIns="0" bIns="0" rtlCol="0" anchor="t">
            <a:normAutofit/>
          </a:bodyPr>
          <a:lstStyle/>
          <a:p>
            <a:pPr marL="0" indent="0">
              <a:lnSpc>
                <a:spcPts val="1266"/>
              </a:lnSpc>
              <a:buNone/>
            </a:pPr>
            <a:r>
              <a:rPr lang="en-US" sz="844" dirty="0">
                <a:solidFill>
                  <a:srgbClr val="F4F1DE"/>
                </a:solidFill>
                <a:latin typeface="Candara" panose="020E0502030303020204" pitchFamily="34" charset="0"/>
                <a:ea typeface="Carlito" pitchFamily="34" charset="-122"/>
                <a:cs typeface="Carlito" pitchFamily="34" charset="-120"/>
              </a:rPr>
              <a:t>The longest match is </a:t>
            </a:r>
            <a:r>
              <a:rPr lang="en-US" sz="844" dirty="0">
                <a:solidFill>
                  <a:srgbClr val="FFF100"/>
                </a:solidFill>
                <a:latin typeface="Candara" panose="020E0502030303020204" pitchFamily="34" charset="0"/>
                <a:ea typeface="Carlito" pitchFamily="34" charset="-122"/>
                <a:cs typeface="Carlito" pitchFamily="34" charset="-120"/>
              </a:rPr>
              <a:t>Simakin vs Bertrand</a:t>
            </a:r>
            <a:r>
              <a:rPr lang="en-US" sz="844" dirty="0">
                <a:solidFill>
                  <a:srgbClr val="F4F1DE"/>
                </a:solidFill>
                <a:latin typeface="Candara" panose="020E0502030303020204" pitchFamily="34" charset="0"/>
                <a:ea typeface="Carlito" pitchFamily="34" charset="-122"/>
                <a:cs typeface="Carlito" pitchFamily="34" charset="-120"/>
              </a:rPr>
              <a:t> (Monastir, ITF Men, hard outdoor), lasting 4 hours 57 minutes over 35 games on 2024-02-10. The top 10 matches sit between roughly 4.4h and 5.0h. The 300-minute upper cap means this is "longest inside the plausible range," not a claim that no real match exceeded five hours — documented long matches (Federer vs del Potro, 4h 26m at London 2012 Olympics) stay below this threshold.</a:t>
            </a:r>
            <a:endParaRPr lang="en-US" sz="844" dirty="0">
              <a:latin typeface="Candara" panose="020E0502030303020204" pitchFamily="34" charset="0"/>
            </a:endParaRPr>
          </a:p>
        </p:txBody>
      </p:sp>
      <p:sp>
        <p:nvSpPr>
          <p:cNvPr id="12" name="Shape 8"/>
          <p:cNvSpPr/>
          <p:nvPr/>
        </p:nvSpPr>
        <p:spPr>
          <a:xfrm>
            <a:off x="5542769" y="2258944"/>
            <a:ext cx="0" cy="580430"/>
          </a:xfrm>
          <a:prstGeom prst="line">
            <a:avLst/>
          </a:prstGeom>
          <a:noFill/>
          <a:ln w="21431">
            <a:solidFill>
              <a:srgbClr val="FFF100"/>
            </a:solidFill>
            <a:prstDash val="solid"/>
          </a:ln>
        </p:spPr>
      </p:sp>
      <p:sp>
        <p:nvSpPr>
          <p:cNvPr id="13" name="Text 9"/>
          <p:cNvSpPr/>
          <p:nvPr/>
        </p:nvSpPr>
        <p:spPr>
          <a:xfrm>
            <a:off x="5653497" y="2301806"/>
            <a:ext cx="3204753" cy="344043"/>
          </a:xfrm>
          <a:prstGeom prst="rect">
            <a:avLst/>
          </a:prstGeom>
          <a:noFill/>
          <a:ln/>
        </p:spPr>
        <p:txBody>
          <a:bodyPr wrap="none" lIns="0" tIns="0" rIns="0" bIns="0" rtlCol="0" anchor="t">
            <a:normAutofit/>
          </a:bodyPr>
          <a:lstStyle/>
          <a:p>
            <a:pPr marL="0" indent="0" algn="l">
              <a:lnSpc>
                <a:spcPts val="2588"/>
              </a:lnSpc>
              <a:buNone/>
            </a:pPr>
            <a:r>
              <a:rPr lang="en-US" sz="2588" b="1" dirty="0">
                <a:solidFill>
                  <a:srgbClr val="FFF100"/>
                </a:solidFill>
                <a:latin typeface="Liberation Sans Narrow" pitchFamily="34" charset="0"/>
                <a:ea typeface="Liberation Sans Narrow" pitchFamily="34" charset="-122"/>
                <a:cs typeface="Liberation Sans Narrow" pitchFamily="34" charset="-120"/>
              </a:rPr>
              <a:t>4h 57m</a:t>
            </a:r>
            <a:endParaRPr lang="en-US" sz="2588" dirty="0"/>
          </a:p>
        </p:txBody>
      </p:sp>
      <p:sp>
        <p:nvSpPr>
          <p:cNvPr id="14" name="Text 10"/>
          <p:cNvSpPr/>
          <p:nvPr/>
        </p:nvSpPr>
        <p:spPr>
          <a:xfrm>
            <a:off x="5653497" y="2673281"/>
            <a:ext cx="3314481" cy="123230"/>
          </a:xfrm>
          <a:prstGeom prst="rect">
            <a:avLst/>
          </a:prstGeom>
          <a:noFill/>
          <a:ln/>
        </p:spPr>
        <p:txBody>
          <a:bodyPr wrap="square" lIns="0" tIns="0" rIns="0" bIns="0" rtlCol="0" anchor="t"/>
          <a:lstStyle/>
          <a:p>
            <a:pPr marL="0" indent="0" algn="l">
              <a:lnSpc>
                <a:spcPts val="970"/>
              </a:lnSpc>
              <a:buNone/>
            </a:pPr>
            <a:r>
              <a:rPr lang="en-US" sz="800" kern="0" spc="32" dirty="0">
                <a:solidFill>
                  <a:srgbClr val="F4F1DE"/>
                </a:solidFill>
                <a:latin typeface="Liberation Sans Narrow" pitchFamily="34" charset="0"/>
                <a:ea typeface="Liberation Sans Narrow" pitchFamily="34" charset="-122"/>
                <a:cs typeface="Liberation Sans Narrow" pitchFamily="34" charset="-120"/>
              </a:rPr>
              <a:t>SIMAKIN VS BERTRAND — 35 GAMES</a:t>
            </a:r>
            <a:endParaRPr lang="en-US" sz="800" dirty="0"/>
          </a:p>
        </p:txBody>
      </p:sp>
      <p:sp>
        <p:nvSpPr>
          <p:cNvPr id="15" name="Text 11"/>
          <p:cNvSpPr/>
          <p:nvPr/>
        </p:nvSpPr>
        <p:spPr>
          <a:xfrm>
            <a:off x="5532053" y="4317950"/>
            <a:ext cx="3326197" cy="636080"/>
          </a:xfrm>
          <a:prstGeom prst="rect">
            <a:avLst/>
          </a:prstGeom>
          <a:noFill/>
          <a:ln/>
        </p:spPr>
        <p:txBody>
          <a:bodyPr wrap="square" lIns="0" tIns="0" rIns="0" bIns="0" rtlCol="0" anchor="t"/>
          <a:lstStyle/>
          <a:p>
            <a:pPr marL="0" indent="0" algn="l">
              <a:lnSpc>
                <a:spcPts val="979"/>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Duration pipeline: duration_reliable + 15–300 minute window + completed matches + games cross-check. Lower bound (15 min) removes 3 retirement-like rows; upper bound (300 min) removes 14 suspect extreme values. Same pipeline used for Q11 and surface-duration analyses.</a:t>
            </a:r>
            <a:endParaRPr lang="en-US" sz="800" dirty="0">
              <a:latin typeface="Dubai Light" panose="020B0303030403030204" pitchFamily="34" charset="-78"/>
              <a:cs typeface="Dubai Light" panose="020B0303030403030204" pitchFamily="34" charset="-78"/>
            </a:endParaRPr>
          </a:p>
        </p:txBody>
      </p:sp>
      <p:sp>
        <p:nvSpPr>
          <p:cNvPr id="16" name="Text 12"/>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17" name="Text 13"/>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21 / 30</a:t>
            </a:r>
            <a:endParaRPr lang="en-US" sz="800" dirty="0"/>
          </a:p>
        </p:txBody>
      </p:sp>
      <p:sp>
        <p:nvSpPr>
          <p:cNvPr id="19" name="TextBox 18">
            <a:extLst>
              <a:ext uri="{FF2B5EF4-FFF2-40B4-BE49-F238E27FC236}">
                <a16:creationId xmlns:a16="http://schemas.microsoft.com/office/drawing/2014/main" id="{AC8B6D55-A78D-D2EE-3E92-2F9826992B7B}"/>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17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TOP 10 LONGEST MATCHS</a:t>
            </a:r>
            <a:endParaRPr lang="fa-IR" sz="800" kern="0" spc="71" dirty="0">
              <a:solidFill>
                <a:srgbClr val="6FA68A"/>
              </a:solidFill>
              <a:latin typeface="Carlito" pitchFamily="34" charset="0"/>
              <a:ea typeface="Carlito" pitchFamily="34" charset="-122"/>
            </a:endParaRPr>
          </a:p>
        </p:txBody>
      </p:sp>
      <p:sp>
        <p:nvSpPr>
          <p:cNvPr id="21" name="Text 4">
            <a:extLst>
              <a:ext uri="{FF2B5EF4-FFF2-40B4-BE49-F238E27FC236}">
                <a16:creationId xmlns:a16="http://schemas.microsoft.com/office/drawing/2014/main" id="{867378B6-4199-1007-58B5-80EA8EC85BBD}"/>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Q4 · SECTION 03</a:t>
            </a:r>
            <a:endParaRPr lang="en-US" sz="800" dirty="0"/>
          </a:p>
        </p:txBody>
      </p:sp>
      <p:sp>
        <p:nvSpPr>
          <p:cNvPr id="23" name="Text 2">
            <a:extLst>
              <a:ext uri="{FF2B5EF4-FFF2-40B4-BE49-F238E27FC236}">
                <a16:creationId xmlns:a16="http://schemas.microsoft.com/office/drawing/2014/main" id="{DD194452-6630-1378-DFE0-BBC911DA1C45}"/>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p:cNvSpPr/>
          <p:nvPr/>
        </p:nvSpPr>
        <p:spPr>
          <a:xfrm>
            <a:off x="285750" y="412552"/>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pic>
        <p:nvPicPr>
          <p:cNvPr id="8" name="Image 1" descr="/tmp/h2p-fit-1789550284787-elqy0n.png"/>
          <p:cNvPicPr>
            <a:picLocks noChangeAspect="1"/>
          </p:cNvPicPr>
          <p:nvPr/>
        </p:nvPicPr>
        <p:blipFill>
          <a:blip r:embed="rId4"/>
          <a:stretch>
            <a:fillRect/>
          </a:stretch>
        </p:blipFill>
        <p:spPr>
          <a:xfrm>
            <a:off x="385763" y="705222"/>
            <a:ext cx="4874828" cy="3816995"/>
          </a:xfrm>
          <a:prstGeom prst="rect">
            <a:avLst/>
          </a:prstGeom>
        </p:spPr>
      </p:pic>
      <p:sp>
        <p:nvSpPr>
          <p:cNvPr id="9" name="Text 5"/>
          <p:cNvSpPr/>
          <p:nvPr/>
        </p:nvSpPr>
        <p:spPr>
          <a:xfrm>
            <a:off x="5532053" y="412552"/>
            <a:ext cx="3326197" cy="465326"/>
          </a:xfrm>
          <a:prstGeom prst="rect">
            <a:avLst/>
          </a:prstGeom>
          <a:noFill/>
          <a:ln/>
        </p:spPr>
        <p:txBody>
          <a:bodyPr wrap="square" lIns="0" tIns="0" rIns="0" bIns="0" rtlCol="0" anchor="t"/>
          <a:lstStyle/>
          <a:p>
            <a:pPr marL="0" indent="0" algn="l">
              <a:lnSpc>
                <a:spcPts val="1697"/>
              </a:lnSpc>
              <a:buNone/>
            </a:pPr>
            <a:r>
              <a:rPr lang="en-US" sz="1463" b="1" dirty="0">
                <a:solidFill>
                  <a:srgbClr val="F4F1DE"/>
                </a:solidFill>
                <a:latin typeface="Tinos" pitchFamily="34" charset="0"/>
                <a:ea typeface="Tinos" pitchFamily="34" charset="-122"/>
                <a:cs typeface="Tinos" pitchFamily="34" charset="-120"/>
              </a:rPr>
              <a:t>What Is the Typical Number of Sets per Match?</a:t>
            </a:r>
            <a:endParaRPr lang="en-US" sz="1463" dirty="0"/>
          </a:p>
        </p:txBody>
      </p:sp>
      <p:sp>
        <p:nvSpPr>
          <p:cNvPr id="10" name="Text 6"/>
          <p:cNvSpPr/>
          <p:nvPr/>
        </p:nvSpPr>
        <p:spPr>
          <a:xfrm>
            <a:off x="5532053" y="943421"/>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1064865"/>
            <a:ext cx="3326197" cy="1036987"/>
          </a:xfrm>
          <a:prstGeom prst="rect">
            <a:avLst/>
          </a:prstGeom>
          <a:noFill/>
          <a:ln/>
        </p:spPr>
        <p:txBody>
          <a:bodyPr wrap="square" lIns="0" tIns="0" rIns="0" bIns="0" rtlCol="0" anchor="t">
            <a:normAutofit/>
          </a:bodyPr>
          <a:lstStyle/>
          <a:p>
            <a:pPr marL="0" indent="0" algn="l">
              <a:lnSpc>
                <a:spcPts val="1266"/>
              </a:lnSpc>
              <a:buNone/>
            </a:pPr>
            <a:r>
              <a:rPr lang="en-US" sz="900" dirty="0">
                <a:solidFill>
                  <a:srgbClr val="F4F1DE"/>
                </a:solidFill>
                <a:latin typeface="Candara" panose="020E0502030303020204" pitchFamily="34" charset="0"/>
                <a:ea typeface="Liberation Sans Narrow" pitchFamily="34" charset="-122"/>
                <a:cs typeface="Liberation Sans Narrow" pitchFamily="34" charset="-120"/>
              </a:rPr>
              <a:t>Of 14,189 completed matches, </a:t>
            </a:r>
            <a:r>
              <a:rPr lang="en-US" sz="900" dirty="0">
                <a:solidFill>
                  <a:srgbClr val="FFF100"/>
                </a:solidFill>
                <a:latin typeface="Candara" panose="020E0502030303020204" pitchFamily="34" charset="0"/>
                <a:ea typeface="Liberation Sans Narrow" pitchFamily="34" charset="-122"/>
                <a:cs typeface="Liberation Sans Narrow" pitchFamily="34" charset="-120"/>
              </a:rPr>
              <a:t>72.1% end in 2 sets</a:t>
            </a:r>
            <a:r>
              <a:rPr lang="en-US" sz="900" dirty="0">
                <a:solidFill>
                  <a:srgbClr val="F4F1DE"/>
                </a:solidFill>
                <a:latin typeface="Candara" panose="020E0502030303020204" pitchFamily="34" charset="0"/>
                <a:ea typeface="Carlito" pitchFamily="34" charset="-122"/>
                <a:cs typeface="Carlito" pitchFamily="34" charset="-120"/>
              </a:rPr>
              <a:t> and 27.9% in 3 sets (mean 2.28). This matches the best-of-3 structure perfectly: straight-set wins stop at two sets, so a ~72/28 split means most matches do not reach a decider. Agreement with the independent power table is 100% on 10,074 overlapping matches, confirming the result is robust.</a:t>
            </a:r>
            <a:endParaRPr lang="en-US" sz="900" dirty="0">
              <a:latin typeface="Candara" panose="020E0502030303020204" pitchFamily="34" charset="0"/>
            </a:endParaRPr>
          </a:p>
        </p:txBody>
      </p:sp>
      <p:sp>
        <p:nvSpPr>
          <p:cNvPr id="12" name="Shape 8"/>
          <p:cNvSpPr/>
          <p:nvPr/>
        </p:nvSpPr>
        <p:spPr>
          <a:xfrm>
            <a:off x="5542769" y="2387379"/>
            <a:ext cx="0" cy="580430"/>
          </a:xfrm>
          <a:prstGeom prst="line">
            <a:avLst/>
          </a:prstGeom>
          <a:noFill/>
          <a:ln w="21431">
            <a:solidFill>
              <a:srgbClr val="FFF100"/>
            </a:solidFill>
            <a:prstDash val="solid"/>
          </a:ln>
        </p:spPr>
        <p:txBody>
          <a:bodyPr/>
          <a:lstStyle/>
          <a:p>
            <a:endParaRPr lang="fa-IR" dirty="0"/>
          </a:p>
        </p:txBody>
      </p:sp>
      <p:sp>
        <p:nvSpPr>
          <p:cNvPr id="13" name="Text 9"/>
          <p:cNvSpPr/>
          <p:nvPr/>
        </p:nvSpPr>
        <p:spPr>
          <a:xfrm>
            <a:off x="5653497" y="2430241"/>
            <a:ext cx="3204753" cy="344043"/>
          </a:xfrm>
          <a:prstGeom prst="rect">
            <a:avLst/>
          </a:prstGeom>
          <a:noFill/>
          <a:ln/>
        </p:spPr>
        <p:txBody>
          <a:bodyPr wrap="none" lIns="0" tIns="0" rIns="0" bIns="0" rtlCol="0" anchor="t">
            <a:normAutofit/>
          </a:bodyPr>
          <a:lstStyle/>
          <a:p>
            <a:pPr marL="0" indent="0" algn="l">
              <a:lnSpc>
                <a:spcPts val="2588"/>
              </a:lnSpc>
              <a:buNone/>
            </a:pPr>
            <a:r>
              <a:rPr lang="en-US" sz="2588" b="1" dirty="0">
                <a:solidFill>
                  <a:srgbClr val="FFF100"/>
                </a:solidFill>
                <a:latin typeface="Liberation Sans Narrow" pitchFamily="34" charset="0"/>
                <a:ea typeface="Liberation Sans Narrow" pitchFamily="34" charset="-122"/>
                <a:cs typeface="Liberation Sans Narrow" pitchFamily="34" charset="-120"/>
              </a:rPr>
              <a:t>72.1%</a:t>
            </a:r>
            <a:endParaRPr lang="en-US" sz="2588" dirty="0"/>
          </a:p>
        </p:txBody>
      </p:sp>
      <p:sp>
        <p:nvSpPr>
          <p:cNvPr id="14" name="Text 10"/>
          <p:cNvSpPr/>
          <p:nvPr/>
        </p:nvSpPr>
        <p:spPr>
          <a:xfrm>
            <a:off x="5653497" y="2801716"/>
            <a:ext cx="3204753" cy="123230"/>
          </a:xfrm>
          <a:prstGeom prst="rect">
            <a:avLst/>
          </a:prstGeom>
          <a:noFill/>
          <a:ln/>
        </p:spPr>
        <p:txBody>
          <a:bodyPr wrap="none" lIns="0" tIns="0" rIns="0" bIns="0" rtlCol="0" anchor="t"/>
          <a:lstStyle/>
          <a:p>
            <a:pPr marL="0" indent="0" algn="l">
              <a:lnSpc>
                <a:spcPts val="970"/>
              </a:lnSpc>
              <a:buNone/>
            </a:pPr>
            <a:r>
              <a:rPr lang="en-US" sz="800" kern="0" spc="32" dirty="0">
                <a:solidFill>
                  <a:srgbClr val="F4F1DE"/>
                </a:solidFill>
                <a:latin typeface="Liberation Sans Narrow" pitchFamily="34" charset="0"/>
                <a:ea typeface="Liberation Sans Narrow" pitchFamily="34" charset="-122"/>
                <a:cs typeface="Liberation Sans Narrow" pitchFamily="34" charset="-120"/>
              </a:rPr>
              <a:t>MATCHES ENDING IN 2 SETS</a:t>
            </a:r>
            <a:endParaRPr lang="en-US" sz="800" dirty="0"/>
          </a:p>
        </p:txBody>
      </p:sp>
      <p:sp>
        <p:nvSpPr>
          <p:cNvPr id="15" name="Text 11"/>
          <p:cNvSpPr/>
          <p:nvPr/>
        </p:nvSpPr>
        <p:spPr>
          <a:xfrm>
            <a:off x="5532053" y="4442185"/>
            <a:ext cx="3326197" cy="477060"/>
          </a:xfrm>
          <a:prstGeom prst="rect">
            <a:avLst/>
          </a:prstGeom>
          <a:noFill/>
          <a:ln/>
        </p:spPr>
        <p:txBody>
          <a:bodyPr wrap="square" lIns="0" tIns="0" rIns="0" bIns="0" rtlCol="0" anchor="t"/>
          <a:lstStyle/>
          <a:p>
            <a:pPr marL="0" indent="0" algn="l">
              <a:lnSpc>
                <a:spcPts val="979"/>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sets_played aligned from home and away score tables (max of the two); restricted to match_completed; cross-checked against max set_num from power table. 100% agreement on 10,074 overlapping matches validates the alignment logic.</a:t>
            </a:r>
            <a:endParaRPr lang="en-US" sz="800" dirty="0">
              <a:latin typeface="Dubai Light" panose="020B0303030403030204" pitchFamily="34" charset="-78"/>
              <a:cs typeface="Dubai Light" panose="020B0303030403030204" pitchFamily="34" charset="-78"/>
            </a:endParaRPr>
          </a:p>
        </p:txBody>
      </p:sp>
      <p:sp>
        <p:nvSpPr>
          <p:cNvPr id="16" name="Text 12"/>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17" name="Text 13"/>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22 / 30</a:t>
            </a:r>
            <a:endParaRPr lang="en-US" sz="800" dirty="0"/>
          </a:p>
        </p:txBody>
      </p:sp>
      <p:sp>
        <p:nvSpPr>
          <p:cNvPr id="19" name="Text 4">
            <a:extLst>
              <a:ext uri="{FF2B5EF4-FFF2-40B4-BE49-F238E27FC236}">
                <a16:creationId xmlns:a16="http://schemas.microsoft.com/office/drawing/2014/main" id="{860163D4-3817-6A37-AB9E-F622B40CF9A0}"/>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Q5 · SECTION 03</a:t>
            </a:r>
            <a:endParaRPr lang="en-US" sz="800" dirty="0"/>
          </a:p>
        </p:txBody>
      </p:sp>
      <p:sp>
        <p:nvSpPr>
          <p:cNvPr id="21" name="Text 2">
            <a:extLst>
              <a:ext uri="{FF2B5EF4-FFF2-40B4-BE49-F238E27FC236}">
                <a16:creationId xmlns:a16="http://schemas.microsoft.com/office/drawing/2014/main" id="{75D78BAE-6862-683B-9709-0C9564077368}"/>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sp>
        <p:nvSpPr>
          <p:cNvPr id="23" name="TextBox 22">
            <a:extLst>
              <a:ext uri="{FF2B5EF4-FFF2-40B4-BE49-F238E27FC236}">
                <a16:creationId xmlns:a16="http://schemas.microsoft.com/office/drawing/2014/main" id="{DEF51EB4-97D1-2D1B-5C0E-8D6CB11BA9BC}"/>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18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Typical number of sets played</a:t>
            </a:r>
            <a:endParaRPr lang="fa-IR" sz="800" kern="0" spc="71" dirty="0">
              <a:solidFill>
                <a:srgbClr val="6FA68A"/>
              </a:solidFill>
              <a:latin typeface="Carlito" pitchFamily="34" charset="0"/>
              <a:ea typeface="Carlito"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p:cNvSpPr/>
          <p:nvPr/>
        </p:nvSpPr>
        <p:spPr>
          <a:xfrm>
            <a:off x="285750" y="412552"/>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pic>
        <p:nvPicPr>
          <p:cNvPr id="8" name="Image 1" descr="/tmp/h2p-fit-1789550285773-06y1n3.png"/>
          <p:cNvPicPr>
            <a:picLocks noChangeAspect="1"/>
          </p:cNvPicPr>
          <p:nvPr/>
        </p:nvPicPr>
        <p:blipFill>
          <a:blip r:embed="rId4"/>
          <a:stretch>
            <a:fillRect/>
          </a:stretch>
        </p:blipFill>
        <p:spPr>
          <a:xfrm>
            <a:off x="385763" y="724198"/>
            <a:ext cx="4874828" cy="3778932"/>
          </a:xfrm>
          <a:prstGeom prst="rect">
            <a:avLst/>
          </a:prstGeom>
        </p:spPr>
      </p:pic>
      <p:sp>
        <p:nvSpPr>
          <p:cNvPr id="9" name="Text 5"/>
          <p:cNvSpPr/>
          <p:nvPr/>
        </p:nvSpPr>
        <p:spPr>
          <a:xfrm>
            <a:off x="5532053" y="412552"/>
            <a:ext cx="3326197" cy="436876"/>
          </a:xfrm>
          <a:prstGeom prst="rect">
            <a:avLst/>
          </a:prstGeom>
          <a:noFill/>
          <a:ln/>
        </p:spPr>
        <p:txBody>
          <a:bodyPr wrap="square" lIns="0" tIns="0" rIns="0" bIns="0" rtlCol="0" anchor="t"/>
          <a:lstStyle/>
          <a:p>
            <a:pPr marL="0" indent="0" algn="l">
              <a:lnSpc>
                <a:spcPts val="1593"/>
              </a:lnSpc>
              <a:buNone/>
            </a:pPr>
            <a:r>
              <a:rPr lang="en-US" sz="1350" b="1" dirty="0">
                <a:solidFill>
                  <a:srgbClr val="F4F1DE"/>
                </a:solidFill>
                <a:latin typeface="Tinos" pitchFamily="34" charset="0"/>
                <a:ea typeface="Tinos" pitchFamily="34" charset="-122"/>
                <a:cs typeface="Tinos" pitchFamily="34" charset="-120"/>
              </a:rPr>
              <a:t>Which Country Produces the Most  Successful Players?</a:t>
            </a:r>
            <a:endParaRPr lang="en-US" sz="1350" dirty="0"/>
          </a:p>
        </p:txBody>
      </p:sp>
      <p:sp>
        <p:nvSpPr>
          <p:cNvPr id="10" name="Text 6"/>
          <p:cNvSpPr/>
          <p:nvPr/>
        </p:nvSpPr>
        <p:spPr>
          <a:xfrm>
            <a:off x="5532053" y="902791"/>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1009948"/>
            <a:ext cx="3326197" cy="808387"/>
          </a:xfrm>
          <a:prstGeom prst="rect">
            <a:avLst/>
          </a:prstGeom>
          <a:noFill/>
          <a:ln/>
        </p:spPr>
        <p:txBody>
          <a:bodyPr wrap="square" lIns="0" tIns="0" rIns="0" bIns="0" rtlCol="0" anchor="t">
            <a:normAutofit/>
          </a:bodyPr>
          <a:lstStyle/>
          <a:p>
            <a:pPr marL="0" indent="0" algn="l">
              <a:lnSpc>
                <a:spcPts val="1181"/>
              </a:lnSpc>
              <a:buNone/>
            </a:pPr>
            <a:r>
              <a:rPr lang="en-US" sz="800" dirty="0">
                <a:solidFill>
                  <a:srgbClr val="F4F1DE"/>
                </a:solidFill>
                <a:latin typeface="Carlito" pitchFamily="34" charset="0"/>
                <a:ea typeface="Carlito" pitchFamily="34" charset="-122"/>
                <a:cs typeface="Carlito" pitchFamily="34" charset="-120"/>
              </a:rPr>
              <a:t>By total wins: France (986), Italy (933), USA (909). But by wins per player (with ≥50 players): Argentina (5.58), Brazil (5.00), France (4.88), Spain (4.87), Czech Republic (4.83). "Most successful" is not a single fact — total wins reward large player pools, while wins per player rewards efficiency but is sensitive to the cutoff threshold.</a:t>
            </a:r>
            <a:endParaRPr lang="en-US" sz="800" dirty="0"/>
          </a:p>
        </p:txBody>
      </p:sp>
      <p:sp>
        <p:nvSpPr>
          <p:cNvPr id="12" name="Shape 8"/>
          <p:cNvSpPr/>
          <p:nvPr/>
        </p:nvSpPr>
        <p:spPr>
          <a:xfrm>
            <a:off x="5542769" y="2420952"/>
            <a:ext cx="0" cy="705445"/>
          </a:xfrm>
          <a:prstGeom prst="line">
            <a:avLst/>
          </a:prstGeom>
          <a:noFill/>
          <a:ln w="21431">
            <a:solidFill>
              <a:srgbClr val="FFF100"/>
            </a:solidFill>
            <a:prstDash val="solid"/>
          </a:ln>
        </p:spPr>
      </p:sp>
      <p:sp>
        <p:nvSpPr>
          <p:cNvPr id="13" name="Text 9"/>
          <p:cNvSpPr/>
          <p:nvPr/>
        </p:nvSpPr>
        <p:spPr>
          <a:xfrm>
            <a:off x="5585108" y="2456671"/>
            <a:ext cx="1621225" cy="251174"/>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France 986</a:t>
            </a:r>
            <a:endParaRPr lang="en-US" sz="1913" dirty="0"/>
          </a:p>
        </p:txBody>
      </p:sp>
      <p:sp>
        <p:nvSpPr>
          <p:cNvPr id="14" name="Text 10"/>
          <p:cNvSpPr/>
          <p:nvPr/>
        </p:nvSpPr>
        <p:spPr>
          <a:xfrm>
            <a:off x="5639209" y="2735277"/>
            <a:ext cx="1513024" cy="164592"/>
          </a:xfrm>
          <a:prstGeom prst="rect">
            <a:avLst/>
          </a:prstGeom>
          <a:noFill/>
          <a:ln/>
        </p:spPr>
        <p:txBody>
          <a:bodyPr wrap="none" lIns="0" tIns="0" rIns="0" bIns="0" rtlCol="0" anchor="t"/>
          <a:lstStyle/>
          <a:p>
            <a:pPr marL="0" indent="0" algn="l">
              <a:lnSpc>
                <a:spcPts val="886"/>
              </a:lnSpc>
              <a:buNone/>
            </a:pPr>
            <a:r>
              <a:rPr lang="en-US" sz="800" kern="0" spc="30" dirty="0">
                <a:solidFill>
                  <a:srgbClr val="F4F1DE"/>
                </a:solidFill>
                <a:latin typeface="Carlito" pitchFamily="34" charset="0"/>
                <a:ea typeface="Carlito" pitchFamily="34" charset="-122"/>
                <a:cs typeface="Carlito" pitchFamily="34" charset="-120"/>
              </a:rPr>
              <a:t>TOTAL WINS LEADER</a:t>
            </a:r>
            <a:endParaRPr lang="en-US" sz="800" dirty="0"/>
          </a:p>
        </p:txBody>
      </p:sp>
      <p:sp>
        <p:nvSpPr>
          <p:cNvPr id="15" name="Shape 11"/>
          <p:cNvSpPr/>
          <p:nvPr/>
        </p:nvSpPr>
        <p:spPr>
          <a:xfrm>
            <a:off x="7248674" y="2420952"/>
            <a:ext cx="0" cy="705445"/>
          </a:xfrm>
          <a:prstGeom prst="line">
            <a:avLst/>
          </a:prstGeom>
          <a:noFill/>
          <a:ln w="21431">
            <a:solidFill>
              <a:srgbClr val="FFF100"/>
            </a:solidFill>
            <a:prstDash val="solid"/>
          </a:ln>
        </p:spPr>
      </p:sp>
      <p:sp>
        <p:nvSpPr>
          <p:cNvPr id="16" name="Text 12"/>
          <p:cNvSpPr/>
          <p:nvPr/>
        </p:nvSpPr>
        <p:spPr>
          <a:xfrm>
            <a:off x="7345114" y="2456671"/>
            <a:ext cx="1513136" cy="494062"/>
          </a:xfrm>
          <a:prstGeom prst="rect">
            <a:avLst/>
          </a:prstGeom>
          <a:noFill/>
          <a:ln/>
        </p:spPr>
        <p:txBody>
          <a:bodyPr wrap="squar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Argentina 5.58</a:t>
            </a:r>
            <a:endParaRPr lang="en-US" sz="1913" dirty="0"/>
          </a:p>
        </p:txBody>
      </p:sp>
      <p:sp>
        <p:nvSpPr>
          <p:cNvPr id="17" name="Text 13"/>
          <p:cNvSpPr/>
          <p:nvPr/>
        </p:nvSpPr>
        <p:spPr>
          <a:xfrm>
            <a:off x="7345114" y="2978165"/>
            <a:ext cx="1513136" cy="112514"/>
          </a:xfrm>
          <a:prstGeom prst="rect">
            <a:avLst/>
          </a:prstGeom>
          <a:noFill/>
          <a:ln/>
        </p:spPr>
        <p:txBody>
          <a:bodyPr wrap="none" lIns="0" tIns="0" rIns="0" bIns="0" rtlCol="0" anchor="t"/>
          <a:lstStyle/>
          <a:p>
            <a:pPr marL="0" indent="0" algn="l">
              <a:lnSpc>
                <a:spcPts val="886"/>
              </a:lnSpc>
              <a:buNone/>
            </a:pPr>
            <a:r>
              <a:rPr lang="en-US" sz="800" kern="0" spc="30" dirty="0">
                <a:solidFill>
                  <a:srgbClr val="F4F1DE"/>
                </a:solidFill>
                <a:latin typeface="Carlito" pitchFamily="34" charset="0"/>
                <a:ea typeface="Carlito" pitchFamily="34" charset="-122"/>
                <a:cs typeface="Carlito" pitchFamily="34" charset="-120"/>
              </a:rPr>
              <a:t>WINS / PLAYER LEADER</a:t>
            </a:r>
            <a:endParaRPr lang="en-US" sz="800" dirty="0"/>
          </a:p>
        </p:txBody>
      </p:sp>
      <p:sp>
        <p:nvSpPr>
          <p:cNvPr id="18" name="Text 14"/>
          <p:cNvSpPr/>
          <p:nvPr/>
        </p:nvSpPr>
        <p:spPr>
          <a:xfrm>
            <a:off x="5532053" y="4457588"/>
            <a:ext cx="3326197" cy="477227"/>
          </a:xfrm>
          <a:prstGeom prst="rect">
            <a:avLst/>
          </a:prstGeom>
          <a:noFill/>
          <a:ln/>
        </p:spPr>
        <p:txBody>
          <a:bodyPr wrap="square" lIns="0" tIns="0" rIns="0" bIns="0" rtlCol="0" anchor="t"/>
          <a:lstStyle/>
          <a:p>
            <a:pPr marL="0" indent="0" algn="l">
              <a:lnSpc>
                <a:spcPts val="93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Same win attribution as Q3, grouped by country. Secondary metric = total wins / distinct players with a minimum player-count threshold. A few players with multiple country labels were left as diagnostic noise rather than force-merged.</a:t>
            </a:r>
            <a:endParaRPr lang="en-US" sz="800" dirty="0">
              <a:latin typeface="Dubai Light" panose="020B0303030403030204" pitchFamily="34" charset="-78"/>
              <a:cs typeface="Dubai Light" panose="020B0303030403030204" pitchFamily="34" charset="-78"/>
            </a:endParaRPr>
          </a:p>
        </p:txBody>
      </p:sp>
      <p:sp>
        <p:nvSpPr>
          <p:cNvPr id="19" name="Text 15"/>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20" name="Text 16"/>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23 / 30</a:t>
            </a:r>
            <a:endParaRPr lang="en-US" sz="800" dirty="0"/>
          </a:p>
        </p:txBody>
      </p:sp>
      <p:sp>
        <p:nvSpPr>
          <p:cNvPr id="22" name="Text 4">
            <a:extLst>
              <a:ext uri="{FF2B5EF4-FFF2-40B4-BE49-F238E27FC236}">
                <a16:creationId xmlns:a16="http://schemas.microsoft.com/office/drawing/2014/main" id="{57849474-40CC-4377-1AF1-B5B513A4836B}"/>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Q6 · SECTION 03</a:t>
            </a:r>
            <a:endParaRPr lang="en-US" sz="800" dirty="0"/>
          </a:p>
        </p:txBody>
      </p:sp>
      <p:sp>
        <p:nvSpPr>
          <p:cNvPr id="24" name="Text 2">
            <a:extLst>
              <a:ext uri="{FF2B5EF4-FFF2-40B4-BE49-F238E27FC236}">
                <a16:creationId xmlns:a16="http://schemas.microsoft.com/office/drawing/2014/main" id="{0879E755-9742-1BF2-4418-8D3E77914A15}"/>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sp>
        <p:nvSpPr>
          <p:cNvPr id="26" name="TextBox 25">
            <a:extLst>
              <a:ext uri="{FF2B5EF4-FFF2-40B4-BE49-F238E27FC236}">
                <a16:creationId xmlns:a16="http://schemas.microsoft.com/office/drawing/2014/main" id="{7E6DFA3B-553F-7932-996B-14601E49B40B}"/>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19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TOP 15 Countries by Total Match Wins</a:t>
            </a:r>
            <a:endParaRPr lang="fa-IR" sz="800" kern="0" spc="71" dirty="0">
              <a:solidFill>
                <a:srgbClr val="6FA68A"/>
              </a:solidFill>
              <a:latin typeface="Carlito" pitchFamily="34" charset="0"/>
              <a:ea typeface="Carlito"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DBDDA107-702F-6C8C-1250-919B86D7A52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B380A30-AA73-1DF2-ECA4-F6907E5A86A0}"/>
              </a:ext>
            </a:extLst>
          </p:cNvPr>
          <p:cNvPicPr>
            <a:picLocks noChangeAspect="1"/>
          </p:cNvPicPr>
          <p:nvPr/>
        </p:nvPicPr>
        <p:blipFill>
          <a:blip r:embed="rId3"/>
          <a:stretch>
            <a:fillRect/>
          </a:stretch>
        </p:blipFill>
        <p:spPr>
          <a:xfrm>
            <a:off x="7143750" y="0"/>
            <a:ext cx="2000250" cy="2000250"/>
          </a:xfrm>
          <a:prstGeom prst="rect">
            <a:avLst/>
          </a:prstGeom>
        </p:spPr>
      </p:pic>
      <p:sp>
        <p:nvSpPr>
          <p:cNvPr id="3" name="Text 0">
            <a:extLst>
              <a:ext uri="{FF2B5EF4-FFF2-40B4-BE49-F238E27FC236}">
                <a16:creationId xmlns:a16="http://schemas.microsoft.com/office/drawing/2014/main" id="{B124600D-1C51-0D11-F44C-A2038A06C1CD}"/>
              </a:ext>
            </a:extLst>
          </p:cNvPr>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a:extLst>
              <a:ext uri="{FF2B5EF4-FFF2-40B4-BE49-F238E27FC236}">
                <a16:creationId xmlns:a16="http://schemas.microsoft.com/office/drawing/2014/main" id="{E33297D8-3E47-C5A9-960D-5F7C58C49863}"/>
              </a:ext>
            </a:extLst>
          </p:cNvPr>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a:extLst>
              <a:ext uri="{FF2B5EF4-FFF2-40B4-BE49-F238E27FC236}">
                <a16:creationId xmlns:a16="http://schemas.microsoft.com/office/drawing/2014/main" id="{097C87B0-11E8-8EAF-058A-ABAF1ABF9626}"/>
              </a:ext>
            </a:extLst>
          </p:cNvPr>
          <p:cNvSpPr/>
          <p:nvPr/>
        </p:nvSpPr>
        <p:spPr>
          <a:xfrm>
            <a:off x="285750" y="412552"/>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sp>
        <p:nvSpPr>
          <p:cNvPr id="9" name="Text 5">
            <a:extLst>
              <a:ext uri="{FF2B5EF4-FFF2-40B4-BE49-F238E27FC236}">
                <a16:creationId xmlns:a16="http://schemas.microsoft.com/office/drawing/2014/main" id="{8FFDE3D8-C2D4-B6A4-46A1-0E28B492590B}"/>
              </a:ext>
            </a:extLst>
          </p:cNvPr>
          <p:cNvSpPr/>
          <p:nvPr/>
        </p:nvSpPr>
        <p:spPr>
          <a:xfrm>
            <a:off x="5532053" y="412552"/>
            <a:ext cx="3326197" cy="436876"/>
          </a:xfrm>
          <a:prstGeom prst="rect">
            <a:avLst/>
          </a:prstGeom>
          <a:noFill/>
          <a:ln/>
        </p:spPr>
        <p:txBody>
          <a:bodyPr wrap="square" lIns="0" tIns="0" rIns="0" bIns="0" rtlCol="0" anchor="t"/>
          <a:lstStyle/>
          <a:p>
            <a:pPr marL="0" indent="0" algn="l">
              <a:lnSpc>
                <a:spcPts val="1593"/>
              </a:lnSpc>
              <a:buNone/>
            </a:pPr>
            <a:r>
              <a:rPr lang="en-US" sz="1350" b="1" dirty="0">
                <a:solidFill>
                  <a:srgbClr val="F4F1DE"/>
                </a:solidFill>
                <a:latin typeface="Tinos" pitchFamily="34" charset="0"/>
                <a:ea typeface="Tinos" pitchFamily="34" charset="-122"/>
                <a:cs typeface="Tinos" pitchFamily="34" charset="-120"/>
              </a:rPr>
              <a:t>Which Country Produces the Most  Successful Players?</a:t>
            </a:r>
            <a:endParaRPr lang="en-US" sz="1350" dirty="0"/>
          </a:p>
        </p:txBody>
      </p:sp>
      <p:sp>
        <p:nvSpPr>
          <p:cNvPr id="10" name="Text 6">
            <a:extLst>
              <a:ext uri="{FF2B5EF4-FFF2-40B4-BE49-F238E27FC236}">
                <a16:creationId xmlns:a16="http://schemas.microsoft.com/office/drawing/2014/main" id="{71593FB9-6169-F5CD-C602-0F8A15EE79AC}"/>
              </a:ext>
            </a:extLst>
          </p:cNvPr>
          <p:cNvSpPr/>
          <p:nvPr/>
        </p:nvSpPr>
        <p:spPr>
          <a:xfrm>
            <a:off x="5532053" y="902791"/>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a:extLst>
              <a:ext uri="{FF2B5EF4-FFF2-40B4-BE49-F238E27FC236}">
                <a16:creationId xmlns:a16="http://schemas.microsoft.com/office/drawing/2014/main" id="{04554155-73FF-75CD-35DE-249FA345CCBA}"/>
              </a:ext>
            </a:extLst>
          </p:cNvPr>
          <p:cNvSpPr/>
          <p:nvPr/>
        </p:nvSpPr>
        <p:spPr>
          <a:xfrm>
            <a:off x="5532053" y="1009948"/>
            <a:ext cx="3326197" cy="1194473"/>
          </a:xfrm>
          <a:prstGeom prst="rect">
            <a:avLst/>
          </a:prstGeom>
          <a:noFill/>
          <a:ln/>
        </p:spPr>
        <p:txBody>
          <a:bodyPr wrap="square" lIns="0" tIns="0" rIns="0" bIns="0" rtlCol="0" anchor="t">
            <a:normAutofit/>
          </a:bodyPr>
          <a:lstStyle/>
          <a:p>
            <a:r>
              <a:rPr lang="en-US" sz="900" dirty="0">
                <a:solidFill>
                  <a:schemeClr val="bg1"/>
                </a:solidFill>
                <a:latin typeface="Candara" panose="020E0502030303020204" pitchFamily="34" charset="0"/>
              </a:rPr>
              <a:t>THE BETTER QUESTION IS: </a:t>
            </a:r>
          </a:p>
          <a:p>
            <a:r>
              <a:rPr lang="en-US" sz="900" dirty="0">
                <a:solidFill>
                  <a:srgbClr val="FFFF00"/>
                </a:solidFill>
                <a:latin typeface="Candara" panose="020E0502030303020204" pitchFamily="34" charset="0"/>
              </a:rPr>
              <a:t>Which Countries Are Most Efficient by Wins Per Player?</a:t>
            </a:r>
          </a:p>
          <a:p>
            <a:r>
              <a:rPr lang="en-US" sz="900" dirty="0">
                <a:solidFill>
                  <a:schemeClr val="bg1"/>
                </a:solidFill>
                <a:latin typeface="Candara" panose="020E0502030303020204" pitchFamily="34" charset="0"/>
              </a:rPr>
              <a:t>Among countries with ≥50 players, Argentina leads efficiency at 5.58 wins/player, followed by Brazil (5.00), France (4.88), Spain (4.87), and Czech Republic (4.83). The 50-player threshold filters out small samples. Efficiency differs from raw win totals — high-volume countries do not always dominate per-player output.</a:t>
            </a:r>
          </a:p>
          <a:p>
            <a:endParaRPr lang="en-US" sz="900" dirty="0">
              <a:solidFill>
                <a:schemeClr val="bg1"/>
              </a:solidFill>
              <a:latin typeface="Candara" panose="020E0502030303020204" pitchFamily="34" charset="0"/>
            </a:endParaRPr>
          </a:p>
        </p:txBody>
      </p:sp>
      <p:sp>
        <p:nvSpPr>
          <p:cNvPr id="12" name="Shape 8">
            <a:extLst>
              <a:ext uri="{FF2B5EF4-FFF2-40B4-BE49-F238E27FC236}">
                <a16:creationId xmlns:a16="http://schemas.microsoft.com/office/drawing/2014/main" id="{CBECB3E4-6388-03BE-EFA0-1A0820F8A19E}"/>
              </a:ext>
            </a:extLst>
          </p:cNvPr>
          <p:cNvSpPr/>
          <p:nvPr/>
        </p:nvSpPr>
        <p:spPr>
          <a:xfrm>
            <a:off x="5542769" y="2472574"/>
            <a:ext cx="0" cy="705445"/>
          </a:xfrm>
          <a:prstGeom prst="line">
            <a:avLst/>
          </a:prstGeom>
          <a:noFill/>
          <a:ln w="21431">
            <a:solidFill>
              <a:srgbClr val="FFF100"/>
            </a:solidFill>
            <a:prstDash val="solid"/>
          </a:ln>
        </p:spPr>
      </p:sp>
      <p:sp>
        <p:nvSpPr>
          <p:cNvPr id="13" name="Text 9">
            <a:extLst>
              <a:ext uri="{FF2B5EF4-FFF2-40B4-BE49-F238E27FC236}">
                <a16:creationId xmlns:a16="http://schemas.microsoft.com/office/drawing/2014/main" id="{F3748748-86EE-4CCF-2F19-BCC2B3F78AFB}"/>
              </a:ext>
            </a:extLst>
          </p:cNvPr>
          <p:cNvSpPr/>
          <p:nvPr/>
        </p:nvSpPr>
        <p:spPr>
          <a:xfrm>
            <a:off x="5585109" y="2508292"/>
            <a:ext cx="1095910" cy="515545"/>
          </a:xfrm>
          <a:prstGeom prst="rect">
            <a:avLst/>
          </a:prstGeom>
          <a:noFill/>
          <a:ln/>
        </p:spPr>
        <p:txBody>
          <a:bodyPr wrap="non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Brazil</a:t>
            </a:r>
          </a:p>
          <a:p>
            <a:pPr marL="0" indent="0" algn="l">
              <a:lnSpc>
                <a:spcPts val="1913"/>
              </a:lnSpc>
              <a:buNone/>
            </a:pPr>
            <a:r>
              <a:rPr lang="en-US" sz="1913" b="1" dirty="0">
                <a:solidFill>
                  <a:srgbClr val="FFF100"/>
                </a:solidFill>
                <a:latin typeface="Liberation Sans Narrow" pitchFamily="34" charset="0"/>
                <a:ea typeface="Liberation Sans Narrow" pitchFamily="34" charset="-122"/>
              </a:rPr>
              <a:t>5.oo</a:t>
            </a:r>
            <a:endParaRPr lang="en-US" sz="1913" dirty="0"/>
          </a:p>
        </p:txBody>
      </p:sp>
      <p:sp>
        <p:nvSpPr>
          <p:cNvPr id="15" name="Shape 11">
            <a:extLst>
              <a:ext uri="{FF2B5EF4-FFF2-40B4-BE49-F238E27FC236}">
                <a16:creationId xmlns:a16="http://schemas.microsoft.com/office/drawing/2014/main" id="{1A9617FD-26A5-F8F7-9601-667A2EA2AFDD}"/>
              </a:ext>
            </a:extLst>
          </p:cNvPr>
          <p:cNvSpPr/>
          <p:nvPr/>
        </p:nvSpPr>
        <p:spPr>
          <a:xfrm>
            <a:off x="7248674" y="2472574"/>
            <a:ext cx="0" cy="705445"/>
          </a:xfrm>
          <a:prstGeom prst="line">
            <a:avLst/>
          </a:prstGeom>
          <a:noFill/>
          <a:ln w="21431">
            <a:solidFill>
              <a:srgbClr val="FFF100"/>
            </a:solidFill>
            <a:prstDash val="solid"/>
          </a:ln>
        </p:spPr>
      </p:sp>
      <p:sp>
        <p:nvSpPr>
          <p:cNvPr id="16" name="Text 12">
            <a:extLst>
              <a:ext uri="{FF2B5EF4-FFF2-40B4-BE49-F238E27FC236}">
                <a16:creationId xmlns:a16="http://schemas.microsoft.com/office/drawing/2014/main" id="{6BDAAE9D-0D2D-DEF6-714B-D72FC78B25EB}"/>
              </a:ext>
            </a:extLst>
          </p:cNvPr>
          <p:cNvSpPr/>
          <p:nvPr/>
        </p:nvSpPr>
        <p:spPr>
          <a:xfrm>
            <a:off x="7345114" y="2508293"/>
            <a:ext cx="1513136" cy="494062"/>
          </a:xfrm>
          <a:prstGeom prst="rect">
            <a:avLst/>
          </a:prstGeom>
          <a:noFill/>
          <a:ln/>
        </p:spPr>
        <p:txBody>
          <a:bodyPr wrap="square" lIns="0" tIns="0" rIns="0" bIns="0" rtlCol="0" anchor="t">
            <a:normAutofit/>
          </a:bodyPr>
          <a:lstStyle/>
          <a:p>
            <a:pPr marL="0" indent="0" algn="l">
              <a:lnSpc>
                <a:spcPts val="1913"/>
              </a:lnSpc>
              <a:buNone/>
            </a:pPr>
            <a:r>
              <a:rPr lang="en-US" sz="1913" b="1" dirty="0">
                <a:solidFill>
                  <a:srgbClr val="FFF100"/>
                </a:solidFill>
                <a:latin typeface="Liberation Sans Narrow" pitchFamily="34" charset="0"/>
                <a:ea typeface="Liberation Sans Narrow" pitchFamily="34" charset="-122"/>
                <a:cs typeface="Liberation Sans Narrow" pitchFamily="34" charset="-120"/>
              </a:rPr>
              <a:t>Argentina 5.58</a:t>
            </a:r>
            <a:endParaRPr lang="en-US" sz="1913" dirty="0"/>
          </a:p>
        </p:txBody>
      </p:sp>
      <p:sp>
        <p:nvSpPr>
          <p:cNvPr id="17" name="Text 13">
            <a:extLst>
              <a:ext uri="{FF2B5EF4-FFF2-40B4-BE49-F238E27FC236}">
                <a16:creationId xmlns:a16="http://schemas.microsoft.com/office/drawing/2014/main" id="{3B62430C-1378-FE92-3C1E-0FE525DA1D52}"/>
              </a:ext>
            </a:extLst>
          </p:cNvPr>
          <p:cNvSpPr/>
          <p:nvPr/>
        </p:nvSpPr>
        <p:spPr>
          <a:xfrm>
            <a:off x="7345114" y="3029787"/>
            <a:ext cx="1513136" cy="112514"/>
          </a:xfrm>
          <a:prstGeom prst="rect">
            <a:avLst/>
          </a:prstGeom>
          <a:noFill/>
          <a:ln/>
        </p:spPr>
        <p:txBody>
          <a:bodyPr wrap="none" lIns="0" tIns="0" rIns="0" bIns="0" rtlCol="0" anchor="t"/>
          <a:lstStyle/>
          <a:p>
            <a:pPr marL="0" indent="0" algn="l">
              <a:lnSpc>
                <a:spcPts val="886"/>
              </a:lnSpc>
              <a:buNone/>
            </a:pPr>
            <a:r>
              <a:rPr lang="en-US" sz="800" kern="0" spc="30" dirty="0">
                <a:solidFill>
                  <a:srgbClr val="F4F1DE"/>
                </a:solidFill>
                <a:latin typeface="Carlito" pitchFamily="34" charset="0"/>
                <a:ea typeface="Carlito" pitchFamily="34" charset="-122"/>
                <a:cs typeface="Carlito" pitchFamily="34" charset="-120"/>
              </a:rPr>
              <a:t>WINS / PLAYER LEADER</a:t>
            </a:r>
            <a:endParaRPr lang="en-US" sz="800" dirty="0"/>
          </a:p>
        </p:txBody>
      </p:sp>
      <p:sp>
        <p:nvSpPr>
          <p:cNvPr id="19" name="Text 15">
            <a:extLst>
              <a:ext uri="{FF2B5EF4-FFF2-40B4-BE49-F238E27FC236}">
                <a16:creationId xmlns:a16="http://schemas.microsoft.com/office/drawing/2014/main" id="{7642EE61-2605-4E7C-9AA8-14C31B72735F}"/>
              </a:ext>
            </a:extLst>
          </p:cNvPr>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20" name="Text 16">
            <a:extLst>
              <a:ext uri="{FF2B5EF4-FFF2-40B4-BE49-F238E27FC236}">
                <a16:creationId xmlns:a16="http://schemas.microsoft.com/office/drawing/2014/main" id="{28ABF6F3-4CF2-740A-924E-59BBB148B4EA}"/>
              </a:ext>
            </a:extLst>
          </p:cNvPr>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24 / 30</a:t>
            </a:r>
            <a:endParaRPr lang="en-US" sz="800" dirty="0"/>
          </a:p>
        </p:txBody>
      </p:sp>
      <p:sp>
        <p:nvSpPr>
          <p:cNvPr id="22" name="Text 4">
            <a:extLst>
              <a:ext uri="{FF2B5EF4-FFF2-40B4-BE49-F238E27FC236}">
                <a16:creationId xmlns:a16="http://schemas.microsoft.com/office/drawing/2014/main" id="{7612BD14-CACE-6714-B0B1-D69FAB84E866}"/>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Q6 · SECTION 03</a:t>
            </a:r>
            <a:endParaRPr lang="en-US" sz="800" dirty="0"/>
          </a:p>
        </p:txBody>
      </p:sp>
      <p:sp>
        <p:nvSpPr>
          <p:cNvPr id="24" name="Text 2">
            <a:extLst>
              <a:ext uri="{FF2B5EF4-FFF2-40B4-BE49-F238E27FC236}">
                <a16:creationId xmlns:a16="http://schemas.microsoft.com/office/drawing/2014/main" id="{AE70D487-6D8D-1CD9-4C9A-0968802D4775}"/>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pic>
        <p:nvPicPr>
          <p:cNvPr id="6" name="Image 1" descr="/tmp/h2p-fit-1789550284863-h1dyp3.png">
            <a:extLst>
              <a:ext uri="{FF2B5EF4-FFF2-40B4-BE49-F238E27FC236}">
                <a16:creationId xmlns:a16="http://schemas.microsoft.com/office/drawing/2014/main" id="{D0AB2EE2-B137-605D-FD9E-6F0176A331AF}"/>
              </a:ext>
            </a:extLst>
          </p:cNvPr>
          <p:cNvPicPr>
            <a:picLocks noChangeAspect="1"/>
          </p:cNvPicPr>
          <p:nvPr/>
        </p:nvPicPr>
        <p:blipFill>
          <a:blip r:embed="rId4"/>
          <a:stretch>
            <a:fillRect/>
          </a:stretch>
        </p:blipFill>
        <p:spPr>
          <a:xfrm>
            <a:off x="385763" y="918976"/>
            <a:ext cx="4874828" cy="3389486"/>
          </a:xfrm>
          <a:prstGeom prst="rect">
            <a:avLst/>
          </a:prstGeom>
        </p:spPr>
      </p:pic>
      <p:sp>
        <p:nvSpPr>
          <p:cNvPr id="23" name="Text 13">
            <a:extLst>
              <a:ext uri="{FF2B5EF4-FFF2-40B4-BE49-F238E27FC236}">
                <a16:creationId xmlns:a16="http://schemas.microsoft.com/office/drawing/2014/main" id="{E887EC95-39C4-66C0-44B6-4804723F1DF0}"/>
              </a:ext>
            </a:extLst>
          </p:cNvPr>
          <p:cNvSpPr/>
          <p:nvPr/>
        </p:nvSpPr>
        <p:spPr>
          <a:xfrm>
            <a:off x="5585109" y="2998833"/>
            <a:ext cx="1513136" cy="112514"/>
          </a:xfrm>
          <a:prstGeom prst="rect">
            <a:avLst/>
          </a:prstGeom>
          <a:noFill/>
          <a:ln/>
        </p:spPr>
        <p:txBody>
          <a:bodyPr wrap="none" lIns="0" tIns="0" rIns="0" bIns="0" rtlCol="0" anchor="t"/>
          <a:lstStyle/>
          <a:p>
            <a:pPr marL="0" indent="0" algn="l">
              <a:lnSpc>
                <a:spcPts val="886"/>
              </a:lnSpc>
              <a:buNone/>
            </a:pPr>
            <a:r>
              <a:rPr lang="en-US" sz="800" kern="0" spc="30" dirty="0">
                <a:solidFill>
                  <a:srgbClr val="F4F1DE"/>
                </a:solidFill>
                <a:latin typeface="Carlito" pitchFamily="34" charset="0"/>
                <a:ea typeface="Carlito" pitchFamily="34" charset="-122"/>
                <a:cs typeface="Carlito" pitchFamily="34" charset="-120"/>
              </a:rPr>
              <a:t>WINS / PLAYER LEADER</a:t>
            </a:r>
            <a:endParaRPr lang="en-US" sz="800" dirty="0"/>
          </a:p>
        </p:txBody>
      </p:sp>
      <p:sp>
        <p:nvSpPr>
          <p:cNvPr id="26" name="TextBox 25">
            <a:extLst>
              <a:ext uri="{FF2B5EF4-FFF2-40B4-BE49-F238E27FC236}">
                <a16:creationId xmlns:a16="http://schemas.microsoft.com/office/drawing/2014/main" id="{166F855E-29A5-87FC-2627-CCC68A0AF4D2}"/>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20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Wins per Players vs. Player Pool Size</a:t>
            </a:r>
            <a:endParaRPr lang="fa-IR" sz="800" kern="0" spc="71" dirty="0">
              <a:solidFill>
                <a:srgbClr val="6FA68A"/>
              </a:solidFill>
              <a:latin typeface="Carlito" pitchFamily="34" charset="0"/>
              <a:ea typeface="Carlito" pitchFamily="34" charset="-122"/>
            </a:endParaRPr>
          </a:p>
        </p:txBody>
      </p:sp>
    </p:spTree>
    <p:extLst>
      <p:ext uri="{BB962C8B-B14F-4D97-AF65-F5344CB8AC3E}">
        <p14:creationId xmlns:p14="http://schemas.microsoft.com/office/powerpoint/2010/main" val="358741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p:cNvSpPr/>
          <p:nvPr/>
        </p:nvSpPr>
        <p:spPr>
          <a:xfrm>
            <a:off x="285750" y="412552"/>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sp>
        <p:nvSpPr>
          <p:cNvPr id="9" name="Text 5"/>
          <p:cNvSpPr/>
          <p:nvPr/>
        </p:nvSpPr>
        <p:spPr>
          <a:xfrm>
            <a:off x="5532053" y="412552"/>
            <a:ext cx="3326197" cy="436876"/>
          </a:xfrm>
          <a:prstGeom prst="rect">
            <a:avLst/>
          </a:prstGeom>
          <a:noFill/>
          <a:ln/>
        </p:spPr>
        <p:txBody>
          <a:bodyPr wrap="square" lIns="0" tIns="0" rIns="0" bIns="0" rtlCol="0" anchor="t"/>
          <a:lstStyle/>
          <a:p>
            <a:pPr marL="0" indent="0" algn="l">
              <a:lnSpc>
                <a:spcPts val="1593"/>
              </a:lnSpc>
              <a:buNone/>
            </a:pPr>
            <a:r>
              <a:rPr lang="en-US" sz="1350" b="1" dirty="0">
                <a:solidFill>
                  <a:srgbClr val="F4F1DE"/>
                </a:solidFill>
                <a:latin typeface="Tinos" pitchFamily="34" charset="0"/>
                <a:ea typeface="Tinos" pitchFamily="34" charset="-122"/>
                <a:cs typeface="Tinos" pitchFamily="34" charset="-120"/>
              </a:rPr>
              <a:t>What Is the Most Tournaments Won in a Single Month?</a:t>
            </a:r>
            <a:endParaRPr lang="en-US" sz="1350" dirty="0"/>
          </a:p>
        </p:txBody>
      </p:sp>
      <p:sp>
        <p:nvSpPr>
          <p:cNvPr id="10" name="Text 6"/>
          <p:cNvSpPr/>
          <p:nvPr/>
        </p:nvSpPr>
        <p:spPr>
          <a:xfrm>
            <a:off x="5532053" y="917079"/>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1038523"/>
            <a:ext cx="3326197" cy="1004840"/>
          </a:xfrm>
          <a:prstGeom prst="rect">
            <a:avLst/>
          </a:prstGeom>
          <a:noFill/>
          <a:ln/>
        </p:spPr>
        <p:txBody>
          <a:bodyPr wrap="square" lIns="0" tIns="0" rIns="0" bIns="0" rtlCol="0" anchor="t">
            <a:normAutofit/>
          </a:bodyPr>
          <a:lstStyle/>
          <a:p>
            <a:pPr marL="0" indent="0" algn="l">
              <a:lnSpc>
                <a:spcPts val="1223"/>
              </a:lnSpc>
              <a:buNone/>
            </a:pPr>
            <a:r>
              <a:rPr lang="en-US" sz="900" dirty="0">
                <a:solidFill>
                  <a:srgbClr val="F4F1DE"/>
                </a:solidFill>
                <a:latin typeface="Candara" panose="020E0502030303020204" pitchFamily="34" charset="0"/>
                <a:ea typeface="Carlito" pitchFamily="34" charset="-122"/>
                <a:cs typeface="Carlito" pitchFamily="34" charset="-120"/>
              </a:rPr>
              <a:t>The maximum is </a:t>
            </a:r>
            <a:r>
              <a:rPr lang="en-US" sz="900" dirty="0">
                <a:solidFill>
                  <a:srgbClr val="FFF100"/>
                </a:solidFill>
                <a:latin typeface="Candara" panose="020E0502030303020204" pitchFamily="34" charset="0"/>
                <a:ea typeface="Liberation Sans Narrow" pitchFamily="34" charset="-122"/>
                <a:cs typeface="Liberation Sans Narrow" pitchFamily="34" charset="-120"/>
              </a:rPr>
              <a:t>3 tournaments in one month</a:t>
            </a:r>
            <a:r>
              <a:rPr lang="en-US" sz="900" dirty="0">
                <a:solidFill>
                  <a:srgbClr val="F4F1DE"/>
                </a:solidFill>
                <a:latin typeface="Candara" panose="020E0502030303020204" pitchFamily="34" charset="0"/>
                <a:ea typeface="Carlito" pitchFamily="34" charset="-122"/>
                <a:cs typeface="Carlito" pitchFamily="34" charset="-120"/>
              </a:rPr>
              <a:t>, reached by four players — Popko, Gengel, Jianu, and Nicod — in Feb–Mar 2024, all in ITF Men. Three events in one month fits the weekly ITF calendar structure. The same pattern is less likely at ATP level because events are spaced further apart and fields are deeper. Of 260 main-draw finals, 28 had no recorded winner and were excluded.</a:t>
            </a:r>
            <a:endParaRPr lang="en-US" sz="900" dirty="0">
              <a:latin typeface="Candara" panose="020E0502030303020204" pitchFamily="34" charset="0"/>
            </a:endParaRPr>
          </a:p>
        </p:txBody>
      </p:sp>
      <p:sp>
        <p:nvSpPr>
          <p:cNvPr id="12" name="Shape 8"/>
          <p:cNvSpPr/>
          <p:nvPr/>
        </p:nvSpPr>
        <p:spPr>
          <a:xfrm>
            <a:off x="5542769" y="2542743"/>
            <a:ext cx="0" cy="551855"/>
          </a:xfrm>
          <a:prstGeom prst="line">
            <a:avLst/>
          </a:prstGeom>
          <a:noFill/>
          <a:ln w="21431">
            <a:solidFill>
              <a:srgbClr val="FFF100"/>
            </a:solidFill>
            <a:prstDash val="solid"/>
          </a:ln>
        </p:spPr>
      </p:sp>
      <p:sp>
        <p:nvSpPr>
          <p:cNvPr id="13" name="Text 9"/>
          <p:cNvSpPr/>
          <p:nvPr/>
        </p:nvSpPr>
        <p:spPr>
          <a:xfrm>
            <a:off x="5653497" y="2585605"/>
            <a:ext cx="3204753" cy="315468"/>
          </a:xfrm>
          <a:prstGeom prst="rect">
            <a:avLst/>
          </a:prstGeom>
          <a:noFill/>
          <a:ln/>
        </p:spPr>
        <p:txBody>
          <a:bodyPr wrap="none" lIns="0" tIns="0" rIns="0" bIns="0" rtlCol="0" anchor="t">
            <a:normAutofit/>
          </a:bodyPr>
          <a:lstStyle/>
          <a:p>
            <a:pPr marL="0" indent="0" algn="l">
              <a:lnSpc>
                <a:spcPts val="2363"/>
              </a:lnSpc>
              <a:buNone/>
            </a:pPr>
            <a:r>
              <a:rPr lang="en-US" sz="2363" b="1" dirty="0">
                <a:solidFill>
                  <a:srgbClr val="FFF100"/>
                </a:solidFill>
                <a:latin typeface="Liberation Sans Narrow" pitchFamily="34" charset="0"/>
                <a:ea typeface="Liberation Sans Narrow" pitchFamily="34" charset="-122"/>
                <a:cs typeface="Liberation Sans Narrow" pitchFamily="34" charset="-120"/>
              </a:rPr>
              <a:t>3 tournaments</a:t>
            </a:r>
            <a:endParaRPr lang="en-US" sz="2363" dirty="0"/>
          </a:p>
        </p:txBody>
      </p:sp>
      <p:sp>
        <p:nvSpPr>
          <p:cNvPr id="14" name="Text 10"/>
          <p:cNvSpPr/>
          <p:nvPr/>
        </p:nvSpPr>
        <p:spPr>
          <a:xfrm>
            <a:off x="5653497" y="2928505"/>
            <a:ext cx="3314481" cy="123230"/>
          </a:xfrm>
          <a:prstGeom prst="rect">
            <a:avLst/>
          </a:prstGeom>
          <a:noFill/>
          <a:ln/>
        </p:spPr>
        <p:txBody>
          <a:bodyPr wrap="square" lIns="0" tIns="0" rIns="0" bIns="0" rtlCol="0" anchor="t"/>
          <a:lstStyle/>
          <a:p>
            <a:pPr marL="0" indent="0" algn="l">
              <a:lnSpc>
                <a:spcPts val="970"/>
              </a:lnSpc>
              <a:buNone/>
            </a:pPr>
            <a:r>
              <a:rPr lang="en-US" sz="800" kern="0" spc="32" dirty="0">
                <a:solidFill>
                  <a:srgbClr val="F4F1DE"/>
                </a:solidFill>
                <a:latin typeface="Carlito" pitchFamily="34" charset="0"/>
                <a:ea typeface="Carlito" pitchFamily="34" charset="-122"/>
                <a:cs typeface="Carlito" pitchFamily="34" charset="-120"/>
              </a:rPr>
              <a:t>IN ONE MONTH — 4 PLAYERS (FEB–MAR 2024)</a:t>
            </a:r>
            <a:endParaRPr lang="en-US" sz="800" dirty="0"/>
          </a:p>
        </p:txBody>
      </p:sp>
      <p:sp>
        <p:nvSpPr>
          <p:cNvPr id="15" name="Text 11"/>
          <p:cNvSpPr/>
          <p:nvPr/>
        </p:nvSpPr>
        <p:spPr>
          <a:xfrm>
            <a:off x="5532053" y="4442185"/>
            <a:ext cx="3326197" cy="477060"/>
          </a:xfrm>
          <a:prstGeom prst="rect">
            <a:avLst/>
          </a:prstGeom>
          <a:noFill/>
          <a:ln/>
        </p:spPr>
        <p:txBody>
          <a:bodyPr wrap="square" lIns="0" tIns="0" rIns="0" bIns="0" rtlCol="0" anchor="t"/>
          <a:lstStyle/>
          <a:p>
            <a:pPr marL="0" indent="0" algn="l">
              <a:lnSpc>
                <a:spcPts val="979"/>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Restricted to main draw (qualifying excluded); is_final matches only; required completed match with winner; player attributed as in Q3; grouped by player × month. Measured only over months present in the data.</a:t>
            </a:r>
            <a:endParaRPr lang="en-US" sz="800" dirty="0">
              <a:latin typeface="Dubai Light" panose="020B0303030403030204" pitchFamily="34" charset="-78"/>
              <a:cs typeface="Dubai Light" panose="020B0303030403030204" pitchFamily="34" charset="-78"/>
            </a:endParaRPr>
          </a:p>
        </p:txBody>
      </p:sp>
      <p:sp>
        <p:nvSpPr>
          <p:cNvPr id="16" name="Text 12"/>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17" name="Text 13"/>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25 / 30</a:t>
            </a:r>
            <a:endParaRPr lang="en-US" sz="800" dirty="0"/>
          </a:p>
        </p:txBody>
      </p:sp>
      <p:pic>
        <p:nvPicPr>
          <p:cNvPr id="19" name="Image 1" descr="/tmp/h2p-fit-1789550285261-1gis6s.png">
            <a:extLst>
              <a:ext uri="{FF2B5EF4-FFF2-40B4-BE49-F238E27FC236}">
                <a16:creationId xmlns:a16="http://schemas.microsoft.com/office/drawing/2014/main" id="{C9D5BEA0-E349-3B7C-D0F2-2C191A4A575A}"/>
              </a:ext>
            </a:extLst>
          </p:cNvPr>
          <p:cNvPicPr>
            <a:picLocks noChangeAspect="1"/>
          </p:cNvPicPr>
          <p:nvPr/>
        </p:nvPicPr>
        <p:blipFill>
          <a:blip r:embed="rId4"/>
          <a:stretch>
            <a:fillRect/>
          </a:stretch>
        </p:blipFill>
        <p:spPr>
          <a:xfrm>
            <a:off x="385763" y="794296"/>
            <a:ext cx="4874828" cy="3624560"/>
          </a:xfrm>
          <a:prstGeom prst="rect">
            <a:avLst/>
          </a:prstGeom>
        </p:spPr>
      </p:pic>
      <p:sp>
        <p:nvSpPr>
          <p:cNvPr id="21" name="Text 4">
            <a:extLst>
              <a:ext uri="{FF2B5EF4-FFF2-40B4-BE49-F238E27FC236}">
                <a16:creationId xmlns:a16="http://schemas.microsoft.com/office/drawing/2014/main" id="{983A154A-2E81-6F16-824B-F479DE08A474}"/>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Q9 · SECTION 03</a:t>
            </a:r>
            <a:endParaRPr lang="en-US" sz="800" dirty="0"/>
          </a:p>
        </p:txBody>
      </p:sp>
      <p:sp>
        <p:nvSpPr>
          <p:cNvPr id="23" name="Text 2">
            <a:extLst>
              <a:ext uri="{FF2B5EF4-FFF2-40B4-BE49-F238E27FC236}">
                <a16:creationId xmlns:a16="http://schemas.microsoft.com/office/drawing/2014/main" id="{85723392-7999-25CE-4D3D-6908587FC5F6}"/>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sp>
        <p:nvSpPr>
          <p:cNvPr id="25" name="TextBox 24">
            <a:extLst>
              <a:ext uri="{FF2B5EF4-FFF2-40B4-BE49-F238E27FC236}">
                <a16:creationId xmlns:a16="http://schemas.microsoft.com/office/drawing/2014/main" id="{73BF02F8-7597-A883-5AA3-ABE32D074B32}"/>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21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Most Tournaments Won by a Player  in a single Month</a:t>
            </a:r>
            <a:endParaRPr lang="fa-IR" sz="800" kern="0" spc="71" dirty="0">
              <a:solidFill>
                <a:srgbClr val="6FA68A"/>
              </a:solidFill>
              <a:latin typeface="Carlito" pitchFamily="34" charset="0"/>
              <a:ea typeface="Carlito"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p:cNvSpPr/>
          <p:nvPr/>
        </p:nvSpPr>
        <p:spPr>
          <a:xfrm>
            <a:off x="285750" y="398264"/>
            <a:ext cx="5074853" cy="4416623"/>
          </a:xfrm>
          <a:prstGeom prst="roundRect">
            <a:avLst>
              <a:gd name="adj" fmla="val 1725"/>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sp>
        <p:nvSpPr>
          <p:cNvPr id="9" name="Text 5"/>
          <p:cNvSpPr/>
          <p:nvPr/>
        </p:nvSpPr>
        <p:spPr>
          <a:xfrm>
            <a:off x="5532053" y="398264"/>
            <a:ext cx="3611947" cy="232663"/>
          </a:xfrm>
          <a:prstGeom prst="rect">
            <a:avLst/>
          </a:prstGeom>
          <a:noFill/>
          <a:ln/>
        </p:spPr>
        <p:txBody>
          <a:bodyPr wrap="square" lIns="0" tIns="0" rIns="0" bIns="0" rtlCol="0" anchor="t"/>
          <a:lstStyle/>
          <a:p>
            <a:pPr marL="0" indent="0" algn="l">
              <a:lnSpc>
                <a:spcPts val="1697"/>
              </a:lnSpc>
              <a:buNone/>
            </a:pPr>
            <a:r>
              <a:rPr lang="en-US" sz="1463" b="1" dirty="0">
                <a:solidFill>
                  <a:srgbClr val="F4F1DE"/>
                </a:solidFill>
                <a:latin typeface="Tinos" pitchFamily="34" charset="0"/>
                <a:ea typeface="Tinos" pitchFamily="34" charset="-122"/>
                <a:cs typeface="Tinos" pitchFamily="34" charset="-120"/>
              </a:rPr>
              <a:t>What Is the Average Match Duration?</a:t>
            </a:r>
            <a:endParaRPr lang="en-US" sz="1463" dirty="0"/>
          </a:p>
        </p:txBody>
      </p:sp>
      <p:sp>
        <p:nvSpPr>
          <p:cNvPr id="10" name="Text 6"/>
          <p:cNvSpPr/>
          <p:nvPr/>
        </p:nvSpPr>
        <p:spPr>
          <a:xfrm>
            <a:off x="5532053" y="699418"/>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799430"/>
            <a:ext cx="3326197" cy="801243"/>
          </a:xfrm>
          <a:prstGeom prst="rect">
            <a:avLst/>
          </a:prstGeom>
          <a:noFill/>
          <a:ln/>
        </p:spPr>
        <p:txBody>
          <a:bodyPr wrap="square" lIns="0" tIns="0" rIns="0" bIns="0" rtlCol="0" anchor="t">
            <a:normAutofit/>
          </a:bodyPr>
          <a:lstStyle/>
          <a:p>
            <a:pPr marL="0" indent="0" algn="l">
              <a:lnSpc>
                <a:spcPts val="1181"/>
              </a:lnSpc>
              <a:buNone/>
            </a:pPr>
            <a:r>
              <a:rPr lang="en-US" sz="900" dirty="0">
                <a:solidFill>
                  <a:srgbClr val="F4F1DE"/>
                </a:solidFill>
                <a:latin typeface="Candara" panose="020E0502030303020204" pitchFamily="34" charset="0"/>
                <a:ea typeface="Carlito" pitchFamily="34" charset="-122"/>
                <a:cs typeface="Carlito" pitchFamily="34" charset="-120"/>
              </a:rPr>
              <a:t>Using the same duration pipeline as Q4: mean </a:t>
            </a:r>
            <a:r>
              <a:rPr lang="en-US" sz="900" dirty="0">
                <a:solidFill>
                  <a:srgbClr val="FFF100"/>
                </a:solidFill>
                <a:latin typeface="Candara" panose="020E0502030303020204" pitchFamily="34" charset="0"/>
                <a:ea typeface="Liberation Sans Narrow" pitchFamily="34" charset="-122"/>
                <a:cs typeface="Liberation Sans Narrow" pitchFamily="34" charset="-120"/>
              </a:rPr>
              <a:t>103.6 minutes</a:t>
            </a:r>
            <a:r>
              <a:rPr lang="en-US" sz="900" dirty="0">
                <a:solidFill>
                  <a:srgbClr val="F4F1DE"/>
                </a:solidFill>
                <a:latin typeface="Candara" panose="020E0502030303020204" pitchFamily="34" charset="0"/>
                <a:ea typeface="Carlito" pitchFamily="34" charset="-122"/>
                <a:cs typeface="Carlito" pitchFamily="34" charset="-120"/>
              </a:rPr>
              <a:t>, median 96.8, standard deviation 35.2 (n=10,075). The mean sitting above the median indicates right-skew. By sets: ~87.8 minutes for 2-set matches vs ~139.6 minutes for 3-set matches — the ~52-minute gap is consistent with the cost of one extra full set.</a:t>
            </a:r>
            <a:endParaRPr lang="en-US" sz="900" dirty="0">
              <a:latin typeface="Candara" panose="020E0502030303020204" pitchFamily="34" charset="0"/>
            </a:endParaRPr>
          </a:p>
        </p:txBody>
      </p:sp>
      <p:sp>
        <p:nvSpPr>
          <p:cNvPr id="12" name="Shape 8"/>
          <p:cNvSpPr/>
          <p:nvPr/>
        </p:nvSpPr>
        <p:spPr>
          <a:xfrm>
            <a:off x="5454135" y="2291785"/>
            <a:ext cx="0" cy="760809"/>
          </a:xfrm>
          <a:prstGeom prst="line">
            <a:avLst/>
          </a:prstGeom>
          <a:noFill/>
          <a:ln w="21431">
            <a:solidFill>
              <a:srgbClr val="FFF100"/>
            </a:solidFill>
            <a:prstDash val="solid"/>
          </a:ln>
        </p:spPr>
      </p:sp>
      <p:sp>
        <p:nvSpPr>
          <p:cNvPr id="13" name="Text 9"/>
          <p:cNvSpPr/>
          <p:nvPr/>
        </p:nvSpPr>
        <p:spPr>
          <a:xfrm>
            <a:off x="5517136" y="2327504"/>
            <a:ext cx="1281289" cy="222599"/>
          </a:xfrm>
          <a:prstGeom prst="rect">
            <a:avLst/>
          </a:prstGeom>
          <a:noFill/>
          <a:ln/>
        </p:spPr>
        <p:txBody>
          <a:bodyPr wrap="none" lIns="0" tIns="0" rIns="0" bIns="0" rtlCol="0" anchor="t">
            <a:normAutofit/>
          </a:bodyPr>
          <a:lstStyle/>
          <a:p>
            <a:pPr marL="0" indent="0" algn="l">
              <a:lnSpc>
                <a:spcPts val="1688"/>
              </a:lnSpc>
              <a:buNone/>
            </a:pPr>
            <a:r>
              <a:rPr lang="en-US" sz="1688" b="1" dirty="0">
                <a:solidFill>
                  <a:srgbClr val="FFF100"/>
                </a:solidFill>
                <a:latin typeface="Liberation Sans Narrow" pitchFamily="34" charset="0"/>
                <a:ea typeface="Liberation Sans Narrow" pitchFamily="34" charset="-122"/>
                <a:cs typeface="Liberation Sans Narrow" pitchFamily="34" charset="-120"/>
              </a:rPr>
              <a:t>103.6 min</a:t>
            </a:r>
            <a:endParaRPr lang="en-US" sz="1688" dirty="0"/>
          </a:p>
        </p:txBody>
      </p:sp>
      <p:sp>
        <p:nvSpPr>
          <p:cNvPr id="14" name="Text 10"/>
          <p:cNvSpPr/>
          <p:nvPr/>
        </p:nvSpPr>
        <p:spPr>
          <a:xfrm>
            <a:off x="5676079" y="2577535"/>
            <a:ext cx="963402" cy="164592"/>
          </a:xfrm>
          <a:prstGeom prst="rect">
            <a:avLst/>
          </a:prstGeom>
          <a:noFill/>
          <a:ln/>
        </p:spPr>
        <p:txBody>
          <a:bodyPr wrap="none" lIns="0" tIns="0" rIns="0" bIns="0" rtlCol="0" anchor="t"/>
          <a:lstStyle/>
          <a:p>
            <a:pPr marL="0" indent="0" algn="l">
              <a:lnSpc>
                <a:spcPts val="886"/>
              </a:lnSpc>
              <a:buNone/>
            </a:pPr>
            <a:r>
              <a:rPr lang="en-US" sz="800" kern="0" spc="30" dirty="0">
                <a:solidFill>
                  <a:srgbClr val="F4F1DE"/>
                </a:solidFill>
                <a:latin typeface="Liberation Sans Narrow" pitchFamily="34" charset="0"/>
                <a:ea typeface="Liberation Sans Narrow" pitchFamily="34" charset="-122"/>
                <a:cs typeface="Liberation Sans Narrow" pitchFamily="34" charset="-120"/>
              </a:rPr>
              <a:t>MEAN (N=10,075)</a:t>
            </a:r>
            <a:endParaRPr lang="en-US" sz="800" dirty="0"/>
          </a:p>
        </p:txBody>
      </p:sp>
      <p:sp>
        <p:nvSpPr>
          <p:cNvPr id="15" name="Shape 11"/>
          <p:cNvSpPr/>
          <p:nvPr/>
        </p:nvSpPr>
        <p:spPr>
          <a:xfrm>
            <a:off x="6639481" y="2291785"/>
            <a:ext cx="0" cy="760809"/>
          </a:xfrm>
          <a:prstGeom prst="line">
            <a:avLst/>
          </a:prstGeom>
          <a:noFill/>
          <a:ln w="21431">
            <a:solidFill>
              <a:srgbClr val="FFF100"/>
            </a:solidFill>
            <a:prstDash val="solid"/>
          </a:ln>
        </p:spPr>
      </p:sp>
      <p:sp>
        <p:nvSpPr>
          <p:cNvPr id="16" name="Text 12"/>
          <p:cNvSpPr/>
          <p:nvPr/>
        </p:nvSpPr>
        <p:spPr>
          <a:xfrm>
            <a:off x="6723295" y="2327504"/>
            <a:ext cx="1124498" cy="222599"/>
          </a:xfrm>
          <a:prstGeom prst="rect">
            <a:avLst/>
          </a:prstGeom>
          <a:noFill/>
          <a:ln/>
        </p:spPr>
        <p:txBody>
          <a:bodyPr wrap="none" lIns="0" tIns="0" rIns="0" bIns="0" rtlCol="0" anchor="t">
            <a:normAutofit/>
          </a:bodyPr>
          <a:lstStyle/>
          <a:p>
            <a:pPr marL="0" indent="0" algn="l">
              <a:lnSpc>
                <a:spcPts val="1688"/>
              </a:lnSpc>
              <a:buNone/>
            </a:pPr>
            <a:r>
              <a:rPr lang="en-US" sz="1688" b="1" dirty="0">
                <a:solidFill>
                  <a:srgbClr val="FFF100"/>
                </a:solidFill>
                <a:latin typeface="Liberation Sans Narrow" pitchFamily="34" charset="0"/>
                <a:ea typeface="Liberation Sans Narrow" pitchFamily="34" charset="-122"/>
                <a:cs typeface="Liberation Sans Narrow" pitchFamily="34" charset="-120"/>
              </a:rPr>
              <a:t>96.8 min</a:t>
            </a:r>
            <a:endParaRPr lang="en-US" sz="1688" dirty="0"/>
          </a:p>
        </p:txBody>
      </p:sp>
      <p:sp>
        <p:nvSpPr>
          <p:cNvPr id="17" name="Text 13"/>
          <p:cNvSpPr/>
          <p:nvPr/>
        </p:nvSpPr>
        <p:spPr>
          <a:xfrm>
            <a:off x="6803787" y="2577535"/>
            <a:ext cx="963513" cy="164592"/>
          </a:xfrm>
          <a:prstGeom prst="rect">
            <a:avLst/>
          </a:prstGeom>
          <a:noFill/>
          <a:ln/>
        </p:spPr>
        <p:txBody>
          <a:bodyPr wrap="none" lIns="0" tIns="0" rIns="0" bIns="0" rtlCol="0" anchor="t"/>
          <a:lstStyle/>
          <a:p>
            <a:pPr marL="0" indent="0" algn="l">
              <a:lnSpc>
                <a:spcPts val="886"/>
              </a:lnSpc>
              <a:buNone/>
            </a:pPr>
            <a:r>
              <a:rPr lang="en-US" sz="800" kern="0" spc="30" dirty="0">
                <a:solidFill>
                  <a:srgbClr val="F4F1DE"/>
                </a:solidFill>
                <a:latin typeface="Carlito" pitchFamily="34" charset="0"/>
                <a:ea typeface="Carlito" pitchFamily="34" charset="-122"/>
                <a:cs typeface="Carlito" pitchFamily="34" charset="-120"/>
              </a:rPr>
              <a:t>MEDIAN</a:t>
            </a:r>
            <a:endParaRPr lang="en-US" sz="800" dirty="0"/>
          </a:p>
        </p:txBody>
      </p:sp>
      <p:sp>
        <p:nvSpPr>
          <p:cNvPr id="18" name="Shape 14"/>
          <p:cNvSpPr/>
          <p:nvPr/>
        </p:nvSpPr>
        <p:spPr>
          <a:xfrm>
            <a:off x="7824191" y="2327504"/>
            <a:ext cx="0" cy="760809"/>
          </a:xfrm>
          <a:prstGeom prst="line">
            <a:avLst/>
          </a:prstGeom>
          <a:noFill/>
          <a:ln w="21431">
            <a:solidFill>
              <a:srgbClr val="FFF100"/>
            </a:solidFill>
            <a:prstDash val="solid"/>
          </a:ln>
        </p:spPr>
      </p:sp>
      <p:sp>
        <p:nvSpPr>
          <p:cNvPr id="19" name="Text 15"/>
          <p:cNvSpPr/>
          <p:nvPr/>
        </p:nvSpPr>
        <p:spPr>
          <a:xfrm>
            <a:off x="7931607" y="2327504"/>
            <a:ext cx="963513" cy="436912"/>
          </a:xfrm>
          <a:prstGeom prst="rect">
            <a:avLst/>
          </a:prstGeom>
          <a:noFill/>
          <a:ln/>
        </p:spPr>
        <p:txBody>
          <a:bodyPr wrap="square" lIns="0" tIns="0" rIns="0" bIns="0" rtlCol="0" anchor="t">
            <a:normAutofit/>
          </a:bodyPr>
          <a:lstStyle/>
          <a:p>
            <a:pPr marL="0" indent="0" algn="l">
              <a:lnSpc>
                <a:spcPts val="1688"/>
              </a:lnSpc>
              <a:buNone/>
            </a:pPr>
            <a:r>
              <a:rPr lang="en-US" sz="1688" b="1" dirty="0">
                <a:solidFill>
                  <a:srgbClr val="FFF100"/>
                </a:solidFill>
                <a:latin typeface="Liberation Sans Narrow" pitchFamily="34" charset="0"/>
                <a:ea typeface="Liberation Sans Narrow" pitchFamily="34" charset="-122"/>
                <a:cs typeface="Liberation Sans Narrow" pitchFamily="34" charset="-120"/>
              </a:rPr>
              <a:t>87.8 → 139.6</a:t>
            </a:r>
            <a:endParaRPr lang="en-US" sz="1688" dirty="0"/>
          </a:p>
        </p:txBody>
      </p:sp>
      <p:sp>
        <p:nvSpPr>
          <p:cNvPr id="20" name="Text 16"/>
          <p:cNvSpPr/>
          <p:nvPr/>
        </p:nvSpPr>
        <p:spPr>
          <a:xfrm>
            <a:off x="7931607" y="2791848"/>
            <a:ext cx="963513" cy="225028"/>
          </a:xfrm>
          <a:prstGeom prst="rect">
            <a:avLst/>
          </a:prstGeom>
          <a:noFill/>
          <a:ln/>
        </p:spPr>
        <p:txBody>
          <a:bodyPr wrap="square" lIns="0" tIns="0" rIns="0" bIns="0" rtlCol="0" anchor="t"/>
          <a:lstStyle/>
          <a:p>
            <a:pPr marL="0" indent="0" algn="l">
              <a:lnSpc>
                <a:spcPts val="886"/>
              </a:lnSpc>
              <a:buNone/>
            </a:pPr>
            <a:r>
              <a:rPr lang="en-US" sz="800" kern="0" spc="30" dirty="0">
                <a:solidFill>
                  <a:srgbClr val="F4F1DE"/>
                </a:solidFill>
                <a:latin typeface="Liberation Sans Narrow" pitchFamily="34" charset="0"/>
                <a:ea typeface="Liberation Sans Narrow" pitchFamily="34" charset="-122"/>
                <a:cs typeface="Liberation Sans Narrow" pitchFamily="34" charset="-120"/>
              </a:rPr>
              <a:t>2 SETS → 3 SETS (+52 MIN)</a:t>
            </a:r>
            <a:endParaRPr lang="en-US" sz="800" dirty="0"/>
          </a:p>
        </p:txBody>
      </p:sp>
      <p:sp>
        <p:nvSpPr>
          <p:cNvPr id="21" name="Text 17"/>
          <p:cNvSpPr/>
          <p:nvPr/>
        </p:nvSpPr>
        <p:spPr>
          <a:xfrm>
            <a:off x="5532053" y="4457588"/>
            <a:ext cx="3326197" cy="477227"/>
          </a:xfrm>
          <a:prstGeom prst="rect">
            <a:avLst/>
          </a:prstGeom>
          <a:noFill/>
          <a:ln/>
        </p:spPr>
        <p:txBody>
          <a:bodyPr wrap="square" lIns="0" tIns="0" rIns="0" bIns="0" rtlCol="0" anchor="t"/>
          <a:lstStyle/>
          <a:p>
            <a:pPr marL="0" indent="0" algn="l">
              <a:lnSpc>
                <a:spcPts val="93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duration_reliable + 15–300 minutes + completed matches + games cross-check. Same pipeline as Q4. Describes the filtered population only — retirements and corrupted/incomplete durations are out of scope by design.</a:t>
            </a:r>
            <a:endParaRPr lang="en-US" sz="800" dirty="0">
              <a:latin typeface="Dubai Light" panose="020B0303030403030204" pitchFamily="34" charset="-78"/>
              <a:cs typeface="Dubai Light" panose="020B0303030403030204" pitchFamily="34" charset="-78"/>
            </a:endParaRPr>
          </a:p>
        </p:txBody>
      </p:sp>
      <p:sp>
        <p:nvSpPr>
          <p:cNvPr id="22" name="Text 18"/>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23" name="Text 19"/>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26 / 30</a:t>
            </a:r>
            <a:endParaRPr lang="en-US" sz="800" dirty="0"/>
          </a:p>
        </p:txBody>
      </p:sp>
      <p:sp>
        <p:nvSpPr>
          <p:cNvPr id="25" name="Text 2">
            <a:extLst>
              <a:ext uri="{FF2B5EF4-FFF2-40B4-BE49-F238E27FC236}">
                <a16:creationId xmlns:a16="http://schemas.microsoft.com/office/drawing/2014/main" id="{FF3EC41D-971B-49CA-4B37-FE17E0C2A44A}"/>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sp>
        <p:nvSpPr>
          <p:cNvPr id="27" name="Text 4">
            <a:extLst>
              <a:ext uri="{FF2B5EF4-FFF2-40B4-BE49-F238E27FC236}">
                <a16:creationId xmlns:a16="http://schemas.microsoft.com/office/drawing/2014/main" id="{3DA7F34E-5C7D-21EB-9760-AF225432CE62}"/>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Q11 · SECTION 03</a:t>
            </a:r>
            <a:endParaRPr lang="en-US" sz="800" dirty="0"/>
          </a:p>
        </p:txBody>
      </p:sp>
      <p:pic>
        <p:nvPicPr>
          <p:cNvPr id="29" name="Image 1" descr="/tmp/h2p-fit-1789550285828-6cfq54.png">
            <a:extLst>
              <a:ext uri="{FF2B5EF4-FFF2-40B4-BE49-F238E27FC236}">
                <a16:creationId xmlns:a16="http://schemas.microsoft.com/office/drawing/2014/main" id="{AC8D0C81-C57D-6825-4438-F6F423B213B6}"/>
              </a:ext>
            </a:extLst>
          </p:cNvPr>
          <p:cNvPicPr>
            <a:picLocks noChangeAspect="1"/>
          </p:cNvPicPr>
          <p:nvPr/>
        </p:nvPicPr>
        <p:blipFill>
          <a:blip r:embed="rId4"/>
          <a:stretch>
            <a:fillRect/>
          </a:stretch>
        </p:blipFill>
        <p:spPr>
          <a:xfrm>
            <a:off x="385763" y="1134517"/>
            <a:ext cx="4874828" cy="2958294"/>
          </a:xfrm>
          <a:prstGeom prst="rect">
            <a:avLst/>
          </a:prstGeom>
        </p:spPr>
      </p:pic>
      <p:sp>
        <p:nvSpPr>
          <p:cNvPr id="31" name="TextBox 30">
            <a:extLst>
              <a:ext uri="{FF2B5EF4-FFF2-40B4-BE49-F238E27FC236}">
                <a16:creationId xmlns:a16="http://schemas.microsoft.com/office/drawing/2014/main" id="{2B49BF12-E769-1527-D1AF-C5017F0181F9}"/>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22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Distribution of Match Duration</a:t>
            </a:r>
            <a:endParaRPr lang="fa-IR" sz="800" kern="0" spc="71" dirty="0">
              <a:solidFill>
                <a:srgbClr val="6FA68A"/>
              </a:solidFill>
              <a:latin typeface="Carlito" pitchFamily="34" charset="0"/>
              <a:ea typeface="Carlito"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p:cNvSpPr/>
          <p:nvPr/>
        </p:nvSpPr>
        <p:spPr>
          <a:xfrm>
            <a:off x="285750" y="412552"/>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sp>
        <p:nvSpPr>
          <p:cNvPr id="9" name="Text 5"/>
          <p:cNvSpPr/>
          <p:nvPr/>
        </p:nvSpPr>
        <p:spPr>
          <a:xfrm>
            <a:off x="5532053" y="412552"/>
            <a:ext cx="3611947" cy="232663"/>
          </a:xfrm>
          <a:prstGeom prst="rect">
            <a:avLst/>
          </a:prstGeom>
          <a:noFill/>
          <a:ln/>
        </p:spPr>
        <p:txBody>
          <a:bodyPr wrap="square" lIns="0" tIns="0" rIns="0" bIns="0" rtlCol="0" anchor="t"/>
          <a:lstStyle/>
          <a:p>
            <a:pPr marL="0" indent="0" algn="l">
              <a:lnSpc>
                <a:spcPts val="1697"/>
              </a:lnSpc>
              <a:buNone/>
            </a:pPr>
            <a:r>
              <a:rPr lang="en-US" sz="1463" b="1" dirty="0">
                <a:solidFill>
                  <a:srgbClr val="F4F1DE"/>
                </a:solidFill>
                <a:latin typeface="Tinos" pitchFamily="34" charset="0"/>
                <a:ea typeface="Tinos" pitchFamily="34" charset="-122"/>
                <a:cs typeface="Tinos" pitchFamily="34" charset="-120"/>
              </a:rPr>
              <a:t>What Is the Most Common Surface?</a:t>
            </a:r>
            <a:endParaRPr lang="en-US" sz="1463" dirty="0"/>
          </a:p>
        </p:txBody>
      </p:sp>
      <p:sp>
        <p:nvSpPr>
          <p:cNvPr id="10" name="Text 6"/>
          <p:cNvSpPr/>
          <p:nvPr/>
        </p:nvSpPr>
        <p:spPr>
          <a:xfrm>
            <a:off x="5532053" y="727993"/>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849437"/>
            <a:ext cx="3326197" cy="1036987"/>
          </a:xfrm>
          <a:prstGeom prst="rect">
            <a:avLst/>
          </a:prstGeom>
          <a:noFill/>
          <a:ln/>
        </p:spPr>
        <p:txBody>
          <a:bodyPr wrap="square" lIns="0" tIns="0" rIns="0" bIns="0" rtlCol="0" anchor="t">
            <a:normAutofit/>
          </a:bodyPr>
          <a:lstStyle/>
          <a:p>
            <a:pPr marL="0" indent="0" algn="l">
              <a:lnSpc>
                <a:spcPts val="1266"/>
              </a:lnSpc>
              <a:buNone/>
            </a:pPr>
            <a:r>
              <a:rPr lang="en-US" sz="900" dirty="0">
                <a:solidFill>
                  <a:srgbClr val="FFF100"/>
                </a:solidFill>
                <a:latin typeface="Candara" panose="020E0502030303020204" pitchFamily="34" charset="0"/>
                <a:ea typeface="Carlito" pitchFamily="34" charset="-122"/>
                <a:cs typeface="Carlito" pitchFamily="34" charset="-120"/>
              </a:rPr>
              <a:t>Hard court is first</a:t>
            </a:r>
            <a:r>
              <a:rPr lang="en-US" sz="900" dirty="0">
                <a:solidFill>
                  <a:srgbClr val="F4F1DE"/>
                </a:solidFill>
                <a:latin typeface="Candara" panose="020E0502030303020204" pitchFamily="34" charset="0"/>
                <a:ea typeface="Carlito" pitchFamily="34" charset="-122"/>
                <a:cs typeface="Carlito" pitchFamily="34" charset="-120"/>
              </a:rPr>
              <a:t> at both levels — ~62% of matches and ~61% of tournaments — with Clay second at ~35–36%. Match-level and tournament-level shares are close, so draw-size differences by surface are small in this dataset. 8 of 529 tournament groups had mixed surface labels (mode used for resolution); the inconsistency is real data noise, not silently fixed.</a:t>
            </a:r>
            <a:endParaRPr lang="en-US" sz="900" dirty="0">
              <a:latin typeface="Candara" panose="020E0502030303020204" pitchFamily="34" charset="0"/>
            </a:endParaRPr>
          </a:p>
        </p:txBody>
      </p:sp>
      <p:sp>
        <p:nvSpPr>
          <p:cNvPr id="12" name="Shape 8"/>
          <p:cNvSpPr/>
          <p:nvPr/>
        </p:nvSpPr>
        <p:spPr>
          <a:xfrm>
            <a:off x="5542769" y="2297313"/>
            <a:ext cx="0" cy="580430"/>
          </a:xfrm>
          <a:prstGeom prst="line">
            <a:avLst/>
          </a:prstGeom>
          <a:noFill/>
          <a:ln w="21431">
            <a:solidFill>
              <a:srgbClr val="FFF100"/>
            </a:solidFill>
            <a:prstDash val="solid"/>
          </a:ln>
        </p:spPr>
      </p:sp>
      <p:sp>
        <p:nvSpPr>
          <p:cNvPr id="13" name="Text 9"/>
          <p:cNvSpPr/>
          <p:nvPr/>
        </p:nvSpPr>
        <p:spPr>
          <a:xfrm>
            <a:off x="5653497" y="2340176"/>
            <a:ext cx="3204753" cy="344043"/>
          </a:xfrm>
          <a:prstGeom prst="rect">
            <a:avLst/>
          </a:prstGeom>
          <a:noFill/>
          <a:ln/>
        </p:spPr>
        <p:txBody>
          <a:bodyPr wrap="none" lIns="0" tIns="0" rIns="0" bIns="0" rtlCol="0" anchor="t">
            <a:normAutofit/>
          </a:bodyPr>
          <a:lstStyle/>
          <a:p>
            <a:pPr marL="0" indent="0" algn="l">
              <a:lnSpc>
                <a:spcPts val="2588"/>
              </a:lnSpc>
              <a:buNone/>
            </a:pPr>
            <a:r>
              <a:rPr lang="en-US" sz="2588" b="1" dirty="0">
                <a:solidFill>
                  <a:srgbClr val="FFF100"/>
                </a:solidFill>
                <a:latin typeface="Liberation Sans Narrow" pitchFamily="34" charset="0"/>
                <a:ea typeface="Liberation Sans Narrow" pitchFamily="34" charset="-122"/>
                <a:cs typeface="Liberation Sans Narrow" pitchFamily="34" charset="-120"/>
              </a:rPr>
              <a:t>~62%</a:t>
            </a:r>
            <a:endParaRPr lang="en-US" sz="2588" dirty="0"/>
          </a:p>
        </p:txBody>
      </p:sp>
      <p:sp>
        <p:nvSpPr>
          <p:cNvPr id="14" name="Text 10"/>
          <p:cNvSpPr/>
          <p:nvPr/>
        </p:nvSpPr>
        <p:spPr>
          <a:xfrm>
            <a:off x="5653497" y="2711651"/>
            <a:ext cx="3314481" cy="123230"/>
          </a:xfrm>
          <a:prstGeom prst="rect">
            <a:avLst/>
          </a:prstGeom>
          <a:noFill/>
          <a:ln/>
        </p:spPr>
        <p:txBody>
          <a:bodyPr wrap="square" lIns="0" tIns="0" rIns="0" bIns="0" rtlCol="0" anchor="t"/>
          <a:lstStyle/>
          <a:p>
            <a:pPr marL="0" indent="0" algn="l">
              <a:lnSpc>
                <a:spcPts val="970"/>
              </a:lnSpc>
              <a:buNone/>
            </a:pPr>
            <a:r>
              <a:rPr lang="en-US" sz="800" kern="0" spc="32" dirty="0">
                <a:solidFill>
                  <a:srgbClr val="F4F1DE"/>
                </a:solidFill>
                <a:latin typeface="Carlito" pitchFamily="34" charset="0"/>
                <a:ea typeface="Carlito" pitchFamily="34" charset="-122"/>
                <a:cs typeface="Carlito" pitchFamily="34" charset="-120"/>
              </a:rPr>
              <a:t>HARD COURT — MOST COMMON SURFACE</a:t>
            </a:r>
            <a:endParaRPr lang="en-US" sz="800" dirty="0"/>
          </a:p>
        </p:txBody>
      </p:sp>
      <p:sp>
        <p:nvSpPr>
          <p:cNvPr id="15" name="Text 11"/>
          <p:cNvSpPr/>
          <p:nvPr/>
        </p:nvSpPr>
        <p:spPr>
          <a:xfrm>
            <a:off x="5532053" y="4442185"/>
            <a:ext cx="3326197" cy="477060"/>
          </a:xfrm>
          <a:prstGeom prst="rect">
            <a:avLst/>
          </a:prstGeom>
          <a:noFill/>
          <a:ln/>
        </p:spPr>
        <p:txBody>
          <a:bodyPr wrap="square" lIns="0" tIns="0" rIns="0" bIns="0" rtlCol="0" anchor="t"/>
          <a:lstStyle/>
          <a:p>
            <a:pPr marL="0" indent="0" algn="l">
              <a:lnSpc>
                <a:spcPts val="979"/>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Match-level counts from ground_type; tournament-level via mode of surface within (tournament_name, category). Broad families: Hard / Clay / Grass / Carpet / Synthetic. 8 mixed-label groups resolved via mode — ranking unchanged.</a:t>
            </a:r>
            <a:endParaRPr lang="en-US" sz="800" dirty="0">
              <a:latin typeface="Dubai Light" panose="020B0303030403030204" pitchFamily="34" charset="-78"/>
              <a:cs typeface="Dubai Light" panose="020B0303030403030204" pitchFamily="34" charset="-78"/>
            </a:endParaRPr>
          </a:p>
        </p:txBody>
      </p:sp>
      <p:sp>
        <p:nvSpPr>
          <p:cNvPr id="16" name="Text 12"/>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17" name="Text 13"/>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27 / 30</a:t>
            </a:r>
            <a:endParaRPr lang="en-US" sz="800" dirty="0"/>
          </a:p>
        </p:txBody>
      </p:sp>
      <p:sp>
        <p:nvSpPr>
          <p:cNvPr id="19" name="Text 4">
            <a:extLst>
              <a:ext uri="{FF2B5EF4-FFF2-40B4-BE49-F238E27FC236}">
                <a16:creationId xmlns:a16="http://schemas.microsoft.com/office/drawing/2014/main" id="{7C0CB6F8-C5F0-FBB0-136D-81813455111C}"/>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Q14 · SECTION 03</a:t>
            </a:r>
            <a:endParaRPr lang="en-US" sz="800" dirty="0"/>
          </a:p>
        </p:txBody>
      </p:sp>
      <p:pic>
        <p:nvPicPr>
          <p:cNvPr id="21" name="Image 1" descr="/tmp/h2p-fit-1789550286336-etxuq9.png">
            <a:extLst>
              <a:ext uri="{FF2B5EF4-FFF2-40B4-BE49-F238E27FC236}">
                <a16:creationId xmlns:a16="http://schemas.microsoft.com/office/drawing/2014/main" id="{1DD6B0ED-289F-C4BA-304F-0509B9788EC0}"/>
              </a:ext>
            </a:extLst>
          </p:cNvPr>
          <p:cNvPicPr>
            <a:picLocks noChangeAspect="1"/>
          </p:cNvPicPr>
          <p:nvPr/>
        </p:nvPicPr>
        <p:blipFill>
          <a:blip r:embed="rId4"/>
          <a:stretch>
            <a:fillRect/>
          </a:stretch>
        </p:blipFill>
        <p:spPr>
          <a:xfrm>
            <a:off x="385763" y="905470"/>
            <a:ext cx="4874828" cy="3416387"/>
          </a:xfrm>
          <a:prstGeom prst="rect">
            <a:avLst/>
          </a:prstGeom>
        </p:spPr>
      </p:pic>
      <p:sp>
        <p:nvSpPr>
          <p:cNvPr id="23" name="Text 2">
            <a:extLst>
              <a:ext uri="{FF2B5EF4-FFF2-40B4-BE49-F238E27FC236}">
                <a16:creationId xmlns:a16="http://schemas.microsoft.com/office/drawing/2014/main" id="{BA9938EE-5D4E-3EBD-65C7-DFA5D7DED645}"/>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sp>
        <p:nvSpPr>
          <p:cNvPr id="25" name="TextBox 24">
            <a:extLst>
              <a:ext uri="{FF2B5EF4-FFF2-40B4-BE49-F238E27FC236}">
                <a16:creationId xmlns:a16="http://schemas.microsoft.com/office/drawing/2014/main" id="{9725FAE4-890E-9E41-5E6D-DA385E4D7344}"/>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23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  </a:t>
            </a:r>
            <a:r>
              <a:rPr lang="en-US" sz="800" kern="0" spc="71" dirty="0">
                <a:solidFill>
                  <a:srgbClr val="6FA68A"/>
                </a:solidFill>
                <a:latin typeface="Carlito" pitchFamily="34" charset="0"/>
                <a:ea typeface="Carlito" pitchFamily="34" charset="-122"/>
              </a:rPr>
              <a:t>Most Common surface</a:t>
            </a:r>
            <a:endParaRPr lang="fa-IR" sz="800" kern="0" spc="71" dirty="0">
              <a:solidFill>
                <a:srgbClr val="6FA68A"/>
              </a:solidFill>
              <a:latin typeface="Carlito" pitchFamily="34" charset="0"/>
              <a:ea typeface="Carlito"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p:cNvSpPr/>
          <p:nvPr/>
        </p:nvSpPr>
        <p:spPr>
          <a:xfrm>
            <a:off x="285750" y="412552"/>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sp>
        <p:nvSpPr>
          <p:cNvPr id="9" name="Text 5"/>
          <p:cNvSpPr/>
          <p:nvPr/>
        </p:nvSpPr>
        <p:spPr>
          <a:xfrm>
            <a:off x="5532053" y="412552"/>
            <a:ext cx="3611947" cy="465326"/>
          </a:xfrm>
          <a:prstGeom prst="rect">
            <a:avLst/>
          </a:prstGeom>
          <a:noFill/>
          <a:ln/>
        </p:spPr>
        <p:txBody>
          <a:bodyPr wrap="square" lIns="0" tIns="0" rIns="0" bIns="0" rtlCol="0" anchor="t"/>
          <a:lstStyle/>
          <a:p>
            <a:pPr marL="0" indent="0" algn="l">
              <a:lnSpc>
                <a:spcPts val="1697"/>
              </a:lnSpc>
              <a:buNone/>
            </a:pPr>
            <a:r>
              <a:rPr lang="en-US" sz="1463" b="1" dirty="0">
                <a:solidFill>
                  <a:srgbClr val="F4F1DE"/>
                </a:solidFill>
                <a:latin typeface="Tinos" pitchFamily="34" charset="0"/>
                <a:ea typeface="Tinos" pitchFamily="34" charset="-122"/>
                <a:cs typeface="Tinos" pitchFamily="34" charset="-120"/>
              </a:rPr>
              <a:t>How Does Match Duration Vary by Surface?</a:t>
            </a:r>
            <a:endParaRPr lang="en-US" sz="1463" dirty="0"/>
          </a:p>
        </p:txBody>
      </p:sp>
      <p:sp>
        <p:nvSpPr>
          <p:cNvPr id="10" name="Text 6"/>
          <p:cNvSpPr/>
          <p:nvPr/>
        </p:nvSpPr>
        <p:spPr>
          <a:xfrm>
            <a:off x="5532053" y="943421"/>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1057721"/>
            <a:ext cx="3326197" cy="839033"/>
          </a:xfrm>
          <a:prstGeom prst="rect">
            <a:avLst/>
          </a:prstGeom>
          <a:noFill/>
          <a:ln/>
        </p:spPr>
        <p:txBody>
          <a:bodyPr wrap="square" lIns="0" tIns="0" rIns="0" bIns="0" rtlCol="0" anchor="t"/>
          <a:lstStyle/>
          <a:p>
            <a:pPr marL="0" indent="0" algn="l">
              <a:lnSpc>
                <a:spcPts val="1223"/>
              </a:lnSpc>
              <a:buNone/>
            </a:pPr>
            <a:r>
              <a:rPr lang="en-US" sz="900" dirty="0">
                <a:solidFill>
                  <a:srgbClr val="F4F1DE"/>
                </a:solidFill>
                <a:latin typeface="Candara" panose="020E0502030303020204" pitchFamily="34" charset="0"/>
                <a:ea typeface="Carlito" pitchFamily="34" charset="-122"/>
                <a:cs typeface="Carlito" pitchFamily="34" charset="-120"/>
              </a:rPr>
              <a:t>Median match minutes by surface: Clay </a:t>
            </a:r>
            <a:r>
              <a:rPr lang="en-US" sz="900" dirty="0">
                <a:solidFill>
                  <a:srgbClr val="FFF100"/>
                </a:solidFill>
                <a:latin typeface="Candara" panose="020E0502030303020204" pitchFamily="34" charset="0"/>
                <a:ea typeface="Liberation Sans Narrow" pitchFamily="34" charset="-122"/>
                <a:cs typeface="Liberation Sans Narrow" pitchFamily="34" charset="-120"/>
              </a:rPr>
              <a:t>100.8</a:t>
            </a:r>
            <a:r>
              <a:rPr lang="en-US" sz="900" dirty="0">
                <a:solidFill>
                  <a:srgbClr val="F4F1DE"/>
                </a:solidFill>
                <a:latin typeface="Candara" panose="020E0502030303020204" pitchFamily="34" charset="0"/>
                <a:ea typeface="Carlito" pitchFamily="34" charset="-122"/>
                <a:cs typeface="Carlito" pitchFamily="34" charset="-120"/>
              </a:rPr>
              <a:t> (n=3,206), Grass 98.0 (n=152), Synthetic 95.4 (n=76), Hard 94.6 (n=6,316), Carpet 88.2 (n=111). The only large-sample contrast is Clay vs Hard — about 6 minutes at the median. Grass, Synthetic, and Carpet medians rest on much smaller samples and are less stable.</a:t>
            </a:r>
            <a:endParaRPr lang="en-US" sz="900" dirty="0">
              <a:latin typeface="Candara" panose="020E0502030303020204" pitchFamily="34" charset="0"/>
            </a:endParaRPr>
          </a:p>
        </p:txBody>
      </p:sp>
      <p:sp>
        <p:nvSpPr>
          <p:cNvPr id="12" name="Shape 8"/>
          <p:cNvSpPr/>
          <p:nvPr/>
        </p:nvSpPr>
        <p:spPr>
          <a:xfrm>
            <a:off x="5542769" y="2355176"/>
            <a:ext cx="0" cy="532209"/>
          </a:xfrm>
          <a:prstGeom prst="line">
            <a:avLst/>
          </a:prstGeom>
          <a:noFill/>
          <a:ln w="21431">
            <a:solidFill>
              <a:srgbClr val="FFF100"/>
            </a:solidFill>
            <a:prstDash val="solid"/>
          </a:ln>
        </p:spPr>
      </p:sp>
      <p:sp>
        <p:nvSpPr>
          <p:cNvPr id="13" name="Text 9"/>
          <p:cNvSpPr/>
          <p:nvPr/>
        </p:nvSpPr>
        <p:spPr>
          <a:xfrm>
            <a:off x="5653497" y="2398039"/>
            <a:ext cx="3204753" cy="301181"/>
          </a:xfrm>
          <a:prstGeom prst="rect">
            <a:avLst/>
          </a:prstGeom>
          <a:noFill/>
          <a:ln/>
        </p:spPr>
        <p:txBody>
          <a:bodyPr wrap="none" lIns="0" tIns="0" rIns="0" bIns="0" rtlCol="0" anchor="t">
            <a:normAutofit/>
          </a:bodyPr>
          <a:lstStyle/>
          <a:p>
            <a:pPr marL="0" indent="0" algn="l">
              <a:lnSpc>
                <a:spcPts val="2250"/>
              </a:lnSpc>
              <a:buNone/>
            </a:pPr>
            <a:r>
              <a:rPr lang="en-US" sz="2250" b="1" dirty="0">
                <a:solidFill>
                  <a:srgbClr val="FFF100"/>
                </a:solidFill>
                <a:latin typeface="Liberation Sans Narrow" pitchFamily="34" charset="0"/>
                <a:ea typeface="Liberation Sans Narrow" pitchFamily="34" charset="-122"/>
                <a:cs typeface="Liberation Sans Narrow" pitchFamily="34" charset="-120"/>
              </a:rPr>
              <a:t>100.8 min</a:t>
            </a:r>
            <a:endParaRPr lang="en-US" sz="2250" dirty="0"/>
          </a:p>
        </p:txBody>
      </p:sp>
      <p:sp>
        <p:nvSpPr>
          <p:cNvPr id="14" name="Text 10"/>
          <p:cNvSpPr/>
          <p:nvPr/>
        </p:nvSpPr>
        <p:spPr>
          <a:xfrm>
            <a:off x="5653497" y="2726651"/>
            <a:ext cx="3314481" cy="117872"/>
          </a:xfrm>
          <a:prstGeom prst="rect">
            <a:avLst/>
          </a:prstGeom>
          <a:noFill/>
          <a:ln/>
        </p:spPr>
        <p:txBody>
          <a:bodyPr wrap="square" lIns="0" tIns="0" rIns="0" bIns="0" rtlCol="0" anchor="t"/>
          <a:lstStyle/>
          <a:p>
            <a:pPr marL="0" indent="0" algn="l">
              <a:lnSpc>
                <a:spcPts val="928"/>
              </a:lnSpc>
              <a:buNone/>
            </a:pPr>
            <a:r>
              <a:rPr lang="en-US" sz="800" kern="0" spc="31" dirty="0">
                <a:solidFill>
                  <a:srgbClr val="F4F1DE"/>
                </a:solidFill>
                <a:latin typeface="Liberation Sans Narrow" pitchFamily="34" charset="0"/>
                <a:ea typeface="Liberation Sans Narrow" pitchFamily="34" charset="-122"/>
                <a:cs typeface="Liberation Sans Narrow" pitchFamily="34" charset="-120"/>
              </a:rPr>
              <a:t>CLAY MEDIAN (N=3,206) — LONGEST</a:t>
            </a:r>
            <a:endParaRPr lang="en-US" sz="800" dirty="0"/>
          </a:p>
        </p:txBody>
      </p:sp>
      <p:sp>
        <p:nvSpPr>
          <p:cNvPr id="15" name="Text 11"/>
          <p:cNvSpPr/>
          <p:nvPr/>
        </p:nvSpPr>
        <p:spPr>
          <a:xfrm>
            <a:off x="5532053" y="4457588"/>
            <a:ext cx="3326197" cy="477227"/>
          </a:xfrm>
          <a:prstGeom prst="rect">
            <a:avLst/>
          </a:prstGeom>
          <a:noFill/>
          <a:ln/>
        </p:spPr>
        <p:txBody>
          <a:bodyPr wrap="square" lIns="0" tIns="0" rIns="0" bIns="0" rtlCol="0" anchor="t"/>
          <a:lstStyle/>
          <a:p>
            <a:pPr marL="0" indent="0" algn="l">
              <a:lnSpc>
                <a:spcPts val="938"/>
              </a:lnSpc>
              <a:buNone/>
            </a:pPr>
            <a:r>
              <a:rPr lang="en-US" sz="900" dirty="0">
                <a:solidFill>
                  <a:srgbClr val="8B9D92"/>
                </a:solidFill>
                <a:latin typeface="Dubai Light" panose="020B0303030403030204" pitchFamily="34" charset="-78"/>
                <a:ea typeface="Carlito" pitchFamily="34" charset="-122"/>
                <a:cs typeface="Dubai Light" panose="020B0303030403030204" pitchFamily="34" charset="-78"/>
              </a:rPr>
              <a:t>Same duration pipeline: duration_reliable + 15–300 min. Outliers hidden on the boxplot for readability. Only Clay (n=3,206) and Hard (n=6,316) have sample sizes large enough for stable conclusions.</a:t>
            </a:r>
            <a:endParaRPr lang="en-US" sz="900" dirty="0">
              <a:latin typeface="Dubai Light" panose="020B0303030403030204" pitchFamily="34" charset="-78"/>
              <a:cs typeface="Dubai Light" panose="020B0303030403030204" pitchFamily="34" charset="-78"/>
            </a:endParaRPr>
          </a:p>
        </p:txBody>
      </p:sp>
      <p:sp>
        <p:nvSpPr>
          <p:cNvPr id="16" name="Text 12"/>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17" name="Text 13"/>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28 / 30</a:t>
            </a:r>
            <a:endParaRPr lang="en-US" sz="800" dirty="0"/>
          </a:p>
        </p:txBody>
      </p:sp>
      <p:sp>
        <p:nvSpPr>
          <p:cNvPr id="19" name="Text 2">
            <a:extLst>
              <a:ext uri="{FF2B5EF4-FFF2-40B4-BE49-F238E27FC236}">
                <a16:creationId xmlns:a16="http://schemas.microsoft.com/office/drawing/2014/main" id="{474CD7DE-D407-6A3B-8CA2-BB074C25B4E2}"/>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pic>
        <p:nvPicPr>
          <p:cNvPr id="21" name="Image 1" descr="/tmp/h2p-fit-1789550286390-nc2sjh.png">
            <a:extLst>
              <a:ext uri="{FF2B5EF4-FFF2-40B4-BE49-F238E27FC236}">
                <a16:creationId xmlns:a16="http://schemas.microsoft.com/office/drawing/2014/main" id="{EEE68172-F725-D238-AFAD-FEE2217C8572}"/>
              </a:ext>
            </a:extLst>
          </p:cNvPr>
          <p:cNvPicPr>
            <a:picLocks noChangeAspect="1"/>
          </p:cNvPicPr>
          <p:nvPr/>
        </p:nvPicPr>
        <p:blipFill>
          <a:blip r:embed="rId4"/>
          <a:stretch>
            <a:fillRect/>
          </a:stretch>
        </p:blipFill>
        <p:spPr>
          <a:xfrm>
            <a:off x="385763" y="899666"/>
            <a:ext cx="4874828" cy="3427995"/>
          </a:xfrm>
          <a:prstGeom prst="rect">
            <a:avLst/>
          </a:prstGeom>
        </p:spPr>
      </p:pic>
      <p:sp>
        <p:nvSpPr>
          <p:cNvPr id="23" name="Text 4">
            <a:extLst>
              <a:ext uri="{FF2B5EF4-FFF2-40B4-BE49-F238E27FC236}">
                <a16:creationId xmlns:a16="http://schemas.microsoft.com/office/drawing/2014/main" id="{AC0C439D-6CA1-8C85-EF12-937B1AB52678}"/>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OP1 · SECTION 03</a:t>
            </a:r>
            <a:endParaRPr lang="en-US" sz="800" dirty="0"/>
          </a:p>
        </p:txBody>
      </p:sp>
      <p:sp>
        <p:nvSpPr>
          <p:cNvPr id="25" name="TextBox 24">
            <a:extLst>
              <a:ext uri="{FF2B5EF4-FFF2-40B4-BE49-F238E27FC236}">
                <a16:creationId xmlns:a16="http://schemas.microsoft.com/office/drawing/2014/main" id="{6CFA0AAE-E4B1-DEBA-0017-1A0BC8771989}"/>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24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Match Duration by Surface</a:t>
            </a:r>
            <a:endParaRPr lang="fa-IR" sz="800" kern="0" spc="71" dirty="0">
              <a:solidFill>
                <a:srgbClr val="6FA68A"/>
              </a:solidFill>
              <a:latin typeface="Carlito" pitchFamily="34" charset="0"/>
              <a:ea typeface="Carlito"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7" name="Text 4"/>
          <p:cNvSpPr/>
          <p:nvPr/>
        </p:nvSpPr>
        <p:spPr>
          <a:xfrm>
            <a:off x="285750" y="412552"/>
            <a:ext cx="5074853" cy="4402336"/>
          </a:xfrm>
          <a:prstGeom prst="roundRect">
            <a:avLst>
              <a:gd name="adj" fmla="val 1731"/>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sp>
        <p:nvSpPr>
          <p:cNvPr id="9" name="Text 5"/>
          <p:cNvSpPr/>
          <p:nvPr/>
        </p:nvSpPr>
        <p:spPr>
          <a:xfrm>
            <a:off x="5532053" y="412552"/>
            <a:ext cx="3326197" cy="436876"/>
          </a:xfrm>
          <a:prstGeom prst="rect">
            <a:avLst/>
          </a:prstGeom>
          <a:noFill/>
          <a:ln/>
        </p:spPr>
        <p:txBody>
          <a:bodyPr wrap="square" lIns="0" tIns="0" rIns="0" bIns="0" rtlCol="0" anchor="t"/>
          <a:lstStyle/>
          <a:p>
            <a:pPr marL="0" indent="0" algn="l">
              <a:lnSpc>
                <a:spcPts val="1593"/>
              </a:lnSpc>
              <a:buNone/>
            </a:pPr>
            <a:r>
              <a:rPr lang="en-US" sz="1350" b="1" dirty="0">
                <a:solidFill>
                  <a:srgbClr val="F4F1DE"/>
                </a:solidFill>
                <a:latin typeface="Tinos" pitchFamily="34" charset="0"/>
                <a:ea typeface="Tinos" pitchFamily="34" charset="-122"/>
                <a:cs typeface="Tinos" pitchFamily="34" charset="-120"/>
              </a:rPr>
              <a:t>Do the Same Players Perform Differently on Hard vs Clay?</a:t>
            </a:r>
            <a:endParaRPr lang="en-US" sz="1350" dirty="0"/>
          </a:p>
        </p:txBody>
      </p:sp>
      <p:sp>
        <p:nvSpPr>
          <p:cNvPr id="10" name="Text 6"/>
          <p:cNvSpPr/>
          <p:nvPr/>
        </p:nvSpPr>
        <p:spPr>
          <a:xfrm>
            <a:off x="5532053" y="917079"/>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1038523"/>
            <a:ext cx="3326197" cy="1004840"/>
          </a:xfrm>
          <a:prstGeom prst="rect">
            <a:avLst/>
          </a:prstGeom>
          <a:noFill/>
          <a:ln/>
        </p:spPr>
        <p:txBody>
          <a:bodyPr wrap="square" lIns="0" tIns="0" rIns="0" bIns="0" rtlCol="0" anchor="t">
            <a:normAutofit/>
          </a:bodyPr>
          <a:lstStyle/>
          <a:p>
            <a:pPr marL="0" indent="0" algn="l">
              <a:lnSpc>
                <a:spcPts val="1223"/>
              </a:lnSpc>
              <a:buNone/>
            </a:pPr>
            <a:r>
              <a:rPr lang="en-US" sz="900" dirty="0">
                <a:solidFill>
                  <a:srgbClr val="F4F1DE"/>
                </a:solidFill>
                <a:latin typeface="Candara" panose="020E0502030303020204" pitchFamily="34" charset="0"/>
                <a:ea typeface="Carlito" pitchFamily="34" charset="-122"/>
                <a:cs typeface="Carlito" pitchFamily="34" charset="-120"/>
              </a:rPr>
              <a:t>Among 96 players with ≥5 matches on both surfaces, the mean within-player difference (Clay − Hard) is </a:t>
            </a:r>
            <a:r>
              <a:rPr lang="en-US" sz="900" dirty="0">
                <a:solidFill>
                  <a:srgbClr val="FFF100"/>
                </a:solidFill>
                <a:latin typeface="Candara" panose="020E0502030303020204" pitchFamily="34" charset="0"/>
                <a:ea typeface="Liberation Sans Narrow" pitchFamily="34" charset="-122"/>
                <a:cs typeface="Liberation Sans Narrow" pitchFamily="34" charset="-120"/>
              </a:rPr>
              <a:t>+6.8 percentage points</a:t>
            </a:r>
            <a:r>
              <a:rPr lang="en-US" sz="900" dirty="0">
                <a:solidFill>
                  <a:srgbClr val="F4F1DE"/>
                </a:solidFill>
                <a:latin typeface="Candara" panose="020E0502030303020204" pitchFamily="34" charset="0"/>
                <a:ea typeface="Carlito" pitchFamily="34" charset="-122"/>
                <a:cs typeface="Carlito" pitchFamily="34" charset="-120"/>
              </a:rPr>
              <a:t>: 55 players were better on Clay, 36 on Hard, 5 tied. Paired t-test: t=2.94, p=0.004. Each player is their own control — the test asks whether the average of (Clay rate − Hard rate) differs from zero. p is not effect size; +6.8 pp is modest.</a:t>
            </a:r>
            <a:endParaRPr lang="en-US" sz="900" dirty="0">
              <a:latin typeface="Candara" panose="020E0502030303020204" pitchFamily="34" charset="0"/>
            </a:endParaRPr>
          </a:p>
        </p:txBody>
      </p:sp>
      <p:sp>
        <p:nvSpPr>
          <p:cNvPr id="12" name="Shape 8"/>
          <p:cNvSpPr/>
          <p:nvPr/>
        </p:nvSpPr>
        <p:spPr>
          <a:xfrm>
            <a:off x="5542769" y="2210904"/>
            <a:ext cx="0" cy="551855"/>
          </a:xfrm>
          <a:prstGeom prst="line">
            <a:avLst/>
          </a:prstGeom>
          <a:noFill/>
          <a:ln w="21431">
            <a:solidFill>
              <a:srgbClr val="FFF100"/>
            </a:solidFill>
            <a:prstDash val="solid"/>
          </a:ln>
        </p:spPr>
      </p:sp>
      <p:sp>
        <p:nvSpPr>
          <p:cNvPr id="13" name="Text 9"/>
          <p:cNvSpPr/>
          <p:nvPr/>
        </p:nvSpPr>
        <p:spPr>
          <a:xfrm>
            <a:off x="5653497" y="2253766"/>
            <a:ext cx="3204753" cy="315468"/>
          </a:xfrm>
          <a:prstGeom prst="rect">
            <a:avLst/>
          </a:prstGeom>
          <a:noFill/>
          <a:ln/>
        </p:spPr>
        <p:txBody>
          <a:bodyPr wrap="none" lIns="0" tIns="0" rIns="0" bIns="0" rtlCol="0" anchor="t">
            <a:normAutofit/>
          </a:bodyPr>
          <a:lstStyle/>
          <a:p>
            <a:pPr marL="0" indent="0" algn="l">
              <a:lnSpc>
                <a:spcPts val="2363"/>
              </a:lnSpc>
              <a:buNone/>
            </a:pPr>
            <a:r>
              <a:rPr lang="en-US" sz="2363" b="1" dirty="0">
                <a:solidFill>
                  <a:srgbClr val="FFF100"/>
                </a:solidFill>
                <a:latin typeface="Liberation Sans Narrow" pitchFamily="34" charset="0"/>
                <a:ea typeface="Liberation Sans Narrow" pitchFamily="34" charset="-122"/>
                <a:cs typeface="Liberation Sans Narrow" pitchFamily="34" charset="-120"/>
              </a:rPr>
              <a:t>+6.8 pp</a:t>
            </a:r>
            <a:endParaRPr lang="en-US" sz="2363" dirty="0"/>
          </a:p>
        </p:txBody>
      </p:sp>
      <p:sp>
        <p:nvSpPr>
          <p:cNvPr id="14" name="Text 10"/>
          <p:cNvSpPr/>
          <p:nvPr/>
        </p:nvSpPr>
        <p:spPr>
          <a:xfrm>
            <a:off x="5653497" y="2596666"/>
            <a:ext cx="3314481" cy="123230"/>
          </a:xfrm>
          <a:prstGeom prst="rect">
            <a:avLst/>
          </a:prstGeom>
          <a:noFill/>
          <a:ln/>
        </p:spPr>
        <p:txBody>
          <a:bodyPr wrap="square" lIns="0" tIns="0" rIns="0" bIns="0" rtlCol="0" anchor="t"/>
          <a:lstStyle/>
          <a:p>
            <a:pPr marL="0" indent="0" algn="l">
              <a:lnSpc>
                <a:spcPts val="970"/>
              </a:lnSpc>
              <a:buNone/>
            </a:pPr>
            <a:r>
              <a:rPr lang="en-US" sz="800" kern="0" spc="32" dirty="0">
                <a:solidFill>
                  <a:srgbClr val="F4F1DE"/>
                </a:solidFill>
                <a:latin typeface="Liberation Sans Narrow" pitchFamily="34" charset="0"/>
                <a:ea typeface="Liberation Sans Narrow" pitchFamily="34" charset="-122"/>
                <a:cs typeface="Liberation Sans Narrow" pitchFamily="34" charset="-120"/>
              </a:rPr>
              <a:t>CLAY − HARD (T=2.94, P=0.004)</a:t>
            </a:r>
            <a:endParaRPr lang="en-US" sz="800" dirty="0"/>
          </a:p>
        </p:txBody>
      </p:sp>
      <p:sp>
        <p:nvSpPr>
          <p:cNvPr id="15" name="Text 11"/>
          <p:cNvSpPr/>
          <p:nvPr/>
        </p:nvSpPr>
        <p:spPr>
          <a:xfrm>
            <a:off x="5532053" y="4457588"/>
            <a:ext cx="3326197" cy="477227"/>
          </a:xfrm>
          <a:prstGeom prst="rect">
            <a:avLst/>
          </a:prstGeom>
          <a:noFill/>
          <a:ln/>
        </p:spPr>
        <p:txBody>
          <a:bodyPr wrap="square" lIns="0" tIns="0" rIns="0" bIns="0" rtlCol="0" anchor="t"/>
          <a:lstStyle/>
          <a:p>
            <a:pPr marL="0" indent="0" algn="l">
              <a:lnSpc>
                <a:spcPts val="938"/>
              </a:lnSpc>
              <a:buNone/>
            </a:pPr>
            <a:r>
              <a:rPr lang="en-US" sz="800" dirty="0">
                <a:solidFill>
                  <a:srgbClr val="8B9D92"/>
                </a:solidFill>
                <a:latin typeface="Dubai Light" panose="020B0303030403030204" pitchFamily="34" charset="-78"/>
                <a:ea typeface="Carlito" pitchFamily="34" charset="-122"/>
                <a:cs typeface="Dubai Light" panose="020B0303030403030204" pitchFamily="34" charset="-78"/>
              </a:rPr>
              <a:t>≥5-match threshold on both surfaces. Dependence across a player's matches is not modelled — the t-test is a first-pass average test, not a full causal model. Individual differences spread widely, so the mean does not describe most players.</a:t>
            </a:r>
            <a:endParaRPr lang="en-US" sz="800" dirty="0">
              <a:latin typeface="Dubai Light" panose="020B0303030403030204" pitchFamily="34" charset="-78"/>
              <a:cs typeface="Dubai Light" panose="020B0303030403030204" pitchFamily="34" charset="-78"/>
            </a:endParaRPr>
          </a:p>
        </p:txBody>
      </p:sp>
      <p:sp>
        <p:nvSpPr>
          <p:cNvPr id="16" name="Text 12"/>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17" name="Text 13"/>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29 / 30</a:t>
            </a:r>
            <a:endParaRPr lang="en-US" sz="800" dirty="0"/>
          </a:p>
        </p:txBody>
      </p:sp>
      <p:sp>
        <p:nvSpPr>
          <p:cNvPr id="19" name="Text 2">
            <a:extLst>
              <a:ext uri="{FF2B5EF4-FFF2-40B4-BE49-F238E27FC236}">
                <a16:creationId xmlns:a16="http://schemas.microsoft.com/office/drawing/2014/main" id="{ED19331C-EEED-57E7-B5B2-9CC5ABB12F5F}"/>
              </a:ext>
            </a:extLst>
          </p:cNvPr>
          <p:cNvSpPr/>
          <p:nvPr/>
        </p:nvSpPr>
        <p:spPr>
          <a:xfrm>
            <a:off x="428625" y="200025"/>
            <a:ext cx="1909058" cy="164592"/>
          </a:xfrm>
          <a:prstGeom prst="rect">
            <a:avLst/>
          </a:prstGeom>
          <a:noFill/>
          <a:ln/>
        </p:spPr>
        <p:txBody>
          <a:bodyPr wrap="square" lIns="0" tIns="0" rIns="0" bIns="0" rtlCol="0" anchor="t"/>
          <a:lstStyle/>
          <a:p>
            <a:pPr>
              <a:lnSpc>
                <a:spcPts val="886"/>
              </a:lnSpc>
            </a:pPr>
            <a:r>
              <a:rPr lang="en-US" sz="800" kern="0" spc="173" dirty="0">
                <a:solidFill>
                  <a:srgbClr val="FFF100"/>
                </a:solidFill>
                <a:latin typeface="Liberation Sans Narrow" pitchFamily="34" charset="0"/>
                <a:ea typeface="Liberation Sans Narrow" pitchFamily="34" charset="-122"/>
              </a:rPr>
              <a:t>Match Dynamics</a:t>
            </a:r>
          </a:p>
        </p:txBody>
      </p:sp>
      <p:sp>
        <p:nvSpPr>
          <p:cNvPr id="21" name="Text 4">
            <a:extLst>
              <a:ext uri="{FF2B5EF4-FFF2-40B4-BE49-F238E27FC236}">
                <a16:creationId xmlns:a16="http://schemas.microsoft.com/office/drawing/2014/main" id="{FE3779E2-F069-EEF7-EADE-EA4640EF106D}"/>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OP2 · SECTION 03</a:t>
            </a:r>
            <a:endParaRPr lang="en-US" sz="800" dirty="0"/>
          </a:p>
        </p:txBody>
      </p:sp>
      <p:pic>
        <p:nvPicPr>
          <p:cNvPr id="25" name="Image 1" descr="/tmp/h2p-fit-1789550286828-4c354d.png">
            <a:extLst>
              <a:ext uri="{FF2B5EF4-FFF2-40B4-BE49-F238E27FC236}">
                <a16:creationId xmlns:a16="http://schemas.microsoft.com/office/drawing/2014/main" id="{98FA227B-8166-00F3-B318-EA05FBF43281}"/>
              </a:ext>
            </a:extLst>
          </p:cNvPr>
          <p:cNvPicPr>
            <a:picLocks noChangeAspect="1"/>
          </p:cNvPicPr>
          <p:nvPr/>
        </p:nvPicPr>
        <p:blipFill>
          <a:blip r:embed="rId4"/>
          <a:stretch>
            <a:fillRect/>
          </a:stretch>
        </p:blipFill>
        <p:spPr>
          <a:xfrm>
            <a:off x="385763" y="1511573"/>
            <a:ext cx="4874828" cy="2190006"/>
          </a:xfrm>
          <a:prstGeom prst="rect">
            <a:avLst/>
          </a:prstGeom>
        </p:spPr>
      </p:pic>
      <p:sp>
        <p:nvSpPr>
          <p:cNvPr id="27" name="TextBox 26">
            <a:extLst>
              <a:ext uri="{FF2B5EF4-FFF2-40B4-BE49-F238E27FC236}">
                <a16:creationId xmlns:a16="http://schemas.microsoft.com/office/drawing/2014/main" id="{0B74164F-3EB8-CC6D-EDA7-960D10DA8D3D}"/>
              </a:ext>
            </a:extLst>
          </p:cNvPr>
          <p:cNvSpPr txBox="1"/>
          <p:nvPr/>
        </p:nvSpPr>
        <p:spPr>
          <a:xfrm>
            <a:off x="290628" y="437466"/>
            <a:ext cx="4349852" cy="207749"/>
          </a:xfrm>
          <a:prstGeom prst="rect">
            <a:avLst/>
          </a:prstGeom>
          <a:noFill/>
        </p:spPr>
        <p:txBody>
          <a:bodyPr wrap="square" rtlCol="1">
            <a:spAutoFit/>
          </a:bodyPr>
          <a:lstStyle/>
          <a:p>
            <a:pPr>
              <a:lnSpc>
                <a:spcPts val="886"/>
              </a:lnSpc>
            </a:pPr>
            <a:r>
              <a:rPr lang="en-US" sz="800" kern="0" spc="71" dirty="0">
                <a:solidFill>
                  <a:srgbClr val="6FA68A"/>
                </a:solidFill>
                <a:latin typeface="Carlito" pitchFamily="34" charset="0"/>
                <a:ea typeface="Carlito" pitchFamily="34" charset="-122"/>
              </a:rPr>
              <a:t>Fig. 25  </a:t>
            </a:r>
            <a:r>
              <a:rPr lang="en-US" sz="800" kern="0" spc="71" dirty="0">
                <a:solidFill>
                  <a:srgbClr val="6FA68A"/>
                </a:solidFill>
                <a:latin typeface="Times New Roman" panose="02020603050405020304" pitchFamily="18" charset="0"/>
                <a:ea typeface="Carlito" pitchFamily="34" charset="-122"/>
                <a:cs typeface="Times New Roman" panose="02020603050405020304" pitchFamily="18" charset="0"/>
              </a:rPr>
              <a:t>─</a:t>
            </a:r>
            <a:r>
              <a:rPr lang="en-US" sz="800" kern="0" spc="71" dirty="0">
                <a:solidFill>
                  <a:srgbClr val="6FA68A"/>
                </a:solidFill>
                <a:latin typeface="Carlito" pitchFamily="34" charset="0"/>
                <a:ea typeface="Carlito" pitchFamily="34" charset="-122"/>
              </a:rPr>
              <a:t>  Players Win Rate On Hard vs. Clay </a:t>
            </a:r>
            <a:endParaRPr lang="fa-IR" sz="800" kern="0" spc="71" dirty="0">
              <a:solidFill>
                <a:srgbClr val="6FA68A"/>
              </a:solidFill>
              <a:latin typeface="Carlito" pitchFamily="34" charset="0"/>
              <a:ea typeface="Carlito"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1B433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3750" y="0"/>
            <a:ext cx="2000250" cy="2000250"/>
          </a:xfrm>
          <a:prstGeom prst="rect">
            <a:avLst/>
          </a:prstGeom>
        </p:spPr>
      </p:pic>
      <p:sp>
        <p:nvSpPr>
          <p:cNvPr id="3" name="Text 0"/>
          <p:cNvSpPr/>
          <p:nvPr/>
        </p:nvSpPr>
        <p:spPr>
          <a:xfrm>
            <a:off x="7143750" y="0"/>
            <a:ext cx="2000250" cy="2000250"/>
          </a:xfrm>
          <a:prstGeom prst="rect">
            <a:avLst/>
          </a:prstGeom>
          <a:solidFill>
            <a:srgbClr val="FFFFFF">
              <a:alpha val="0"/>
            </a:srgbClr>
          </a:solidFill>
          <a:ln/>
        </p:spPr>
        <p:txBody>
          <a:bodyPr wrap="square" rtlCol="0" anchor="ctr"/>
          <a:lstStyle/>
          <a:p>
            <a:pPr marL="0" indent="0">
              <a:buNone/>
            </a:pPr>
            <a:endParaRPr lang="en-US" dirty="0"/>
          </a:p>
        </p:txBody>
      </p:sp>
      <p:sp>
        <p:nvSpPr>
          <p:cNvPr id="4" name="Text 1"/>
          <p:cNvSpPr/>
          <p:nvPr/>
        </p:nvSpPr>
        <p:spPr>
          <a:xfrm>
            <a:off x="285750" y="227707"/>
            <a:ext cx="57150" cy="57150"/>
          </a:xfrm>
          <a:prstGeom prst="ellipse">
            <a:avLst/>
          </a:prstGeom>
          <a:solidFill>
            <a:srgbClr val="FFF100"/>
          </a:solidFill>
          <a:ln/>
        </p:spPr>
        <p:txBody>
          <a:bodyPr wrap="square" rtlCol="0" anchor="ctr"/>
          <a:lstStyle/>
          <a:p>
            <a:pPr marL="0" indent="0">
              <a:buNone/>
            </a:pPr>
            <a:endParaRPr lang="en-US" dirty="0"/>
          </a:p>
        </p:txBody>
      </p:sp>
      <p:sp>
        <p:nvSpPr>
          <p:cNvPr id="5" name="Text 2"/>
          <p:cNvSpPr/>
          <p:nvPr/>
        </p:nvSpPr>
        <p:spPr>
          <a:xfrm>
            <a:off x="428624" y="200025"/>
            <a:ext cx="3147859" cy="185728"/>
          </a:xfrm>
          <a:prstGeom prst="rect">
            <a:avLst/>
          </a:prstGeom>
          <a:noFill/>
          <a:ln/>
        </p:spPr>
        <p:txBody>
          <a:bodyPr wrap="square" lIns="0" tIns="0" rIns="0" bIns="0" rtlCol="0" anchor="t"/>
          <a:lstStyle/>
          <a:p>
            <a:pPr marL="0" indent="0" algn="l">
              <a:lnSpc>
                <a:spcPts val="886"/>
              </a:lnSpc>
              <a:buNone/>
            </a:pPr>
            <a:r>
              <a:rPr lang="en-US" sz="800" kern="0" spc="130" dirty="0">
                <a:solidFill>
                  <a:srgbClr val="FFF100"/>
                </a:solidFill>
                <a:latin typeface="Carlito" pitchFamily="34" charset="0"/>
                <a:ea typeface="Carlito" pitchFamily="34" charset="-122"/>
                <a:cs typeface="Carlito" pitchFamily="34" charset="-120"/>
              </a:rPr>
              <a:t>DATA QUALITY · SCORING VALIDATOR</a:t>
            </a:r>
            <a:endParaRPr lang="en-US" sz="800" dirty="0"/>
          </a:p>
        </p:txBody>
      </p:sp>
      <p:sp>
        <p:nvSpPr>
          <p:cNvPr id="7" name="Text 4"/>
          <p:cNvSpPr/>
          <p:nvPr/>
        </p:nvSpPr>
        <p:spPr>
          <a:xfrm>
            <a:off x="285750" y="398264"/>
            <a:ext cx="5074853" cy="4416623"/>
          </a:xfrm>
          <a:prstGeom prst="roundRect">
            <a:avLst>
              <a:gd name="adj" fmla="val 1725"/>
            </a:avLst>
          </a:prstGeom>
          <a:solidFill>
            <a:srgbClr val="FFFFFF"/>
          </a:solidFill>
          <a:ln/>
          <a:effectLst>
            <a:outerShdw blurRad="266700" dist="95250" dir="5400000" algn="bl" rotWithShape="0">
              <a:srgbClr val="000000">
                <a:alpha val="32000"/>
              </a:srgbClr>
            </a:outerShdw>
          </a:effectLst>
        </p:spPr>
        <p:txBody>
          <a:bodyPr wrap="square" rtlCol="0" anchor="ctr"/>
          <a:lstStyle/>
          <a:p>
            <a:pPr marL="0" indent="0">
              <a:buNone/>
            </a:pPr>
            <a:endParaRPr lang="en-US" dirty="0"/>
          </a:p>
        </p:txBody>
      </p:sp>
      <p:sp>
        <p:nvSpPr>
          <p:cNvPr id="9" name="Text 5"/>
          <p:cNvSpPr/>
          <p:nvPr/>
        </p:nvSpPr>
        <p:spPr>
          <a:xfrm>
            <a:off x="5532053" y="398264"/>
            <a:ext cx="3326197" cy="436876"/>
          </a:xfrm>
          <a:prstGeom prst="rect">
            <a:avLst/>
          </a:prstGeom>
          <a:noFill/>
          <a:ln/>
        </p:spPr>
        <p:txBody>
          <a:bodyPr wrap="square" lIns="0" tIns="0" rIns="0" bIns="0" rtlCol="0" anchor="t"/>
          <a:lstStyle/>
          <a:p>
            <a:pPr marL="0" indent="0" algn="l">
              <a:lnSpc>
                <a:spcPts val="1593"/>
              </a:lnSpc>
              <a:buNone/>
            </a:pPr>
            <a:r>
              <a:rPr lang="en-US" sz="1350" b="1" dirty="0">
                <a:solidFill>
                  <a:srgbClr val="F4F1DE"/>
                </a:solidFill>
                <a:latin typeface="Tinos" pitchFamily="34" charset="0"/>
                <a:ea typeface="Tinos" pitchFamily="34" charset="-122"/>
                <a:cs typeface="Tinos" pitchFamily="34" charset="-120"/>
              </a:rPr>
              <a:t>Tennis Scoring-Rule Validator — Data Quality Layer</a:t>
            </a:r>
            <a:endParaRPr lang="en-US" sz="1350" dirty="0"/>
          </a:p>
        </p:txBody>
      </p:sp>
      <p:sp>
        <p:nvSpPr>
          <p:cNvPr id="10" name="Text 6"/>
          <p:cNvSpPr/>
          <p:nvPr/>
        </p:nvSpPr>
        <p:spPr>
          <a:xfrm>
            <a:off x="5532053" y="888504"/>
            <a:ext cx="400050" cy="21431"/>
          </a:xfrm>
          <a:prstGeom prst="rect">
            <a:avLst/>
          </a:prstGeom>
          <a:solidFill>
            <a:srgbClr val="FFF100"/>
          </a:solidFill>
          <a:ln/>
        </p:spPr>
        <p:txBody>
          <a:bodyPr wrap="square" rtlCol="0" anchor="ctr"/>
          <a:lstStyle/>
          <a:p>
            <a:pPr marL="0" indent="0">
              <a:buNone/>
            </a:pPr>
            <a:endParaRPr lang="en-US" dirty="0"/>
          </a:p>
        </p:txBody>
      </p:sp>
      <p:sp>
        <p:nvSpPr>
          <p:cNvPr id="11" name="Text 7"/>
          <p:cNvSpPr/>
          <p:nvPr/>
        </p:nvSpPr>
        <p:spPr>
          <a:xfrm>
            <a:off x="5532053" y="988516"/>
            <a:ext cx="3326197" cy="919115"/>
          </a:xfrm>
          <a:prstGeom prst="rect">
            <a:avLst/>
          </a:prstGeom>
          <a:noFill/>
          <a:ln/>
        </p:spPr>
        <p:txBody>
          <a:bodyPr wrap="square" lIns="0" tIns="0" rIns="0" bIns="0" rtlCol="0" anchor="t">
            <a:noAutofit/>
          </a:bodyPr>
          <a:lstStyle/>
          <a:p>
            <a:pPr marL="0" indent="0" algn="l">
              <a:lnSpc>
                <a:spcPts val="1139"/>
              </a:lnSpc>
              <a:buNone/>
            </a:pPr>
            <a:r>
              <a:rPr lang="en-US" sz="900" dirty="0">
                <a:solidFill>
                  <a:srgbClr val="F4F1DE"/>
                </a:solidFill>
                <a:latin typeface="Candara" panose="020E0502030303020204" pitchFamily="34" charset="0"/>
                <a:ea typeface="Carlito" pitchFamily="34" charset="-122"/>
                <a:cs typeface="Carlito" pitchFamily="34" charset="-120"/>
              </a:rPr>
              <a:t>A scoring-rule validator aligns sets_played between home and away score tables, classifies every set under correct tennis rules (6-x / 7-5 / 7-6, match/super TB, advantage sets), and flags genuine anomalies — illegal 7-x scores, tiebreak mismatches, winner-vs-games contradictions, best-of-3 overruns, and implausible durations. This validator is the upstream filter that makes every Q3–Q14 denominator defensible.</a:t>
            </a:r>
            <a:endParaRPr lang="en-US" sz="900" dirty="0">
              <a:latin typeface="Candara" panose="020E0502030303020204" pitchFamily="34" charset="0"/>
            </a:endParaRPr>
          </a:p>
        </p:txBody>
      </p:sp>
      <p:sp>
        <p:nvSpPr>
          <p:cNvPr id="12" name="Shape 8"/>
          <p:cNvSpPr/>
          <p:nvPr/>
        </p:nvSpPr>
        <p:spPr>
          <a:xfrm>
            <a:off x="5542769" y="2148910"/>
            <a:ext cx="0" cy="404626"/>
          </a:xfrm>
          <a:prstGeom prst="line">
            <a:avLst/>
          </a:prstGeom>
          <a:noFill/>
          <a:ln w="21431">
            <a:solidFill>
              <a:srgbClr val="FFF100"/>
            </a:solidFill>
            <a:prstDash val="solid"/>
          </a:ln>
        </p:spPr>
      </p:sp>
      <p:sp>
        <p:nvSpPr>
          <p:cNvPr id="13" name="Text 9"/>
          <p:cNvSpPr/>
          <p:nvPr/>
        </p:nvSpPr>
        <p:spPr>
          <a:xfrm>
            <a:off x="5639209" y="2184629"/>
            <a:ext cx="1527311" cy="208312"/>
          </a:xfrm>
          <a:prstGeom prst="rect">
            <a:avLst/>
          </a:prstGeom>
          <a:noFill/>
          <a:ln/>
        </p:spPr>
        <p:txBody>
          <a:bodyPr wrap="none" lIns="0" tIns="0" rIns="0" bIns="0" rtlCol="0" anchor="t">
            <a:normAutofit/>
          </a:bodyPr>
          <a:lstStyle/>
          <a:p>
            <a:pPr marL="0" indent="0" algn="l">
              <a:lnSpc>
                <a:spcPts val="1575"/>
              </a:lnSpc>
              <a:buNone/>
            </a:pPr>
            <a:r>
              <a:rPr lang="en-US" sz="1575" b="1" dirty="0">
                <a:solidFill>
                  <a:srgbClr val="FFF100"/>
                </a:solidFill>
                <a:latin typeface="Liberation Sans Narrow" pitchFamily="34" charset="0"/>
                <a:ea typeface="Liberation Sans Narrow" pitchFamily="34" charset="-122"/>
                <a:cs typeface="Liberation Sans Narrow" pitchFamily="34" charset="-120"/>
              </a:rPr>
              <a:t>~1,490</a:t>
            </a:r>
            <a:endParaRPr lang="en-US" sz="1575" dirty="0"/>
          </a:p>
        </p:txBody>
      </p:sp>
      <p:sp>
        <p:nvSpPr>
          <p:cNvPr id="14" name="Text 10"/>
          <p:cNvSpPr/>
          <p:nvPr/>
        </p:nvSpPr>
        <p:spPr>
          <a:xfrm>
            <a:off x="5639209" y="2420373"/>
            <a:ext cx="1618950" cy="97445"/>
          </a:xfrm>
          <a:prstGeom prst="rect">
            <a:avLst/>
          </a:prstGeom>
          <a:noFill/>
          <a:ln/>
        </p:spPr>
        <p:txBody>
          <a:bodyPr wrap="square" lIns="0" tIns="0" rIns="0" bIns="0" rtlCol="0" anchor="t"/>
          <a:lstStyle/>
          <a:p>
            <a:pPr marL="0" indent="0" algn="l">
              <a:lnSpc>
                <a:spcPts val="768"/>
              </a:lnSpc>
              <a:buNone/>
            </a:pPr>
            <a:r>
              <a:rPr lang="en-US" sz="600" kern="0" spc="30" dirty="0">
                <a:solidFill>
                  <a:srgbClr val="F4F1DE"/>
                </a:solidFill>
                <a:latin typeface="Carlito" pitchFamily="34" charset="0"/>
                <a:ea typeface="Carlito" pitchFamily="34" charset="-122"/>
                <a:cs typeface="Carlito" pitchFamily="34" charset="-120"/>
              </a:rPr>
              <a:t>MATCHES WITH BAD SET STATUS</a:t>
            </a:r>
            <a:endParaRPr lang="en-US" sz="600" dirty="0"/>
          </a:p>
        </p:txBody>
      </p:sp>
      <p:sp>
        <p:nvSpPr>
          <p:cNvPr id="15" name="Shape 11"/>
          <p:cNvSpPr/>
          <p:nvPr/>
        </p:nvSpPr>
        <p:spPr>
          <a:xfrm>
            <a:off x="7234386" y="2148910"/>
            <a:ext cx="0" cy="404626"/>
          </a:xfrm>
          <a:prstGeom prst="line">
            <a:avLst/>
          </a:prstGeom>
          <a:noFill/>
          <a:ln w="21431">
            <a:solidFill>
              <a:srgbClr val="FFF100"/>
            </a:solidFill>
            <a:prstDash val="solid"/>
          </a:ln>
        </p:spPr>
      </p:sp>
      <p:sp>
        <p:nvSpPr>
          <p:cNvPr id="16" name="Text 12"/>
          <p:cNvSpPr/>
          <p:nvPr/>
        </p:nvSpPr>
        <p:spPr>
          <a:xfrm>
            <a:off x="7330827" y="2184629"/>
            <a:ext cx="1527423" cy="208312"/>
          </a:xfrm>
          <a:prstGeom prst="rect">
            <a:avLst/>
          </a:prstGeom>
          <a:noFill/>
          <a:ln/>
        </p:spPr>
        <p:txBody>
          <a:bodyPr wrap="none" lIns="0" tIns="0" rIns="0" bIns="0" rtlCol="0" anchor="t">
            <a:normAutofit/>
          </a:bodyPr>
          <a:lstStyle/>
          <a:p>
            <a:pPr marL="0" indent="0" algn="l">
              <a:lnSpc>
                <a:spcPts val="1575"/>
              </a:lnSpc>
              <a:buNone/>
            </a:pPr>
            <a:r>
              <a:rPr lang="en-US" sz="1575" b="1" dirty="0">
                <a:solidFill>
                  <a:srgbClr val="FFF100"/>
                </a:solidFill>
                <a:latin typeface="Liberation Sans Narrow" pitchFamily="34" charset="0"/>
                <a:ea typeface="Liberation Sans Narrow" pitchFamily="34" charset="-122"/>
                <a:cs typeface="Liberation Sans Narrow" pitchFamily="34" charset="-120"/>
              </a:rPr>
              <a:t>~1,721</a:t>
            </a:r>
            <a:endParaRPr lang="en-US" sz="1575" dirty="0"/>
          </a:p>
        </p:txBody>
      </p:sp>
      <p:sp>
        <p:nvSpPr>
          <p:cNvPr id="17" name="Text 13"/>
          <p:cNvSpPr/>
          <p:nvPr/>
        </p:nvSpPr>
        <p:spPr>
          <a:xfrm>
            <a:off x="7330827" y="2420373"/>
            <a:ext cx="1527423" cy="97445"/>
          </a:xfrm>
          <a:prstGeom prst="rect">
            <a:avLst/>
          </a:prstGeom>
          <a:noFill/>
          <a:ln/>
        </p:spPr>
        <p:txBody>
          <a:bodyPr wrap="none" lIns="0" tIns="0" rIns="0" bIns="0" rtlCol="0" anchor="t"/>
          <a:lstStyle/>
          <a:p>
            <a:pPr marL="0" indent="0" algn="l">
              <a:lnSpc>
                <a:spcPts val="768"/>
              </a:lnSpc>
              <a:buNone/>
            </a:pPr>
            <a:r>
              <a:rPr lang="en-US" sz="800" kern="0" spc="30" dirty="0">
                <a:solidFill>
                  <a:srgbClr val="F4F1DE"/>
                </a:solidFill>
                <a:latin typeface="Liberation Sans Narrow" pitchFamily="34" charset="0"/>
                <a:ea typeface="Liberation Sans Narrow" pitchFamily="34" charset="-122"/>
                <a:cs typeface="Liberation Sans Narrow" pitchFamily="34" charset="-120"/>
              </a:rPr>
              <a:t>ANOM_7 SET-LEVEL CASES</a:t>
            </a:r>
            <a:endParaRPr lang="en-US" sz="800" dirty="0"/>
          </a:p>
        </p:txBody>
      </p:sp>
      <p:sp>
        <p:nvSpPr>
          <p:cNvPr id="18" name="Shape 14"/>
          <p:cNvSpPr/>
          <p:nvPr/>
        </p:nvSpPr>
        <p:spPr>
          <a:xfrm>
            <a:off x="5542769" y="2610687"/>
            <a:ext cx="0" cy="404626"/>
          </a:xfrm>
          <a:prstGeom prst="line">
            <a:avLst/>
          </a:prstGeom>
          <a:noFill/>
          <a:ln w="21431">
            <a:solidFill>
              <a:srgbClr val="FFF100"/>
            </a:solidFill>
            <a:prstDash val="solid"/>
          </a:ln>
        </p:spPr>
      </p:sp>
      <p:sp>
        <p:nvSpPr>
          <p:cNvPr id="19" name="Text 15"/>
          <p:cNvSpPr/>
          <p:nvPr/>
        </p:nvSpPr>
        <p:spPr>
          <a:xfrm>
            <a:off x="5639209" y="2646405"/>
            <a:ext cx="1527311" cy="208312"/>
          </a:xfrm>
          <a:prstGeom prst="rect">
            <a:avLst/>
          </a:prstGeom>
          <a:noFill/>
          <a:ln/>
        </p:spPr>
        <p:txBody>
          <a:bodyPr wrap="none" lIns="0" tIns="0" rIns="0" bIns="0" rtlCol="0" anchor="t">
            <a:normAutofit/>
          </a:bodyPr>
          <a:lstStyle/>
          <a:p>
            <a:pPr marL="0" indent="0" algn="l">
              <a:lnSpc>
                <a:spcPts val="1575"/>
              </a:lnSpc>
              <a:buNone/>
            </a:pPr>
            <a:r>
              <a:rPr lang="en-US" sz="1575" b="1" dirty="0">
                <a:solidFill>
                  <a:srgbClr val="FFF100"/>
                </a:solidFill>
                <a:latin typeface="Liberation Sans Narrow" pitchFamily="34" charset="0"/>
                <a:ea typeface="Liberation Sans Narrow" pitchFamily="34" charset="-122"/>
                <a:cs typeface="Liberation Sans Narrow" pitchFamily="34" charset="-120"/>
              </a:rPr>
              <a:t>14,413</a:t>
            </a:r>
            <a:endParaRPr lang="en-US" sz="1575" dirty="0"/>
          </a:p>
        </p:txBody>
      </p:sp>
      <p:sp>
        <p:nvSpPr>
          <p:cNvPr id="20" name="Text 16"/>
          <p:cNvSpPr/>
          <p:nvPr/>
        </p:nvSpPr>
        <p:spPr>
          <a:xfrm>
            <a:off x="5639209" y="2882149"/>
            <a:ext cx="1527311" cy="97445"/>
          </a:xfrm>
          <a:prstGeom prst="rect">
            <a:avLst/>
          </a:prstGeom>
          <a:noFill/>
          <a:ln/>
        </p:spPr>
        <p:txBody>
          <a:bodyPr wrap="none" lIns="0" tIns="0" rIns="0" bIns="0" rtlCol="0" anchor="t"/>
          <a:lstStyle/>
          <a:p>
            <a:pPr marL="0" indent="0" algn="l">
              <a:lnSpc>
                <a:spcPts val="768"/>
              </a:lnSpc>
              <a:buNone/>
            </a:pPr>
            <a:r>
              <a:rPr lang="en-US" sz="800" kern="0" spc="30" dirty="0">
                <a:solidFill>
                  <a:srgbClr val="F4F1DE"/>
                </a:solidFill>
                <a:latin typeface="Carlito" pitchFamily="34" charset="0"/>
                <a:ea typeface="Carlito" pitchFamily="34" charset="-122"/>
                <a:cs typeface="Carlito" pitchFamily="34" charset="-120"/>
              </a:rPr>
              <a:t>SCORE_READY (USABLE)</a:t>
            </a:r>
            <a:endParaRPr lang="en-US" sz="800" dirty="0"/>
          </a:p>
        </p:txBody>
      </p:sp>
      <p:sp>
        <p:nvSpPr>
          <p:cNvPr id="21" name="Shape 17"/>
          <p:cNvSpPr/>
          <p:nvPr/>
        </p:nvSpPr>
        <p:spPr>
          <a:xfrm>
            <a:off x="7234386" y="2610687"/>
            <a:ext cx="0" cy="404626"/>
          </a:xfrm>
          <a:prstGeom prst="line">
            <a:avLst/>
          </a:prstGeom>
          <a:noFill/>
          <a:ln w="21431">
            <a:solidFill>
              <a:srgbClr val="FFF100"/>
            </a:solidFill>
            <a:prstDash val="solid"/>
          </a:ln>
        </p:spPr>
      </p:sp>
      <p:sp>
        <p:nvSpPr>
          <p:cNvPr id="22" name="Text 18"/>
          <p:cNvSpPr/>
          <p:nvPr/>
        </p:nvSpPr>
        <p:spPr>
          <a:xfrm>
            <a:off x="7330827" y="2646405"/>
            <a:ext cx="1527423" cy="208312"/>
          </a:xfrm>
          <a:prstGeom prst="rect">
            <a:avLst/>
          </a:prstGeom>
          <a:noFill/>
          <a:ln/>
        </p:spPr>
        <p:txBody>
          <a:bodyPr wrap="none" lIns="0" tIns="0" rIns="0" bIns="0" rtlCol="0" anchor="t">
            <a:normAutofit/>
          </a:bodyPr>
          <a:lstStyle/>
          <a:p>
            <a:pPr marL="0" indent="0" algn="l">
              <a:lnSpc>
                <a:spcPts val="1575"/>
              </a:lnSpc>
              <a:buNone/>
            </a:pPr>
            <a:r>
              <a:rPr lang="en-US" sz="1575" b="1" dirty="0">
                <a:solidFill>
                  <a:srgbClr val="FFF100"/>
                </a:solidFill>
                <a:latin typeface="Liberation Sans Narrow" pitchFamily="34" charset="0"/>
                <a:ea typeface="Liberation Sans Narrow" pitchFamily="34" charset="-122"/>
                <a:cs typeface="Liberation Sans Narrow" pitchFamily="34" charset="-120"/>
              </a:rPr>
              <a:t>275</a:t>
            </a:r>
            <a:endParaRPr lang="en-US" sz="1575" dirty="0"/>
          </a:p>
        </p:txBody>
      </p:sp>
      <p:sp>
        <p:nvSpPr>
          <p:cNvPr id="23" name="Text 19"/>
          <p:cNvSpPr/>
          <p:nvPr/>
        </p:nvSpPr>
        <p:spPr>
          <a:xfrm>
            <a:off x="7330827" y="2882149"/>
            <a:ext cx="1527423" cy="97445"/>
          </a:xfrm>
          <a:prstGeom prst="rect">
            <a:avLst/>
          </a:prstGeom>
          <a:noFill/>
          <a:ln/>
        </p:spPr>
        <p:txBody>
          <a:bodyPr wrap="none" lIns="0" tIns="0" rIns="0" bIns="0" rtlCol="0" anchor="t"/>
          <a:lstStyle/>
          <a:p>
            <a:pPr marL="0" indent="0" algn="l">
              <a:lnSpc>
                <a:spcPts val="768"/>
              </a:lnSpc>
              <a:buNone/>
            </a:pPr>
            <a:r>
              <a:rPr lang="en-US" sz="600" kern="0" spc="30" dirty="0">
                <a:solidFill>
                  <a:srgbClr val="F4F1DE"/>
                </a:solidFill>
                <a:latin typeface="Carlito" pitchFamily="34" charset="0"/>
                <a:ea typeface="Carlito" pitchFamily="34" charset="-122"/>
                <a:cs typeface="Carlito" pitchFamily="34" charset="-120"/>
              </a:rPr>
              <a:t>RETIREMENT-LIKE MATCHES</a:t>
            </a:r>
            <a:endParaRPr lang="en-US" sz="600" dirty="0"/>
          </a:p>
        </p:txBody>
      </p:sp>
      <p:sp>
        <p:nvSpPr>
          <p:cNvPr id="25" name="Text 21"/>
          <p:cNvSpPr/>
          <p:nvPr/>
        </p:nvSpPr>
        <p:spPr>
          <a:xfrm>
            <a:off x="285750" y="4902398"/>
            <a:ext cx="8255273" cy="164592"/>
          </a:xfrm>
          <a:prstGeom prst="rect">
            <a:avLst/>
          </a:prstGeom>
          <a:noFill/>
          <a:ln/>
        </p:spPr>
        <p:txBody>
          <a:bodyPr wrap="none" lIns="0" tIns="0" rIns="0" bIns="0" rtlCol="0" anchor="t"/>
          <a:lstStyle/>
          <a:p>
            <a:pPr marL="0" indent="0" algn="l">
              <a:lnSpc>
                <a:spcPts val="886"/>
              </a:lnSpc>
              <a:buNone/>
            </a:pPr>
            <a:r>
              <a:rPr lang="en-US" sz="800" kern="0" spc="83" dirty="0">
                <a:solidFill>
                  <a:srgbClr val="8B9D92"/>
                </a:solidFill>
                <a:latin typeface="Carlito" pitchFamily="34" charset="0"/>
                <a:ea typeface="Carlito" pitchFamily="34" charset="-122"/>
                <a:cs typeface="Carlito" pitchFamily="34" charset="-120"/>
              </a:rPr>
              <a:t>YASAMAN AGHAEI</a:t>
            </a:r>
            <a:endParaRPr lang="en-US" sz="800" dirty="0"/>
          </a:p>
        </p:txBody>
      </p:sp>
      <p:sp>
        <p:nvSpPr>
          <p:cNvPr id="26" name="Text 22"/>
          <p:cNvSpPr/>
          <p:nvPr/>
        </p:nvSpPr>
        <p:spPr>
          <a:xfrm>
            <a:off x="8549981" y="4902398"/>
            <a:ext cx="453969" cy="164592"/>
          </a:xfrm>
          <a:prstGeom prst="rect">
            <a:avLst/>
          </a:prstGeom>
          <a:noFill/>
          <a:ln/>
        </p:spPr>
        <p:txBody>
          <a:bodyPr wrap="square" lIns="0" tIns="0" rIns="0" bIns="0" rtlCol="0" anchor="t"/>
          <a:lstStyle/>
          <a:p>
            <a:pPr marL="0" indent="0" algn="l">
              <a:lnSpc>
                <a:spcPts val="886"/>
              </a:lnSpc>
              <a:buNone/>
            </a:pPr>
            <a:r>
              <a:rPr lang="en-US" sz="800" kern="0" spc="83" dirty="0">
                <a:solidFill>
                  <a:srgbClr val="8B9D92"/>
                </a:solidFill>
                <a:latin typeface="Liberation Sans Narrow" pitchFamily="34" charset="0"/>
                <a:ea typeface="Liberation Sans Narrow" pitchFamily="34" charset="-122"/>
                <a:cs typeface="Liberation Sans Narrow" pitchFamily="34" charset="-120"/>
              </a:rPr>
              <a:t>30 / 30</a:t>
            </a:r>
            <a:endParaRPr lang="en-US" sz="800" dirty="0"/>
          </a:p>
        </p:txBody>
      </p:sp>
      <p:sp>
        <p:nvSpPr>
          <p:cNvPr id="28" name="Text 4">
            <a:extLst>
              <a:ext uri="{FF2B5EF4-FFF2-40B4-BE49-F238E27FC236}">
                <a16:creationId xmlns:a16="http://schemas.microsoft.com/office/drawing/2014/main" id="{9715E7C4-2A47-9756-8D24-F9BBBDF4C8DD}"/>
              </a:ext>
            </a:extLst>
          </p:cNvPr>
          <p:cNvSpPr/>
          <p:nvPr/>
        </p:nvSpPr>
        <p:spPr>
          <a:xfrm>
            <a:off x="7719267" y="262533"/>
            <a:ext cx="1240377" cy="123220"/>
          </a:xfrm>
          <a:prstGeom prst="rect">
            <a:avLst/>
          </a:prstGeom>
          <a:noFill/>
          <a:ln/>
        </p:spPr>
        <p:txBody>
          <a:bodyPr wrap="none" lIns="0" tIns="0" rIns="0" bIns="0" rtlCol="0" anchor="t"/>
          <a:lstStyle/>
          <a:p>
            <a:pPr marL="0" indent="0" algn="l">
              <a:lnSpc>
                <a:spcPts val="928"/>
              </a:lnSpc>
              <a:buNone/>
            </a:pPr>
            <a:r>
              <a:rPr lang="en-US" sz="800" kern="0" spc="173" dirty="0">
                <a:solidFill>
                  <a:srgbClr val="FFF100"/>
                </a:solidFill>
                <a:latin typeface="Liberation Sans Narrow" pitchFamily="34" charset="0"/>
                <a:ea typeface="Liberation Sans Narrow" pitchFamily="34" charset="-122"/>
                <a:cs typeface="Liberation Sans Narrow" pitchFamily="34" charset="-120"/>
              </a:rPr>
              <a:t>· SECTION 03</a:t>
            </a:r>
            <a:endParaRPr lang="en-US" sz="800" dirty="0"/>
          </a:p>
        </p:txBody>
      </p:sp>
      <p:graphicFrame>
        <p:nvGraphicFramePr>
          <p:cNvPr id="36" name="Object 35">
            <a:extLst>
              <a:ext uri="{FF2B5EF4-FFF2-40B4-BE49-F238E27FC236}">
                <a16:creationId xmlns:a16="http://schemas.microsoft.com/office/drawing/2014/main" id="{1AF25F61-4149-F8FB-B23E-15C3592EA369}"/>
              </a:ext>
            </a:extLst>
          </p:cNvPr>
          <p:cNvGraphicFramePr>
            <a:graphicFrameLocks noChangeAspect="1"/>
          </p:cNvGraphicFramePr>
          <p:nvPr>
            <p:extLst>
              <p:ext uri="{D42A27DB-BD31-4B8C-83A1-F6EECF244321}">
                <p14:modId xmlns:p14="http://schemas.microsoft.com/office/powerpoint/2010/main" val="2380698138"/>
              </p:ext>
            </p:extLst>
          </p:nvPr>
        </p:nvGraphicFramePr>
        <p:xfrm>
          <a:off x="360032" y="881504"/>
          <a:ext cx="4926288" cy="3386823"/>
        </p:xfrm>
        <a:graphic>
          <a:graphicData uri="http://schemas.openxmlformats.org/presentationml/2006/ole">
            <mc:AlternateContent xmlns:mc="http://schemas.openxmlformats.org/markup-compatibility/2006">
              <mc:Choice xmlns:v="urn:schemas-microsoft-com:vml" Requires="v">
                <p:oleObj name="Worksheet" r:id="rId4" imgW="6248560" imgH="4295660" progId="Excel.Sheet.12">
                  <p:embed/>
                </p:oleObj>
              </mc:Choice>
              <mc:Fallback>
                <p:oleObj name="Worksheet" r:id="rId4" imgW="6248560" imgH="4295660" progId="Excel.Sheet.12">
                  <p:embed/>
                  <p:pic>
                    <p:nvPicPr>
                      <p:cNvPr id="0" name=""/>
                      <p:cNvPicPr/>
                      <p:nvPr/>
                    </p:nvPicPr>
                    <p:blipFill>
                      <a:blip r:embed="rId5"/>
                      <a:stretch>
                        <a:fillRect/>
                      </a:stretch>
                    </p:blipFill>
                    <p:spPr>
                      <a:xfrm>
                        <a:off x="360032" y="881504"/>
                        <a:ext cx="4926288" cy="3386823"/>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332</TotalTime>
  <Words>6921</Words>
  <Application>Microsoft Office PowerPoint</Application>
  <PresentationFormat>On-screen Show (16:9)</PresentationFormat>
  <Paragraphs>451</Paragraphs>
  <Slides>30</Slides>
  <Notes>30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0" baseType="lpstr">
      <vt:lpstr>Arial</vt:lpstr>
      <vt:lpstr>Candara</vt:lpstr>
      <vt:lpstr>Carlito</vt:lpstr>
      <vt:lpstr>Dubai Light</vt:lpstr>
      <vt:lpstr>Liberation Sans Narrow</vt:lpstr>
      <vt:lpstr>Segoe UI Symbol</vt:lpstr>
      <vt:lpstr>Times New Roman</vt:lpstr>
      <vt:lpstr>Tinos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Yasaman Aghaei</cp:lastModifiedBy>
  <cp:revision>5</cp:revision>
  <dcterms:created xsi:type="dcterms:W3CDTF">2026-09-16T09:18:06Z</dcterms:created>
  <dcterms:modified xsi:type="dcterms:W3CDTF">2026-09-16T16:59:10Z</dcterms:modified>
</cp:coreProperties>
</file>